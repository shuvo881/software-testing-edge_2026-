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0" r:id="rId4"/>
  </p:sldMasterIdLst>
  <p:notesMasterIdLst>
    <p:notesMasterId r:id="rId22"/>
  </p:notesMasterIdLst>
  <p:handoutMasterIdLst>
    <p:handoutMasterId r:id="rId23"/>
  </p:handoutMasterIdLst>
  <p:sldIdLst>
    <p:sldId id="256" r:id="rId5"/>
    <p:sldId id="282" r:id="rId6"/>
    <p:sldId id="257" r:id="rId7"/>
    <p:sldId id="258" r:id="rId8"/>
    <p:sldId id="259" r:id="rId9"/>
    <p:sldId id="286" r:id="rId10"/>
    <p:sldId id="261" r:id="rId11"/>
    <p:sldId id="263" r:id="rId12"/>
    <p:sldId id="264" r:id="rId13"/>
    <p:sldId id="265" r:id="rId14"/>
    <p:sldId id="266" r:id="rId15"/>
    <p:sldId id="285" r:id="rId16"/>
    <p:sldId id="284" r:id="rId17"/>
    <p:sldId id="283" r:id="rId18"/>
    <p:sldId id="260" r:id="rId19"/>
    <p:sldId id="270" r:id="rId20"/>
    <p:sldId id="281" r:id="rId21"/>
  </p:sldIdLst>
  <p:sldSz cx="12192000" cy="6858000"/>
  <p:notesSz cx="9144000" cy="6858000"/>
  <p:kinsoku lang="zh-CN" invalStChars="!%),.:;?]}¨·ˇˉ་―‖’”…‰∶、。〃々〉》」』】〕〗！＂＇％），．：；？］｀｜｝～￠" invalEndChars="([{·‘“〈《「『【〔〖（．［｛￡￥"/>
  <p:defaultTextStyle>
    <a:defPPr>
      <a:defRPr lang="zh-CN"/>
    </a:defPPr>
    <a:lvl1pPr algn="l" defTabSz="914400" fontAlgn="auto" hangingPunct="1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 charset="0"/>
        <a:ea typeface="Arial" charset="0"/>
        <a:cs typeface="Arial" charset="0"/>
      </a:defRPr>
    </a:lvl1pPr>
    <a:lvl2pPr algn="l" defTabSz="914400" fontAlgn="auto" hangingPunct="1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 charset="0"/>
        <a:ea typeface="Arial" charset="0"/>
        <a:cs typeface="Arial" charset="0"/>
      </a:defRPr>
    </a:lvl2pPr>
    <a:lvl3pPr algn="l" defTabSz="914400" fontAlgn="auto" hangingPunct="1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 charset="0"/>
        <a:ea typeface="Arial" charset="0"/>
        <a:cs typeface="Arial" charset="0"/>
      </a:defRPr>
    </a:lvl3pPr>
    <a:lvl4pPr algn="l" defTabSz="914400" fontAlgn="auto" hangingPunct="1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 charset="0"/>
        <a:ea typeface="Arial" charset="0"/>
        <a:cs typeface="Arial" charset="0"/>
      </a:defRPr>
    </a:lvl4pPr>
    <a:lvl5pPr algn="l" defTabSz="914400" fontAlgn="auto" hangingPunct="1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 charset="0"/>
        <a:ea typeface="Arial" charset="0"/>
        <a:cs typeface="Arial" charset="0"/>
      </a:defRPr>
    </a:lvl5pPr>
    <a:lvl6pPr algn="l" defTabSz="914400" fontAlgn="auto" hangingPunct="1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 charset="0"/>
        <a:ea typeface="Arial" charset="0"/>
        <a:cs typeface="Arial" charset="0"/>
      </a:defRPr>
    </a:lvl6pPr>
    <a:lvl7pPr algn="l" defTabSz="914400" fontAlgn="auto" hangingPunct="1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 charset="0"/>
        <a:ea typeface="Arial" charset="0"/>
        <a:cs typeface="Arial" charset="0"/>
      </a:defRPr>
    </a:lvl7pPr>
    <a:lvl8pPr algn="l" defTabSz="914400" fontAlgn="auto" hangingPunct="1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 charset="0"/>
        <a:ea typeface="Arial" charset="0"/>
        <a:cs typeface="Arial" charset="0"/>
      </a:defRPr>
    </a:lvl8pPr>
    <a:lvl9pPr algn="l" defTabSz="914400" fontAlgn="auto" hangingPunct="1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 charset="0"/>
        <a:ea typeface="Arial" charset="0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D47D5CB-E6BE-F00B-E0AE-E256AE19D336}" v="3" dt="2026-05-09T16:40:43.224"/>
    <p1510:client id="{EFE1AE8D-A383-D047-41D5-20918854637B}" v="207" dt="2026-05-09T16:38:30.00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handoutMaster" Target="handoutMasters/handoutMaster1.xml"/><Relationship Id="rId28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svg"/><Relationship Id="rId1" Type="http://schemas.openxmlformats.org/officeDocument/2006/relationships/image" Target="../media/image13.svg"/></Relationships>
</file>

<file path=ppt/diagrams/_rels/drawing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svg"/><Relationship Id="rId1" Type="http://schemas.openxmlformats.org/officeDocument/2006/relationships/image" Target="../media/image1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1CB4E3A-62AB-47AB-B20B-D859638A63D5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C34C5B9F-75B1-4FE0-945D-A340F2C560AC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0" i="0">
              <a:latin typeface="Arial"/>
              <a:cs typeface="Arial"/>
            </a:rPr>
            <a:t>Md. Golam </a:t>
          </a:r>
          <a:r>
            <a:rPr lang="en-US" b="0" i="0" err="1">
              <a:latin typeface="Arial"/>
              <a:cs typeface="Arial"/>
            </a:rPr>
            <a:t>Mostofa</a:t>
          </a:r>
          <a:endParaRPr lang="en-US">
            <a:latin typeface="Arial"/>
            <a:cs typeface="Arial"/>
          </a:endParaRPr>
        </a:p>
      </dgm:t>
    </dgm:pt>
    <dgm:pt modelId="{E287CCD7-21BC-4BF5-890C-89A1712065F4}" type="parTrans" cxnId="{BC3DF74D-5B4E-4CCB-A6DB-5BF48112732A}">
      <dgm:prSet/>
      <dgm:spPr/>
      <dgm:t>
        <a:bodyPr/>
        <a:lstStyle/>
        <a:p>
          <a:endParaRPr lang="en-US"/>
        </a:p>
      </dgm:t>
    </dgm:pt>
    <dgm:pt modelId="{80B600AD-880D-46F0-BADE-FCF208A5E615}" type="sibTrans" cxnId="{BC3DF74D-5B4E-4CCB-A6DB-5BF48112732A}">
      <dgm:prSet/>
      <dgm:spPr/>
      <dgm:t>
        <a:bodyPr/>
        <a:lstStyle/>
        <a:p>
          <a:endParaRPr lang="en-US"/>
        </a:p>
      </dgm:t>
    </dgm:pt>
    <dgm:pt modelId="{29780693-460C-4711-AB25-345984E1997A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0" i="0" cap="none"/>
            <a:t>golam.mostofa@bizzntek.com</a:t>
          </a:r>
          <a:endParaRPr lang="en-US" cap="none"/>
        </a:p>
      </dgm:t>
    </dgm:pt>
    <dgm:pt modelId="{D6507A44-C958-4E78-875F-AEB81F4CCBB0}" type="parTrans" cxnId="{813304BA-7F23-404A-951C-40EAB56ABAD3}">
      <dgm:prSet/>
      <dgm:spPr/>
      <dgm:t>
        <a:bodyPr/>
        <a:lstStyle/>
        <a:p>
          <a:endParaRPr lang="en-US"/>
        </a:p>
      </dgm:t>
    </dgm:pt>
    <dgm:pt modelId="{6A2BE5BA-A623-456A-8804-388AAB892599}" type="sibTrans" cxnId="{813304BA-7F23-404A-951C-40EAB56ABAD3}">
      <dgm:prSet/>
      <dgm:spPr/>
      <dgm:t>
        <a:bodyPr/>
        <a:lstStyle/>
        <a:p>
          <a:endParaRPr lang="en-US"/>
        </a:p>
      </dgm:t>
    </dgm:pt>
    <dgm:pt modelId="{6A224A11-3F19-4EF8-BB40-B20015FE2037}" type="pres">
      <dgm:prSet presAssocID="{71CB4E3A-62AB-47AB-B20B-D859638A63D5}" presName="root" presStyleCnt="0">
        <dgm:presLayoutVars>
          <dgm:dir/>
          <dgm:resizeHandles val="exact"/>
        </dgm:presLayoutVars>
      </dgm:prSet>
      <dgm:spPr/>
    </dgm:pt>
    <dgm:pt modelId="{B44094F6-0140-460D-AABE-E4F39168016D}" type="pres">
      <dgm:prSet presAssocID="{C34C5B9F-75B1-4FE0-945D-A340F2C560AC}" presName="compNode" presStyleCnt="0"/>
      <dgm:spPr/>
    </dgm:pt>
    <dgm:pt modelId="{7E3D7DBC-AE01-4F56-BA02-08F174EA30D5}" type="pres">
      <dgm:prSet presAssocID="{C34C5B9F-75B1-4FE0-945D-A340F2C560AC}" presName="iconBgRect" presStyleLbl="bgShp" presStyleIdx="0" presStyleCnt="2"/>
      <dgm:spPr>
        <a:prstGeom prst="round2DiagRect">
          <a:avLst>
            <a:gd name="adj1" fmla="val 29727"/>
            <a:gd name="adj2" fmla="val 0"/>
          </a:avLst>
        </a:prstGeom>
      </dgm:spPr>
    </dgm:pt>
    <dgm:pt modelId="{CB9CAAD2-8EB4-44F9-9703-A3021467F4F5}" type="pres">
      <dgm:prSet presAssocID="{C34C5B9F-75B1-4FE0-945D-A340F2C560AC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</dgm:pt>
    <dgm:pt modelId="{D43D5112-3EE7-46CF-A020-32F2ED542861}" type="pres">
      <dgm:prSet presAssocID="{C34C5B9F-75B1-4FE0-945D-A340F2C560AC}" presName="spaceRect" presStyleCnt="0"/>
      <dgm:spPr/>
    </dgm:pt>
    <dgm:pt modelId="{43E16532-A1A6-4909-8439-A51889B6B6C8}" type="pres">
      <dgm:prSet presAssocID="{C34C5B9F-75B1-4FE0-945D-A340F2C560AC}" presName="textRect" presStyleLbl="revTx" presStyleIdx="0" presStyleCnt="2">
        <dgm:presLayoutVars>
          <dgm:chMax val="1"/>
          <dgm:chPref val="1"/>
        </dgm:presLayoutVars>
      </dgm:prSet>
      <dgm:spPr/>
    </dgm:pt>
    <dgm:pt modelId="{F008E458-E638-46C1-832E-6505CA4BA4C9}" type="pres">
      <dgm:prSet presAssocID="{80B600AD-880D-46F0-BADE-FCF208A5E615}" presName="sibTrans" presStyleCnt="0"/>
      <dgm:spPr/>
    </dgm:pt>
    <dgm:pt modelId="{45879739-AF6D-4E84-A821-5040EDA923D1}" type="pres">
      <dgm:prSet presAssocID="{29780693-460C-4711-AB25-345984E1997A}" presName="compNode" presStyleCnt="0"/>
      <dgm:spPr/>
    </dgm:pt>
    <dgm:pt modelId="{53A473AA-2D47-4001-88EC-BBC7E7523C58}" type="pres">
      <dgm:prSet presAssocID="{29780693-460C-4711-AB25-345984E1997A}" presName="iconBgRect" presStyleLbl="bgShp" presStyleIdx="1" presStyleCnt="2"/>
      <dgm:spPr>
        <a:prstGeom prst="round2DiagRect">
          <a:avLst>
            <a:gd name="adj1" fmla="val 29727"/>
            <a:gd name="adj2" fmla="val 0"/>
          </a:avLst>
        </a:prstGeom>
      </dgm:spPr>
    </dgm:pt>
    <dgm:pt modelId="{C19002C0-3907-4944-A085-0062B2B4063A}" type="pres">
      <dgm:prSet presAssocID="{29780693-460C-4711-AB25-345984E1997A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mail"/>
        </a:ext>
      </dgm:extLst>
    </dgm:pt>
    <dgm:pt modelId="{146EED30-1B26-484D-B67A-18D247CAB26C}" type="pres">
      <dgm:prSet presAssocID="{29780693-460C-4711-AB25-345984E1997A}" presName="spaceRect" presStyleCnt="0"/>
      <dgm:spPr/>
    </dgm:pt>
    <dgm:pt modelId="{1AF53B96-4F0A-4B87-96A2-FCFF3DBD857B}" type="pres">
      <dgm:prSet presAssocID="{29780693-460C-4711-AB25-345984E1997A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92DC1713-DFD1-4CB8-B9C7-64C25CD6EE56}" type="presOf" srcId="{71CB4E3A-62AB-47AB-B20B-D859638A63D5}" destId="{6A224A11-3F19-4EF8-BB40-B20015FE2037}" srcOrd="0" destOrd="0" presId="urn:microsoft.com/office/officeart/2018/5/layout/IconLeafLabelList"/>
    <dgm:cxn modelId="{824D683E-B930-4D0E-AE6F-FCE499697379}" type="presOf" srcId="{C34C5B9F-75B1-4FE0-945D-A340F2C560AC}" destId="{43E16532-A1A6-4909-8439-A51889B6B6C8}" srcOrd="0" destOrd="0" presId="urn:microsoft.com/office/officeart/2018/5/layout/IconLeafLabelList"/>
    <dgm:cxn modelId="{BC3DF74D-5B4E-4CCB-A6DB-5BF48112732A}" srcId="{71CB4E3A-62AB-47AB-B20B-D859638A63D5}" destId="{C34C5B9F-75B1-4FE0-945D-A340F2C560AC}" srcOrd="0" destOrd="0" parTransId="{E287CCD7-21BC-4BF5-890C-89A1712065F4}" sibTransId="{80B600AD-880D-46F0-BADE-FCF208A5E615}"/>
    <dgm:cxn modelId="{813304BA-7F23-404A-951C-40EAB56ABAD3}" srcId="{71CB4E3A-62AB-47AB-B20B-D859638A63D5}" destId="{29780693-460C-4711-AB25-345984E1997A}" srcOrd="1" destOrd="0" parTransId="{D6507A44-C958-4E78-875F-AEB81F4CCBB0}" sibTransId="{6A2BE5BA-A623-456A-8804-388AAB892599}"/>
    <dgm:cxn modelId="{7894E7BE-F1A2-459F-BC5B-D849874748F6}" type="presOf" srcId="{29780693-460C-4711-AB25-345984E1997A}" destId="{1AF53B96-4F0A-4B87-96A2-FCFF3DBD857B}" srcOrd="0" destOrd="0" presId="urn:microsoft.com/office/officeart/2018/5/layout/IconLeafLabelList"/>
    <dgm:cxn modelId="{354D9379-EDFA-432A-A362-3888E71AD8BC}" type="presParOf" srcId="{6A224A11-3F19-4EF8-BB40-B20015FE2037}" destId="{B44094F6-0140-460D-AABE-E4F39168016D}" srcOrd="0" destOrd="0" presId="urn:microsoft.com/office/officeart/2018/5/layout/IconLeafLabelList"/>
    <dgm:cxn modelId="{F2BD6D16-4BC5-4F26-BC6C-4099E6162490}" type="presParOf" srcId="{B44094F6-0140-460D-AABE-E4F39168016D}" destId="{7E3D7DBC-AE01-4F56-BA02-08F174EA30D5}" srcOrd="0" destOrd="0" presId="urn:microsoft.com/office/officeart/2018/5/layout/IconLeafLabelList"/>
    <dgm:cxn modelId="{3AB18AEE-AFCF-4D8A-A853-36062C847F32}" type="presParOf" srcId="{B44094F6-0140-460D-AABE-E4F39168016D}" destId="{CB9CAAD2-8EB4-44F9-9703-A3021467F4F5}" srcOrd="1" destOrd="0" presId="urn:microsoft.com/office/officeart/2018/5/layout/IconLeafLabelList"/>
    <dgm:cxn modelId="{1FFEE408-341A-49CA-BABE-AD833860443B}" type="presParOf" srcId="{B44094F6-0140-460D-AABE-E4F39168016D}" destId="{D43D5112-3EE7-46CF-A020-32F2ED542861}" srcOrd="2" destOrd="0" presId="urn:microsoft.com/office/officeart/2018/5/layout/IconLeafLabelList"/>
    <dgm:cxn modelId="{EE7AB2C9-8DD1-4EC1-9FE8-34A4FE1DD4FC}" type="presParOf" srcId="{B44094F6-0140-460D-AABE-E4F39168016D}" destId="{43E16532-A1A6-4909-8439-A51889B6B6C8}" srcOrd="3" destOrd="0" presId="urn:microsoft.com/office/officeart/2018/5/layout/IconLeafLabelList"/>
    <dgm:cxn modelId="{A6FB0B3A-B75A-4406-AFC2-247EA1C76743}" type="presParOf" srcId="{6A224A11-3F19-4EF8-BB40-B20015FE2037}" destId="{F008E458-E638-46C1-832E-6505CA4BA4C9}" srcOrd="1" destOrd="0" presId="urn:microsoft.com/office/officeart/2018/5/layout/IconLeafLabelList"/>
    <dgm:cxn modelId="{6978E7F9-AD9B-44DC-A4F4-128878F92D64}" type="presParOf" srcId="{6A224A11-3F19-4EF8-BB40-B20015FE2037}" destId="{45879739-AF6D-4E84-A821-5040EDA923D1}" srcOrd="2" destOrd="0" presId="urn:microsoft.com/office/officeart/2018/5/layout/IconLeafLabelList"/>
    <dgm:cxn modelId="{FF1F593F-CBC1-4CE2-9D01-34CFFBF6A889}" type="presParOf" srcId="{45879739-AF6D-4E84-A821-5040EDA923D1}" destId="{53A473AA-2D47-4001-88EC-BBC7E7523C58}" srcOrd="0" destOrd="0" presId="urn:microsoft.com/office/officeart/2018/5/layout/IconLeafLabelList"/>
    <dgm:cxn modelId="{160FFA6F-58C7-4BC6-BC6E-97E1EEA69D24}" type="presParOf" srcId="{45879739-AF6D-4E84-A821-5040EDA923D1}" destId="{C19002C0-3907-4944-A085-0062B2B4063A}" srcOrd="1" destOrd="0" presId="urn:microsoft.com/office/officeart/2018/5/layout/IconLeafLabelList"/>
    <dgm:cxn modelId="{F2C20CFB-E343-4762-97D1-F844D05116F5}" type="presParOf" srcId="{45879739-AF6D-4E84-A821-5040EDA923D1}" destId="{146EED30-1B26-484D-B67A-18D247CAB26C}" srcOrd="2" destOrd="0" presId="urn:microsoft.com/office/officeart/2018/5/layout/IconLeafLabelList"/>
    <dgm:cxn modelId="{AC42820C-C8A9-4A56-870E-9A795931D459}" type="presParOf" srcId="{45879739-AF6D-4E84-A821-5040EDA923D1}" destId="{1AF53B96-4F0A-4B87-96A2-FCFF3DBD857B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E3D7DBC-AE01-4F56-BA02-08F174EA30D5}">
      <dsp:nvSpPr>
        <dsp:cNvPr id="0" name=""/>
        <dsp:cNvSpPr/>
      </dsp:nvSpPr>
      <dsp:spPr>
        <a:xfrm>
          <a:off x="2049948" y="313885"/>
          <a:ext cx="2196000" cy="2196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B9CAAD2-8EB4-44F9-9703-A3021467F4F5}">
      <dsp:nvSpPr>
        <dsp:cNvPr id="0" name=""/>
        <dsp:cNvSpPr/>
      </dsp:nvSpPr>
      <dsp:spPr>
        <a:xfrm>
          <a:off x="2517948" y="781885"/>
          <a:ext cx="1260000" cy="126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3E16532-A1A6-4909-8439-A51889B6B6C8}">
      <dsp:nvSpPr>
        <dsp:cNvPr id="0" name=""/>
        <dsp:cNvSpPr/>
      </dsp:nvSpPr>
      <dsp:spPr>
        <a:xfrm>
          <a:off x="1347948" y="3193885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100" b="0" i="0" kern="1200">
              <a:latin typeface="Arial"/>
              <a:cs typeface="Arial"/>
            </a:rPr>
            <a:t>Md. Golam </a:t>
          </a:r>
          <a:r>
            <a:rPr lang="en-US" sz="2100" b="0" i="0" kern="1200" err="1">
              <a:latin typeface="Arial"/>
              <a:cs typeface="Arial"/>
            </a:rPr>
            <a:t>Mostofa</a:t>
          </a:r>
          <a:endParaRPr lang="en-US" sz="2100" kern="1200">
            <a:latin typeface="Arial"/>
            <a:cs typeface="Arial"/>
          </a:endParaRPr>
        </a:p>
      </dsp:txBody>
      <dsp:txXfrm>
        <a:off x="1347948" y="3193885"/>
        <a:ext cx="3600000" cy="720000"/>
      </dsp:txXfrm>
    </dsp:sp>
    <dsp:sp modelId="{53A473AA-2D47-4001-88EC-BBC7E7523C58}">
      <dsp:nvSpPr>
        <dsp:cNvPr id="0" name=""/>
        <dsp:cNvSpPr/>
      </dsp:nvSpPr>
      <dsp:spPr>
        <a:xfrm>
          <a:off x="6279948" y="313885"/>
          <a:ext cx="2196000" cy="2196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19002C0-3907-4944-A085-0062B2B4063A}">
      <dsp:nvSpPr>
        <dsp:cNvPr id="0" name=""/>
        <dsp:cNvSpPr/>
      </dsp:nvSpPr>
      <dsp:spPr>
        <a:xfrm>
          <a:off x="6747948" y="781885"/>
          <a:ext cx="1260000" cy="126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AF53B96-4F0A-4B87-96A2-FCFF3DBD857B}">
      <dsp:nvSpPr>
        <dsp:cNvPr id="0" name=""/>
        <dsp:cNvSpPr/>
      </dsp:nvSpPr>
      <dsp:spPr>
        <a:xfrm>
          <a:off x="5577948" y="3193885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100" b="0" i="0" kern="1200" cap="none"/>
            <a:t>golam.mostofa@bizzntek.com</a:t>
          </a:r>
          <a:endParaRPr lang="en-US" sz="2100" kern="1200" cap="none"/>
        </a:p>
      </dsp:txBody>
      <dsp:txXfrm>
        <a:off x="5577948" y="3193885"/>
        <a:ext cx="36000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box"/>
          <p:cNvSpPr>
            <a:spLocks noGrp="1"/>
          </p:cNvSpPr>
          <p:nvPr>
            <p:ph type="hdr"/>
          </p:nvPr>
        </p:nvSpPr>
        <p:spPr>
          <a:xfrm>
            <a:off x="0" y="1"/>
            <a:ext cx="5349239" cy="36703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6661" tIns="48331" rIns="96661" bIns="48331" anchor="t" anchorCtr="0">
            <a:prstTxWarp prst="textNoShape">
              <a:avLst/>
            </a:prstTxWarp>
          </a:bodyPr>
          <a:lstStyle/>
          <a:p>
            <a:pPr algn="l"/>
            <a:endParaRPr lang="zh-CN" altLang="en-US" sz="1300">
              <a:latin typeface="Arial" charset="0"/>
              <a:ea typeface="Arial" charset="0"/>
              <a:cs typeface="Arial" charset="0"/>
              <a:sym typeface="Arial" charset="0"/>
            </a:endParaRPr>
          </a:p>
        </p:txBody>
      </p:sp>
      <p:sp>
        <p:nvSpPr>
          <p:cNvPr id="14" name="Text box"/>
          <p:cNvSpPr>
            <a:spLocks noGrp="1"/>
          </p:cNvSpPr>
          <p:nvPr>
            <p:ph type="dt" idx="1"/>
          </p:nvPr>
        </p:nvSpPr>
        <p:spPr>
          <a:xfrm>
            <a:off x="6992303" y="1"/>
            <a:ext cx="5349239" cy="36703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6661" tIns="48331" rIns="96661" bIns="48331" anchor="t" anchorCtr="0">
            <a:prstTxWarp prst="textNoShape">
              <a:avLst/>
            </a:prstTxWarp>
          </a:bodyPr>
          <a:lstStyle/>
          <a:p>
            <a:pPr algn="r"/>
            <a:fld id="{CAD2D6BD-DE1B-4B5F-8B41-2702339687B9}" type="datetime1">
              <a:rPr lang="en-US" altLang="zh-CN" sz="1300">
                <a:latin typeface="Arial" charset="0"/>
                <a:ea typeface="Arial" charset="0"/>
                <a:cs typeface="Arial" charset="0"/>
                <a:sym typeface="Arial" charset="0"/>
              </a:rPr>
              <a:t>5/9/2026</a:t>
            </a:fld>
            <a:endParaRPr lang="zh-CN" altLang="en-US" sz="1300">
              <a:latin typeface="Arial" charset="0"/>
              <a:ea typeface="Arial" charset="0"/>
              <a:cs typeface="Arial" charset="0"/>
              <a:sym typeface="Arial" charset="0"/>
            </a:endParaRPr>
          </a:p>
        </p:txBody>
      </p:sp>
      <p:sp>
        <p:nvSpPr>
          <p:cNvPr id="15" name="Text box"/>
          <p:cNvSpPr>
            <a:spLocks noGrp="1"/>
          </p:cNvSpPr>
          <p:nvPr>
            <p:ph type="ftr" idx="2"/>
          </p:nvPr>
        </p:nvSpPr>
        <p:spPr>
          <a:xfrm>
            <a:off x="0" y="6948171"/>
            <a:ext cx="5349239" cy="367029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6661" tIns="48331" rIns="96661" bIns="48331" anchor="b" anchorCtr="0">
            <a:prstTxWarp prst="textNoShape">
              <a:avLst/>
            </a:prstTxWarp>
          </a:bodyPr>
          <a:lstStyle/>
          <a:p>
            <a:pPr algn="l"/>
            <a:endParaRPr lang="zh-CN" altLang="en-US" sz="1300">
              <a:latin typeface="Arial" charset="0"/>
              <a:ea typeface="Arial" charset="0"/>
              <a:cs typeface="Arial" charset="0"/>
              <a:sym typeface="Arial" charset="0"/>
            </a:endParaRPr>
          </a:p>
        </p:txBody>
      </p:sp>
      <p:sp>
        <p:nvSpPr>
          <p:cNvPr id="16" name="Text box"/>
          <p:cNvSpPr>
            <a:spLocks noGrp="1"/>
          </p:cNvSpPr>
          <p:nvPr>
            <p:ph type="sldNum" idx="3"/>
          </p:nvPr>
        </p:nvSpPr>
        <p:spPr>
          <a:xfrm>
            <a:off x="6992303" y="6948171"/>
            <a:ext cx="5349239" cy="367029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6661" tIns="48331" rIns="96661" bIns="48331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300" b="0" i="0" u="none" strike="noStrike" kern="0" cap="none" spc="0" baseline="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rPr>
              <a:t>‹#›</a:t>
            </a:fld>
            <a:endParaRPr lang="zh-CN" altLang="en-US" sz="1300">
              <a:latin typeface="Arial" charset="0"/>
              <a:ea typeface="Arial" charset="0"/>
              <a:cs typeface="Arial" charset="0"/>
              <a:sym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521148"/>
      </p:ext>
    </p:extLst>
  </p:cSld>
  <p:clrMap bg1="lt1" tx1="dk1" bg2="lt2" tx2="dk2" accent1="accent1" accent2="accent2" accent3="accent3" accent4="accent4" accent5="accent5" accent6="accent6" hlink="hlink" folHlink="folHlink"/>
  <p:hf sldNum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box"/>
          <p:cNvSpPr>
            <a:spLocks noGrp="1"/>
          </p:cNvSpPr>
          <p:nvPr>
            <p:ph type="sldNum"/>
          </p:nvPr>
        </p:nvSpPr>
        <p:spPr>
          <a:xfrm>
            <a:off x="6992303" y="6948171"/>
            <a:ext cx="5349239" cy="367029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6645" tIns="48309" rIns="96645" bIns="48309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300" b="0" i="0" u="none" strike="noStrike" kern="0" cap="none" spc="0" baseline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Calibri" charset="0"/>
              </a:rPr>
              <a:t>‹#›</a:t>
            </a:fld>
            <a:endParaRPr lang="zh-CN" altLang="en-US" sz="1300">
              <a:solidFill>
                <a:srgbClr val="000000"/>
              </a:solidFill>
              <a:latin typeface="Calibri" charset="0"/>
              <a:ea typeface="Calibri" charset="0"/>
              <a:cs typeface="Calibri" charset="0"/>
              <a:sym typeface="Calibri" charset="0"/>
            </a:endParaRPr>
          </a:p>
        </p:txBody>
      </p:sp>
      <p:sp>
        <p:nvSpPr>
          <p:cNvPr id="7" name="Text box"/>
          <p:cNvSpPr>
            <a:spLocks noGrp="1"/>
          </p:cNvSpPr>
          <p:nvPr>
            <p:ph type="hdr" idx="2"/>
          </p:nvPr>
        </p:nvSpPr>
        <p:spPr>
          <a:xfrm>
            <a:off x="0" y="1"/>
            <a:ext cx="5349239" cy="36703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6645" tIns="48309" rIns="96645" bIns="48309" anchor="t" anchorCtr="0">
            <a:prstTxWarp prst="textNoShape">
              <a:avLst/>
            </a:prstTxWarp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1300" b="0" i="0" u="none" strike="noStrike" cap="none">
              <a:solidFill>
                <a:srgbClr val="000000"/>
              </a:solidFill>
              <a:latin typeface="Calibri" charset="0"/>
              <a:ea typeface="Calibri" charset="0"/>
              <a:cs typeface="Calibri" charset="0"/>
              <a:sym typeface="Calibri" charset="0"/>
            </a:endParaRPr>
          </a:p>
        </p:txBody>
      </p:sp>
      <p:sp>
        <p:nvSpPr>
          <p:cNvPr id="8" name="Text box"/>
          <p:cNvSpPr>
            <a:spLocks noGrp="1"/>
          </p:cNvSpPr>
          <p:nvPr>
            <p:ph type="dt" idx="10"/>
          </p:nvPr>
        </p:nvSpPr>
        <p:spPr>
          <a:xfrm>
            <a:off x="6992303" y="1"/>
            <a:ext cx="5349239" cy="36703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6645" tIns="48309" rIns="96645" bIns="48309" anchor="t" anchorCtr="0">
            <a:prstTxWarp prst="textNoShape">
              <a:avLst/>
            </a:prstTxWarp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0" i="0" u="none" strike="noStrike" cap="none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Calibri" charset="0"/>
              </a:rPr>
              <a:t>Date/Time</a:t>
            </a:r>
            <a:endParaRPr lang="zh-CN" altLang="en-US" sz="1300" b="0" i="0" u="none" strike="noStrike" cap="none">
              <a:solidFill>
                <a:srgbClr val="000000"/>
              </a:solidFill>
              <a:latin typeface="Calibri" charset="0"/>
              <a:ea typeface="Calibri" charset="0"/>
              <a:cs typeface="Calibri" charset="0"/>
              <a:sym typeface="Calibri" charset="0"/>
            </a:endParaRPr>
          </a:p>
        </p:txBody>
      </p:sp>
      <p:sp>
        <p:nvSpPr>
          <p:cNvPr id="9" name="Object"/>
          <p:cNvSpPr>
            <a:spLocks noGrp="1" noRot="1" noChangeAspect="1"/>
          </p:cNvSpPr>
          <p:nvPr>
            <p:ph type="sldImg" idx="3"/>
          </p:nvPr>
        </p:nvSpPr>
        <p:spPr>
          <a:xfrm>
            <a:off x="3978275" y="914400"/>
            <a:ext cx="4387850" cy="2468562"/>
          </a:xfrm>
          <a:custGeom>
            <a:avLst/>
            <a:gdLst>
              <a:gd name="T1" fmla="*/ 0 w 21600"/>
              <a:gd name="T2" fmla="*/ 0 h 21600"/>
              <a:gd name="T3" fmla="*/ 21600 w 21600"/>
              <a:gd name="T4" fmla="*/ 21600 h 21600"/>
            </a:gdLst>
            <a:ahLst/>
            <a:cxnLst/>
            <a:rect l="T1" t="T2" r="T3" b="T4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</a:ln>
        </p:spPr>
      </p:sp>
      <p:sp>
        <p:nvSpPr>
          <p:cNvPr id="10" name="Text box"/>
          <p:cNvSpPr>
            <a:spLocks noGrp="1"/>
          </p:cNvSpPr>
          <p:nvPr>
            <p:ph type="body" idx="1"/>
          </p:nvPr>
        </p:nvSpPr>
        <p:spPr>
          <a:xfrm>
            <a:off x="1234440" y="3520440"/>
            <a:ext cx="9875520" cy="288036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6645" tIns="48309" rIns="96645" bIns="48309" anchor="t" anchorCtr="0">
            <a:prstTxWarp prst="textNoShape">
              <a:avLst/>
            </a:prstTxWarp>
          </a:bodyPr>
          <a:lstStyle/>
          <a:p>
            <a:pPr marL="457200" indent="-228600" algn="l"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1200" b="0" i="0" u="none" strike="noStrike" cap="none">
              <a:solidFill>
                <a:srgbClr val="000000"/>
              </a:solidFill>
              <a:latin typeface="Calibri" charset="0"/>
              <a:ea typeface="Calibri" charset="0"/>
              <a:cs typeface="Calibri" charset="0"/>
              <a:sym typeface="Calibri" charset="0"/>
            </a:endParaRPr>
          </a:p>
        </p:txBody>
      </p:sp>
      <p:sp>
        <p:nvSpPr>
          <p:cNvPr id="11" name="Text box"/>
          <p:cNvSpPr>
            <a:spLocks noGrp="1"/>
          </p:cNvSpPr>
          <p:nvPr>
            <p:ph type="ftr"/>
          </p:nvPr>
        </p:nvSpPr>
        <p:spPr>
          <a:xfrm>
            <a:off x="0" y="6948171"/>
            <a:ext cx="5349239" cy="367029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6645" tIns="48309" rIns="96645" bIns="48309" anchor="b" anchorCtr="0">
            <a:prstTxWarp prst="textNoShape">
              <a:avLst/>
            </a:prstTxWarp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1300" b="0" i="0" u="none" strike="noStrike" cap="none">
              <a:solidFill>
                <a:srgbClr val="000000"/>
              </a:solidFill>
              <a:latin typeface="Calibri" charset="0"/>
              <a:ea typeface="Calibri" charset="0"/>
              <a:cs typeface="Calibri" charset="0"/>
              <a:sym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391917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indent="0" algn="l" defTabSz="914400" fontAlgn="auto" hangingPunct="1">
      <a:lnSpc>
        <a:spcPct val="100000"/>
      </a:lnSpc>
      <a:spcBef>
        <a:spcPts val="0"/>
      </a:spcBef>
      <a:spcAft>
        <a:spcPts val="0"/>
      </a:spcAft>
      <a:buNone/>
      <a:defRPr sz="1400" b="0" i="0" u="none" strike="noStrike" kern="0" cap="none" spc="0" baseline="0">
        <a:solidFill>
          <a:srgbClr val="000000"/>
        </a:solidFill>
        <a:latin typeface="Arial" charset="0"/>
        <a:ea typeface="Arial" charset="0"/>
        <a:cs typeface="Arial" charset="0"/>
      </a:defRPr>
    </a:lvl1pPr>
    <a:lvl2pPr marL="0" indent="0" algn="l" defTabSz="914400" fontAlgn="auto" hangingPunct="1">
      <a:lnSpc>
        <a:spcPct val="100000"/>
      </a:lnSpc>
      <a:spcBef>
        <a:spcPts val="0"/>
      </a:spcBef>
      <a:spcAft>
        <a:spcPts val="0"/>
      </a:spcAft>
      <a:buNone/>
      <a:defRPr sz="1400" b="0" i="0" u="none" strike="noStrike" kern="0" cap="none" spc="0" baseline="0">
        <a:solidFill>
          <a:srgbClr val="000000"/>
        </a:solidFill>
        <a:latin typeface="Arial" charset="0"/>
        <a:ea typeface="Arial" charset="0"/>
        <a:cs typeface="Arial" charset="0"/>
      </a:defRPr>
    </a:lvl2pPr>
    <a:lvl3pPr marL="0" indent="0" algn="l" defTabSz="914400" fontAlgn="auto" hangingPunct="1">
      <a:lnSpc>
        <a:spcPct val="100000"/>
      </a:lnSpc>
      <a:spcBef>
        <a:spcPts val="0"/>
      </a:spcBef>
      <a:spcAft>
        <a:spcPts val="0"/>
      </a:spcAft>
      <a:buNone/>
      <a:defRPr sz="1400" b="0" i="0" u="none" strike="noStrike" kern="0" cap="none" spc="0" baseline="0">
        <a:solidFill>
          <a:srgbClr val="000000"/>
        </a:solidFill>
        <a:latin typeface="Arial" charset="0"/>
        <a:ea typeface="Arial" charset="0"/>
        <a:cs typeface="Arial" charset="0"/>
      </a:defRPr>
    </a:lvl3pPr>
    <a:lvl4pPr marL="0" indent="0" algn="l" defTabSz="914400" fontAlgn="auto" hangingPunct="1">
      <a:lnSpc>
        <a:spcPct val="100000"/>
      </a:lnSpc>
      <a:spcBef>
        <a:spcPts val="0"/>
      </a:spcBef>
      <a:spcAft>
        <a:spcPts val="0"/>
      </a:spcAft>
      <a:buNone/>
      <a:defRPr sz="1400" b="0" i="0" u="none" strike="noStrike" kern="0" cap="none" spc="0" baseline="0">
        <a:solidFill>
          <a:srgbClr val="000000"/>
        </a:solidFill>
        <a:latin typeface="Arial" charset="0"/>
        <a:ea typeface="Arial" charset="0"/>
        <a:cs typeface="Arial" charset="0"/>
      </a:defRPr>
    </a:lvl4pPr>
    <a:lvl5pPr marL="0" indent="0" algn="l" defTabSz="914400" fontAlgn="auto" hangingPunct="1">
      <a:lnSpc>
        <a:spcPct val="100000"/>
      </a:lnSpc>
      <a:spcBef>
        <a:spcPts val="0"/>
      </a:spcBef>
      <a:spcAft>
        <a:spcPts val="0"/>
      </a:spcAft>
      <a:buNone/>
      <a:defRPr sz="1400" b="0" i="0" u="none" strike="noStrike" kern="0" cap="none" spc="0" baseline="0">
        <a:solidFill>
          <a:srgbClr val="000000"/>
        </a:solidFill>
        <a:latin typeface="Arial" charset="0"/>
        <a:ea typeface="Arial" charset="0"/>
        <a:cs typeface="Arial" charset="0"/>
      </a:defRPr>
    </a:lvl5pPr>
    <a:lvl6pPr marL="0" indent="0" algn="l" defTabSz="914400" fontAlgn="auto" hangingPunct="1">
      <a:lnSpc>
        <a:spcPct val="100000"/>
      </a:lnSpc>
      <a:spcBef>
        <a:spcPts val="0"/>
      </a:spcBef>
      <a:spcAft>
        <a:spcPts val="0"/>
      </a:spcAft>
      <a:buNone/>
      <a:defRPr sz="1400" b="0" i="0" u="none" strike="noStrike" kern="0" cap="none" spc="0" baseline="0">
        <a:solidFill>
          <a:srgbClr val="000000"/>
        </a:solidFill>
        <a:latin typeface="Arial" charset="0"/>
        <a:ea typeface="Arial" charset="0"/>
        <a:cs typeface="Arial" charset="0"/>
      </a:defRPr>
    </a:lvl6pPr>
    <a:lvl7pPr marL="0" indent="0" algn="l" defTabSz="914400" fontAlgn="auto" hangingPunct="1">
      <a:lnSpc>
        <a:spcPct val="100000"/>
      </a:lnSpc>
      <a:spcBef>
        <a:spcPts val="0"/>
      </a:spcBef>
      <a:spcAft>
        <a:spcPts val="0"/>
      </a:spcAft>
      <a:buNone/>
      <a:defRPr sz="1400" b="0" i="0" u="none" strike="noStrike" kern="0" cap="none" spc="0" baseline="0">
        <a:solidFill>
          <a:srgbClr val="000000"/>
        </a:solidFill>
        <a:latin typeface="Arial" charset="0"/>
        <a:ea typeface="Arial" charset="0"/>
        <a:cs typeface="Arial" charset="0"/>
      </a:defRPr>
    </a:lvl7pPr>
    <a:lvl8pPr marL="0" indent="0" algn="l" defTabSz="914400" fontAlgn="auto" hangingPunct="1">
      <a:lnSpc>
        <a:spcPct val="100000"/>
      </a:lnSpc>
      <a:spcBef>
        <a:spcPts val="0"/>
      </a:spcBef>
      <a:spcAft>
        <a:spcPts val="0"/>
      </a:spcAft>
      <a:buNone/>
      <a:defRPr sz="1400" b="0" i="0" u="none" strike="noStrike" kern="0" cap="none" spc="0" baseline="0">
        <a:solidFill>
          <a:srgbClr val="000000"/>
        </a:solidFill>
        <a:latin typeface="Arial" charset="0"/>
        <a:ea typeface="Arial" charset="0"/>
        <a:cs typeface="Arial" charset="0"/>
      </a:defRPr>
    </a:lvl8pPr>
    <a:lvl9pPr marL="0" indent="0" algn="l" defTabSz="914400" fontAlgn="auto" hangingPunct="1">
      <a:lnSpc>
        <a:spcPct val="100000"/>
      </a:lnSpc>
      <a:spcBef>
        <a:spcPts val="0"/>
      </a:spcBef>
      <a:spcAft>
        <a:spcPts val="0"/>
      </a:spcAft>
      <a:buNone/>
      <a:defRPr sz="1400" b="0" i="0" u="none" strike="noStrike" kern="0" cap="none" spc="0" baseline="0">
        <a:solidFill>
          <a:srgbClr val="000000"/>
        </a:solidFill>
        <a:latin typeface="Arial" charset="0"/>
        <a:ea typeface="Arial" charset="0"/>
        <a:cs typeface="Arial" charset="0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box"/>
          <p:cNvSpPr>
            <a:spLocks noGrp="1"/>
          </p:cNvSpPr>
          <p:nvPr>
            <p:ph type="sldNum"/>
          </p:nvPr>
        </p:nvSpPr>
        <p:spPr>
          <a:xfrm>
            <a:off x="6992303" y="6948171"/>
            <a:ext cx="5349239" cy="367029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6645" tIns="48309" rIns="96645" bIns="48309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300" b="0" i="0" u="none" strike="noStrike" kern="0" cap="none" spc="0" baseline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Calibri" charset="0"/>
              </a:rPr>
              <a:t>1</a:t>
            </a:fld>
            <a:endParaRPr lang="zh-CN" altLang="en-US" sz="1300">
              <a:solidFill>
                <a:srgbClr val="000000"/>
              </a:solidFill>
              <a:latin typeface="Calibri" charset="0"/>
              <a:ea typeface="Calibri" charset="0"/>
              <a:cs typeface="Calibri" charset="0"/>
              <a:sym typeface="Calibri" charset="0"/>
            </a:endParaRPr>
          </a:p>
        </p:txBody>
      </p:sp>
      <p:sp>
        <p:nvSpPr>
          <p:cNvPr id="39" name="Object"/>
          <p:cNvSpPr>
            <a:spLocks noGrp="1" noRot="1" noChangeAspect="1"/>
          </p:cNvSpPr>
          <p:nvPr>
            <p:ph type="sldImg" idx="2"/>
          </p:nvPr>
        </p:nvSpPr>
        <p:spPr>
          <a:xfrm>
            <a:off x="3978275" y="914400"/>
            <a:ext cx="4387850" cy="2468563"/>
          </a:xfrm>
          <a:custGeom>
            <a:avLst/>
            <a:gdLst>
              <a:gd name="T1" fmla="*/ 0 w 21600"/>
              <a:gd name="T2" fmla="*/ 0 h 21600"/>
              <a:gd name="T3" fmla="*/ 21600 w 21600"/>
              <a:gd name="T4" fmla="*/ 21600 h 21600"/>
            </a:gdLst>
            <a:ahLst/>
            <a:cxnLst/>
            <a:rect l="T1" t="T2" r="T3" b="T4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</a:ln>
        </p:spPr>
      </p:sp>
      <p:sp>
        <p:nvSpPr>
          <p:cNvPr id="40" name="Text box"/>
          <p:cNvSpPr>
            <a:spLocks noGrp="1"/>
          </p:cNvSpPr>
          <p:nvPr>
            <p:ph type="body" idx="1"/>
          </p:nvPr>
        </p:nvSpPr>
        <p:spPr>
          <a:xfrm>
            <a:off x="1234440" y="3520440"/>
            <a:ext cx="9875520" cy="288036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6645" tIns="48309" rIns="96645" bIns="48309" anchor="t" anchorCtr="0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1" name="Rectangles"/>
          <p:cNvSpPr>
            <a:spLocks noGrp="1"/>
          </p:cNvSpPr>
          <p:nvPr>
            <p:ph type="sldNum"/>
          </p:nvPr>
        </p:nvSpPr>
        <p:spPr>
          <a:xfrm>
            <a:off x="6992303" y="6948171"/>
            <a:ext cx="5349239" cy="367029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6645" tIns="48309" rIns="96645" bIns="48309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400" b="0" i="0" u="none" strike="noStrike" kern="0" cap="none" spc="0" baseline="0">
                <a:solidFill>
                  <a:srgbClr val="000000"/>
                </a:solidFill>
                <a:latin typeface="Arial" charset="0"/>
                <a:ea typeface="Arial" charset="0"/>
                <a:cs typeface="Lucida Sans"/>
              </a:rPr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78908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978275" y="914400"/>
            <a:ext cx="4387850" cy="24685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978275" y="914400"/>
            <a:ext cx="4387850" cy="24685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978275" y="914400"/>
            <a:ext cx="4387850" cy="24685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978275" y="914400"/>
            <a:ext cx="4387850" cy="24685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978275" y="914400"/>
            <a:ext cx="4387850" cy="24685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978275" y="914400"/>
            <a:ext cx="4387850" cy="24685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978275" y="914400"/>
            <a:ext cx="4387850" cy="24685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978275" y="914400"/>
            <a:ext cx="4387850" cy="24685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599BD3-D82A-84A9-A47C-F08B04ADD9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CF8ED7-191D-4219-02FD-A9FD547348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978275" y="914400"/>
            <a:ext cx="4387850" cy="246856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09D77C-4503-7A87-B2BD-0A5CD963CC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8AED6E-D519-389F-F9CC-A69018EAA9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15414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5A1169-C454-D690-BF04-9861D89EC4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E94915-BDD4-FC66-D5FF-92F80EC96C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978275" y="914400"/>
            <a:ext cx="4387850" cy="246856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FBBF14-0D78-34B7-CB42-27965796E4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61974A-62D9-4756-574D-9361AE6424F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478779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886622-978D-D5EE-2CA6-000B6F1D18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183503-B7B0-4921-812D-5E8F719D96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978275" y="914400"/>
            <a:ext cx="4387850" cy="246856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988E73-CA41-4172-3688-6256910EF7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4A8E48-5FB2-5B9D-7641-749F8C2F7DB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928312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978275" y="914400"/>
            <a:ext cx="4387850" cy="24685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 userDrawn="1"/>
        </p:nvGrpSpPr>
        <p:grpSpPr>
          <a:xfrm>
            <a:off x="0" y="6179518"/>
            <a:ext cx="12192000" cy="714053"/>
            <a:chOff x="0" y="6179518"/>
            <a:chExt cx="12192000" cy="714053"/>
          </a:xfrm>
        </p:grpSpPr>
        <p:sp>
          <p:nvSpPr>
            <p:cNvPr id="22" name="Rectangles"/>
            <p:cNvSpPr>
              <a:spLocks/>
            </p:cNvSpPr>
            <p:nvPr/>
          </p:nvSpPr>
          <p:spPr>
            <a:xfrm>
              <a:off x="0" y="6179518"/>
              <a:ext cx="12192000" cy="714053"/>
            </a:xfrm>
            <a:prstGeom prst="rect">
              <a:avLst/>
            </a:prstGeom>
            <a:solidFill>
              <a:srgbClr val="DDEAF6"/>
            </a:solidFill>
            <a:ln w="12700" cap="flat" cmpd="sng">
              <a:noFill/>
              <a:prstDash val="solid"/>
              <a:round/>
            </a:ln>
          </p:spPr>
        </p:sp>
        <p:grpSp>
          <p:nvGrpSpPr>
            <p:cNvPr id="5" name="Group 4"/>
            <p:cNvGrpSpPr/>
            <p:nvPr userDrawn="1"/>
          </p:nvGrpSpPr>
          <p:grpSpPr>
            <a:xfrm>
              <a:off x="199242" y="6324619"/>
              <a:ext cx="3401208" cy="456764"/>
              <a:chOff x="199242" y="6324619"/>
              <a:chExt cx="3401208" cy="456764"/>
            </a:xfrm>
          </p:grpSpPr>
          <p:pic>
            <p:nvPicPr>
              <p:cNvPr id="24" name="Images" descr="DUET"/>
              <p:cNvPicPr>
                <a:picLocks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199242" y="6324619"/>
                <a:ext cx="456765" cy="456764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</p:pic>
          <p:pic>
            <p:nvPicPr>
              <p:cNvPr id="2050" name="Picture 2" descr="EDGE Bangladesh"/>
              <p:cNvPicPr>
                <a:picLocks noChangeAspect="1" noChangeArrowheads="1"/>
              </p:cNvPicPr>
              <p:nvPr userDrawn="1"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15962" y="6346349"/>
                <a:ext cx="860425" cy="41330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058" name="Picture 10" descr="BCCTMS - Login"/>
              <p:cNvPicPr>
                <a:picLocks noChangeAspect="1" noChangeArrowheads="1"/>
              </p:cNvPicPr>
              <p:nvPr userDrawn="1"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36342" y="6357499"/>
                <a:ext cx="1764108" cy="39100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sp>
        <p:nvSpPr>
          <p:cNvPr id="17" name="Text box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>
            <a:lvl1pPr>
              <a:defRPr sz="6000">
                <a:latin typeface="+mj-lt"/>
                <a:cs typeface="Times New Roman" panose="02020603050405020304" pitchFamily="18" charset="0"/>
              </a:defRPr>
            </a:lvl1pPr>
          </a:lstStyle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6000" b="0" i="0" u="none" strike="noStrike" kern="0" cap="none" spc="0" baseline="0">
              <a:solidFill>
                <a:srgbClr val="000000"/>
              </a:solidFill>
              <a:latin typeface="Arial" charset="0"/>
              <a:ea typeface="Arial" charset="0"/>
              <a:cs typeface="Lucida Sans"/>
            </a:endParaRPr>
          </a:p>
        </p:txBody>
      </p:sp>
      <p:sp>
        <p:nvSpPr>
          <p:cNvPr id="18" name="Text box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marL="0" indent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lang="zh-CN" altLang="en-US" sz="2400" b="0" i="0" u="none" strike="noStrike" kern="0" cap="none" spc="0" baseline="0">
              <a:solidFill>
                <a:srgbClr val="000000"/>
              </a:solidFill>
              <a:latin typeface="Arial" charset="0"/>
              <a:ea typeface="Arial" charset="0"/>
              <a:cs typeface="Lucida Sans"/>
            </a:endParaRPr>
          </a:p>
        </p:txBody>
      </p:sp>
      <p:sp>
        <p:nvSpPr>
          <p:cNvPr id="19" name="Text box"/>
          <p:cNvSpPr>
            <a:spLocks noGrp="1"/>
          </p:cNvSpPr>
          <p:nvPr>
            <p:ph type="dt" idx="10"/>
          </p:nvPr>
        </p:nvSpPr>
        <p:spPr>
          <a:xfrm>
            <a:off x="838200" y="6356349"/>
            <a:ext cx="2743200" cy="36512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25" tIns="45700" rIns="91425" bIns="45700" anchor="ctr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0" i="0" u="none" strike="noStrike" kern="0" cap="none" spc="0" baseline="0">
                <a:solidFill>
                  <a:srgbClr val="888888"/>
                </a:solidFill>
                <a:latin typeface="Calibri" charset="0"/>
                <a:ea typeface="Calibri" charset="0"/>
                <a:cs typeface="Calibri" charset="0"/>
                <a:sym typeface="Calibri" charset="0"/>
              </a:rPr>
              <a:t>Date/Time</a:t>
            </a:r>
            <a:endParaRPr lang="zh-CN" altLang="en-US" sz="1200" b="0" i="0" u="none" strike="noStrike" kern="0" cap="none" spc="0" baseline="0">
              <a:solidFill>
                <a:srgbClr val="888888"/>
              </a:solidFill>
              <a:latin typeface="Calibri" charset="0"/>
              <a:ea typeface="Calibri" charset="0"/>
              <a:cs typeface="Calibri" charset="0"/>
              <a:sym typeface="Calibri" charset="0"/>
            </a:endParaRPr>
          </a:p>
        </p:txBody>
      </p:sp>
      <p:sp>
        <p:nvSpPr>
          <p:cNvPr id="20" name="Text box"/>
          <p:cNvSpPr>
            <a:spLocks noGrp="1"/>
          </p:cNvSpPr>
          <p:nvPr>
            <p:ph type="ftr"/>
          </p:nvPr>
        </p:nvSpPr>
        <p:spPr>
          <a:xfrm>
            <a:off x="4038600" y="6356349"/>
            <a:ext cx="4114800" cy="36512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25" tIns="45700" rIns="91425" bIns="4570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1200" b="0" i="0" u="none" strike="noStrike" kern="0" cap="none" spc="0" baseline="0">
              <a:solidFill>
                <a:srgbClr val="888888"/>
              </a:solidFill>
              <a:latin typeface="Calibri" charset="0"/>
              <a:ea typeface="Calibri" charset="0"/>
              <a:cs typeface="Calibri" charset="0"/>
              <a:sym typeface="Calibri" charset="0"/>
            </a:endParaRPr>
          </a:p>
        </p:txBody>
      </p:sp>
      <p:sp>
        <p:nvSpPr>
          <p:cNvPr id="21" name="Text box"/>
          <p:cNvSpPr>
            <a:spLocks noGrp="1"/>
          </p:cNvSpPr>
          <p:nvPr>
            <p:ph type="sldNum"/>
          </p:nvPr>
        </p:nvSpPr>
        <p:spPr>
          <a:xfrm>
            <a:off x="8610600" y="6356349"/>
            <a:ext cx="2743200" cy="36512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25" tIns="45700" rIns="91425" bIns="45700" anchor="ctr" anchorCtr="0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 algn="r"/>
            <a:fld id="{CAD2D6BD-DE1B-4B5F-8B41-2702339687B9}" type="slidenum">
              <a:rPr lang="en-US" altLang="zh-CN" b="0" smtClean="0">
                <a:solidFill>
                  <a:srgbClr val="888888"/>
                </a:solidFill>
                <a:latin typeface="Calibri" charset="0"/>
                <a:ea typeface="Calibri" charset="0"/>
                <a:cs typeface="Calibri" charset="0"/>
                <a:sym typeface="Calibri" charset="0"/>
              </a:rPr>
              <a:pPr algn="r"/>
              <a:t>‹#›</a:t>
            </a:fld>
            <a:endParaRPr lang="zh-CN" altLang="en-US" b="0">
              <a:solidFill>
                <a:srgbClr val="888888"/>
              </a:solidFill>
              <a:latin typeface="Calibri" charset="0"/>
              <a:ea typeface="Calibri" charset="0"/>
              <a:cs typeface="Calibri" charset="0"/>
              <a:sym typeface="Calibri" charset="0"/>
            </a:endParaRPr>
          </a:p>
        </p:txBody>
      </p:sp>
      <p:grpSp>
        <p:nvGrpSpPr>
          <p:cNvPr id="36" name="Group 35"/>
          <p:cNvGrpSpPr/>
          <p:nvPr userDrawn="1"/>
        </p:nvGrpSpPr>
        <p:grpSpPr>
          <a:xfrm>
            <a:off x="493487" y="391886"/>
            <a:ext cx="11219542" cy="5584507"/>
            <a:chOff x="1028700" y="1028700"/>
            <a:chExt cx="16230600" cy="8229600"/>
          </a:xfrm>
        </p:grpSpPr>
        <p:sp>
          <p:nvSpPr>
            <p:cNvPr id="37" name="Freeform 2"/>
            <p:cNvSpPr/>
            <p:nvPr/>
          </p:nvSpPr>
          <p:spPr>
            <a:xfrm>
              <a:off x="1028700" y="1028700"/>
              <a:ext cx="2516101" cy="2516101"/>
            </a:xfrm>
            <a:custGeom>
              <a:avLst/>
              <a:gdLst/>
              <a:ahLst/>
              <a:cxnLst/>
              <a:rect l="l" t="t" r="r" b="b"/>
              <a:pathLst>
                <a:path w="2516101" h="2516101">
                  <a:moveTo>
                    <a:pt x="0" y="0"/>
                  </a:moveTo>
                  <a:lnTo>
                    <a:pt x="2516101" y="0"/>
                  </a:lnTo>
                  <a:lnTo>
                    <a:pt x="2516101" y="2516101"/>
                  </a:lnTo>
                  <a:lnTo>
                    <a:pt x="0" y="25161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38" name="Freeform 5"/>
            <p:cNvSpPr/>
            <p:nvPr/>
          </p:nvSpPr>
          <p:spPr>
            <a:xfrm flipH="1" flipV="1">
              <a:off x="14743199" y="6742199"/>
              <a:ext cx="2516101" cy="2516101"/>
            </a:xfrm>
            <a:custGeom>
              <a:avLst/>
              <a:gdLst/>
              <a:ahLst/>
              <a:cxnLst/>
              <a:rect l="l" t="t" r="r" b="b"/>
              <a:pathLst>
                <a:path w="2516101" h="2516101">
                  <a:moveTo>
                    <a:pt x="2516101" y="2516101"/>
                  </a:moveTo>
                  <a:lnTo>
                    <a:pt x="0" y="2516101"/>
                  </a:lnTo>
                  <a:lnTo>
                    <a:pt x="0" y="0"/>
                  </a:lnTo>
                  <a:lnTo>
                    <a:pt x="2516101" y="0"/>
                  </a:lnTo>
                  <a:lnTo>
                    <a:pt x="2516101" y="2516101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39" name="Freeform 6"/>
            <p:cNvSpPr/>
            <p:nvPr/>
          </p:nvSpPr>
          <p:spPr>
            <a:xfrm flipH="1">
              <a:off x="14743199" y="1028700"/>
              <a:ext cx="2516101" cy="2516101"/>
            </a:xfrm>
            <a:custGeom>
              <a:avLst/>
              <a:gdLst/>
              <a:ahLst/>
              <a:cxnLst/>
              <a:rect l="l" t="t" r="r" b="b"/>
              <a:pathLst>
                <a:path w="2516101" h="2516101">
                  <a:moveTo>
                    <a:pt x="2516101" y="0"/>
                  </a:moveTo>
                  <a:lnTo>
                    <a:pt x="0" y="0"/>
                  </a:lnTo>
                  <a:lnTo>
                    <a:pt x="0" y="2516101"/>
                  </a:lnTo>
                  <a:lnTo>
                    <a:pt x="2516101" y="2516101"/>
                  </a:lnTo>
                  <a:lnTo>
                    <a:pt x="2516101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0" name="Freeform 7"/>
            <p:cNvSpPr/>
            <p:nvPr/>
          </p:nvSpPr>
          <p:spPr>
            <a:xfrm flipV="1">
              <a:off x="1028700" y="6678599"/>
              <a:ext cx="2516101" cy="2516101"/>
            </a:xfrm>
            <a:custGeom>
              <a:avLst/>
              <a:gdLst/>
              <a:ahLst/>
              <a:cxnLst/>
              <a:rect l="l" t="t" r="r" b="b"/>
              <a:pathLst>
                <a:path w="2516101" h="2516101">
                  <a:moveTo>
                    <a:pt x="0" y="2516101"/>
                  </a:moveTo>
                  <a:lnTo>
                    <a:pt x="2516101" y="2516101"/>
                  </a:lnTo>
                  <a:lnTo>
                    <a:pt x="2516101" y="0"/>
                  </a:lnTo>
                  <a:lnTo>
                    <a:pt x="0" y="0"/>
                  </a:lnTo>
                  <a:lnTo>
                    <a:pt x="0" y="2516101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</p:grpSp>
    </p:spTree>
    <p:extLst>
      <p:ext uri="{BB962C8B-B14F-4D97-AF65-F5344CB8AC3E}">
        <p14:creationId xmlns:p14="http://schemas.microsoft.com/office/powerpoint/2010/main" val="13315672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74664"/>
            <a:ext cx="10515600" cy="1325562"/>
          </a:xfrm>
        </p:spPr>
        <p:txBody>
          <a:bodyPr/>
          <a:lstStyle>
            <a:lvl1pPr>
              <a:defRPr sz="2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0" i="0" u="none" strike="noStrike" cap="none">
                <a:solidFill>
                  <a:srgbClr val="888888"/>
                </a:solidFill>
                <a:latin typeface="Calibri" charset="0"/>
                <a:ea typeface="Calibri" charset="0"/>
                <a:cs typeface="Calibri" charset="0"/>
                <a:sym typeface="Calibri" charset="0"/>
              </a:rPr>
              <a:t>Date/Time</a:t>
            </a:r>
            <a:endParaRPr lang="zh-CN" altLang="en-US" sz="1200" b="0" i="0" u="none" strike="noStrike" cap="none">
              <a:solidFill>
                <a:srgbClr val="888888"/>
              </a:solidFill>
              <a:latin typeface="Calibri" charset="0"/>
              <a:ea typeface="Calibri" charset="0"/>
              <a:cs typeface="Calibri" charset="0"/>
              <a:sym typeface="Calibri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1200" b="0" i="0" u="none" strike="noStrike" cap="none">
              <a:solidFill>
                <a:srgbClr val="888888"/>
              </a:solidFill>
              <a:latin typeface="Calibri" charset="0"/>
              <a:ea typeface="Calibri" charset="0"/>
              <a:cs typeface="Calibri" charset="0"/>
              <a:sym typeface="Calibri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CAD2D6BD-DE1B-4B5F-8B41-2702339687B9}" type="slidenum">
              <a:rPr lang="en-US" altLang="zh-CN" smtClean="0">
                <a:solidFill>
                  <a:srgbClr val="888888"/>
                </a:solidFill>
                <a:ea typeface="Calibri" charset="0"/>
                <a:sym typeface="Calibri" charset="0"/>
              </a:rPr>
              <a:pPr algn="r"/>
              <a:t>‹#›</a:t>
            </a:fld>
            <a:endParaRPr lang="zh-CN" altLang="en-US">
              <a:solidFill>
                <a:srgbClr val="888888"/>
              </a:solidFill>
              <a:ea typeface="Calibri" charset="0"/>
              <a:sym typeface="Calibri" charset="0"/>
            </a:endParaRP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838201" y="1944688"/>
            <a:ext cx="10515600" cy="4122737"/>
          </a:xfrm>
        </p:spPr>
        <p:txBody>
          <a:bodyPr/>
          <a:lstStyle>
            <a:lvl1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949804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0" i="0" u="none" strike="noStrike" cap="none">
                <a:solidFill>
                  <a:srgbClr val="888888"/>
                </a:solidFill>
                <a:latin typeface="Calibri" charset="0"/>
                <a:ea typeface="Calibri" charset="0"/>
                <a:cs typeface="Calibri" charset="0"/>
                <a:sym typeface="Calibri" charset="0"/>
              </a:rPr>
              <a:t>Date/Time</a:t>
            </a:r>
            <a:endParaRPr lang="zh-CN" altLang="en-US" sz="1200" b="0" i="0" u="none" strike="noStrike" cap="none">
              <a:solidFill>
                <a:srgbClr val="888888"/>
              </a:solidFill>
              <a:latin typeface="Calibri" charset="0"/>
              <a:ea typeface="Calibri" charset="0"/>
              <a:cs typeface="Calibri" charset="0"/>
              <a:sym typeface="Calibri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1200" b="0" i="0" u="none" strike="noStrike" cap="none">
              <a:solidFill>
                <a:srgbClr val="888888"/>
              </a:solidFill>
              <a:latin typeface="Calibri" charset="0"/>
              <a:ea typeface="Calibri" charset="0"/>
              <a:cs typeface="Calibri" charset="0"/>
              <a:sym typeface="Calibri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CAD2D6BD-DE1B-4B5F-8B41-2702339687B9}" type="slidenum">
              <a:rPr lang="en-US" altLang="zh-CN" smtClean="0">
                <a:solidFill>
                  <a:srgbClr val="888888"/>
                </a:solidFill>
                <a:ea typeface="Calibri" charset="0"/>
                <a:sym typeface="Calibri" charset="0"/>
              </a:rPr>
              <a:pPr algn="r"/>
              <a:t>‹#›</a:t>
            </a:fld>
            <a:endParaRPr lang="zh-CN" altLang="en-US">
              <a:solidFill>
                <a:srgbClr val="888888"/>
              </a:solidFill>
              <a:ea typeface="Calibri" charset="0"/>
              <a:sym typeface="Calibri" charset="0"/>
            </a:endParaRPr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401385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293773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 userDrawn="1"/>
        </p:nvGrpSpPr>
        <p:grpSpPr>
          <a:xfrm>
            <a:off x="0" y="6179518"/>
            <a:ext cx="12192000" cy="714053"/>
            <a:chOff x="0" y="6179518"/>
            <a:chExt cx="12192000" cy="714053"/>
          </a:xfrm>
        </p:grpSpPr>
        <p:sp>
          <p:nvSpPr>
            <p:cNvPr id="8" name="Rectangles"/>
            <p:cNvSpPr>
              <a:spLocks/>
            </p:cNvSpPr>
            <p:nvPr/>
          </p:nvSpPr>
          <p:spPr>
            <a:xfrm>
              <a:off x="0" y="6179518"/>
              <a:ext cx="12192000" cy="714053"/>
            </a:xfrm>
            <a:prstGeom prst="rect">
              <a:avLst/>
            </a:prstGeom>
            <a:solidFill>
              <a:srgbClr val="DDEAF6"/>
            </a:solidFill>
            <a:ln w="12700" cap="flat" cmpd="sng">
              <a:noFill/>
              <a:prstDash val="solid"/>
              <a:round/>
            </a:ln>
          </p:spPr>
        </p:sp>
        <p:grpSp>
          <p:nvGrpSpPr>
            <p:cNvPr id="9" name="Group 8"/>
            <p:cNvGrpSpPr/>
            <p:nvPr userDrawn="1"/>
          </p:nvGrpSpPr>
          <p:grpSpPr>
            <a:xfrm>
              <a:off x="199242" y="6324619"/>
              <a:ext cx="3401208" cy="456764"/>
              <a:chOff x="199242" y="6324619"/>
              <a:chExt cx="3401208" cy="456764"/>
            </a:xfrm>
          </p:grpSpPr>
          <p:pic>
            <p:nvPicPr>
              <p:cNvPr id="10" name="Images" descr="DUET"/>
              <p:cNvPicPr>
                <a:picLocks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199242" y="6324619"/>
                <a:ext cx="456765" cy="456764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</p:pic>
          <p:pic>
            <p:nvPicPr>
              <p:cNvPr id="11" name="Picture 2" descr="EDGE Bangladesh"/>
              <p:cNvPicPr>
                <a:picLocks noChangeAspect="1" noChangeArrowheads="1"/>
              </p:cNvPicPr>
              <p:nvPr userDrawn="1"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15962" y="6346349"/>
                <a:ext cx="860425" cy="41330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2" name="Picture 10" descr="BCCTMS - Login"/>
              <p:cNvPicPr>
                <a:picLocks noChangeAspect="1" noChangeArrowheads="1"/>
              </p:cNvPicPr>
              <p:nvPr userDrawn="1"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36342" y="6357499"/>
                <a:ext cx="1764108" cy="39100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sp>
        <p:nvSpPr>
          <p:cNvPr id="2" name="Text box"/>
          <p:cNvSpPr>
            <a:spLocks noGrp="1"/>
          </p:cNvSpPr>
          <p:nvPr>
            <p:ph type="title"/>
          </p:nvPr>
        </p:nvSpPr>
        <p:spPr>
          <a:xfrm>
            <a:off x="838200" y="365124"/>
            <a:ext cx="10515600" cy="1325562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25" tIns="45700" rIns="91425" bIns="45700" anchor="ctr" anchorCtr="0">
            <a:prstTxWarp prst="textNoShape">
              <a:avLst/>
            </a:prstTxWarp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4400" b="0" i="0" u="none" strike="noStrike" cap="none">
              <a:solidFill>
                <a:srgbClr val="000000"/>
              </a:solidFill>
              <a:latin typeface="Calibri" charset="0"/>
              <a:ea typeface="Calibri" charset="0"/>
              <a:cs typeface="Calibri" charset="0"/>
              <a:sym typeface="Calibri" charset="0"/>
            </a:endParaRPr>
          </a:p>
        </p:txBody>
      </p:sp>
      <p:sp>
        <p:nvSpPr>
          <p:cNvPr id="3" name="Text box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25" tIns="45700" rIns="91425" bIns="45700" anchor="t" anchorCtr="0">
            <a:prstTxWarp prst="textNoShape">
              <a:avLst/>
            </a:prstTxWarp>
          </a:bodyPr>
          <a:lstStyle/>
          <a:p>
            <a:pPr marL="45720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charset="0"/>
              <a:buChar char="•"/>
            </a:pPr>
            <a:endParaRPr lang="zh-CN" altLang="en-US" sz="2800" b="0" i="0" u="none" strike="noStrike" cap="none">
              <a:solidFill>
                <a:srgbClr val="000000"/>
              </a:solidFill>
              <a:latin typeface="Calibri" charset="0"/>
              <a:ea typeface="Calibri" charset="0"/>
              <a:cs typeface="Calibri" charset="0"/>
              <a:sym typeface="Calibri" charset="0"/>
            </a:endParaRPr>
          </a:p>
        </p:txBody>
      </p:sp>
      <p:sp>
        <p:nvSpPr>
          <p:cNvPr id="4" name="Text box"/>
          <p:cNvSpPr>
            <a:spLocks noGrp="1"/>
          </p:cNvSpPr>
          <p:nvPr>
            <p:ph type="dt" idx="10"/>
          </p:nvPr>
        </p:nvSpPr>
        <p:spPr>
          <a:xfrm>
            <a:off x="838200" y="6356349"/>
            <a:ext cx="2743200" cy="36512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25" tIns="45700" rIns="91425" bIns="45700" anchor="ctr" anchorCtr="0">
            <a:prstTxWarp prst="textNoShape">
              <a:avLst/>
            </a:prstTxWarp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0" i="0" u="none" strike="noStrike" cap="none">
                <a:solidFill>
                  <a:srgbClr val="888888"/>
                </a:solidFill>
                <a:latin typeface="Calibri" charset="0"/>
                <a:ea typeface="Calibri" charset="0"/>
                <a:cs typeface="Calibri" charset="0"/>
                <a:sym typeface="Calibri" charset="0"/>
              </a:rPr>
              <a:t>Date/Time</a:t>
            </a:r>
            <a:endParaRPr lang="zh-CN" altLang="en-US" sz="1200" b="0" i="0" u="none" strike="noStrike" cap="none">
              <a:solidFill>
                <a:srgbClr val="888888"/>
              </a:solidFill>
              <a:latin typeface="Calibri" charset="0"/>
              <a:ea typeface="Calibri" charset="0"/>
              <a:cs typeface="Calibri" charset="0"/>
              <a:sym typeface="Calibri" charset="0"/>
            </a:endParaRPr>
          </a:p>
        </p:txBody>
      </p:sp>
      <p:sp>
        <p:nvSpPr>
          <p:cNvPr id="5" name="Text box"/>
          <p:cNvSpPr>
            <a:spLocks noGrp="1"/>
          </p:cNvSpPr>
          <p:nvPr>
            <p:ph type="ftr"/>
          </p:nvPr>
        </p:nvSpPr>
        <p:spPr>
          <a:xfrm>
            <a:off x="4038600" y="6356349"/>
            <a:ext cx="4114800" cy="36512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25" tIns="45700" rIns="91425" bIns="45700" anchor="ctr" anchorCtr="0">
            <a:prstTxWarp prst="textNoShape">
              <a:avLst/>
            </a:prstTxWarp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1200" b="0" i="0" u="none" strike="noStrike" cap="none">
              <a:solidFill>
                <a:srgbClr val="888888"/>
              </a:solidFill>
              <a:latin typeface="Calibri" charset="0"/>
              <a:ea typeface="Calibri" charset="0"/>
              <a:cs typeface="Calibri" charset="0"/>
              <a:sym typeface="Calibri" charset="0"/>
            </a:endParaRPr>
          </a:p>
        </p:txBody>
      </p:sp>
      <p:sp>
        <p:nvSpPr>
          <p:cNvPr id="6" name="Text box"/>
          <p:cNvSpPr>
            <a:spLocks noGrp="1"/>
          </p:cNvSpPr>
          <p:nvPr>
            <p:ph type="sldNum"/>
          </p:nvPr>
        </p:nvSpPr>
        <p:spPr>
          <a:xfrm>
            <a:off x="8610600" y="6356349"/>
            <a:ext cx="2743200" cy="36512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25" tIns="45700" rIns="91425" bIns="45700" anchor="ctr" anchorCtr="0">
            <a:prstTxWarp prst="textNoShape">
              <a:avLst/>
            </a:prstTxWarp>
          </a:bodyPr>
          <a:lstStyle>
            <a:lvl1pPr>
              <a:defRPr sz="18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algn="r"/>
            <a:fld id="{CAD2D6BD-DE1B-4B5F-8B41-2702339687B9}" type="slidenum">
              <a:rPr lang="en-US" altLang="zh-CN" smtClean="0">
                <a:solidFill>
                  <a:srgbClr val="888888"/>
                </a:solidFill>
                <a:ea typeface="Calibri" charset="0"/>
                <a:sym typeface="Calibri" charset="0"/>
              </a:rPr>
              <a:pPr algn="r"/>
              <a:t>‹#›</a:t>
            </a:fld>
            <a:endParaRPr lang="zh-CN" altLang="en-US">
              <a:solidFill>
                <a:srgbClr val="888888"/>
              </a:solidFill>
              <a:ea typeface="Calibri" charset="0"/>
              <a:sym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5567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  <p:sldLayoutId id="2147483662" r:id="rId2"/>
    <p:sldLayoutId id="2147483661" r:id="rId3"/>
    <p:sldLayoutId id="2147483663" r:id="rId4"/>
  </p:sldLayoutIdLst>
  <p:hf hdr="0" ftr="0" dt="0"/>
  <p:txStyles>
    <p:titleStyle>
      <a:lvl1pPr algn="l" defTabSz="914400" fontAlgn="auto" hangingPunct="1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+mj-lt"/>
          <a:ea typeface="Times New Roman" panose="02020603050405020304" pitchFamily="18" charset="0"/>
          <a:cs typeface="Times New Roman" panose="02020603050405020304" pitchFamily="18" charset="0"/>
        </a:defRPr>
      </a:lvl1pPr>
    </p:titleStyle>
    <p:bodyStyle>
      <a:lvl1pPr algn="l" defTabSz="914400" fontAlgn="auto" hangingPunct="1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Times New Roman" panose="02020603050405020304" pitchFamily="18" charset="0"/>
          <a:ea typeface="Times New Roman" panose="02020603050405020304" pitchFamily="18" charset="0"/>
          <a:cs typeface="Times New Roman" panose="02020603050405020304" pitchFamily="18" charset="0"/>
        </a:defRPr>
      </a:lvl1pPr>
      <a:lvl2pPr algn="l" defTabSz="914400" fontAlgn="auto" hangingPunct="1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 charset="0"/>
          <a:ea typeface="Arial" charset="0"/>
          <a:cs typeface="Arial" charset="0"/>
        </a:defRPr>
      </a:lvl2pPr>
      <a:lvl3pPr algn="l" defTabSz="914400" fontAlgn="auto" hangingPunct="1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 charset="0"/>
          <a:ea typeface="Arial" charset="0"/>
          <a:cs typeface="Arial" charset="0"/>
        </a:defRPr>
      </a:lvl3pPr>
      <a:lvl4pPr algn="l" defTabSz="914400" fontAlgn="auto" hangingPunct="1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 charset="0"/>
          <a:ea typeface="Arial" charset="0"/>
          <a:cs typeface="Arial" charset="0"/>
        </a:defRPr>
      </a:lvl4pPr>
      <a:lvl5pPr algn="l" defTabSz="914400" fontAlgn="auto" hangingPunct="1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 charset="0"/>
          <a:ea typeface="Arial" charset="0"/>
          <a:cs typeface="Arial" charset="0"/>
        </a:defRPr>
      </a:lvl5pPr>
      <a:lvl6pPr algn="l" defTabSz="914400" fontAlgn="auto" hangingPunct="1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 charset="0"/>
          <a:ea typeface="Arial" charset="0"/>
          <a:cs typeface="Arial" charset="0"/>
        </a:defRPr>
      </a:lvl6pPr>
      <a:lvl7pPr algn="l" defTabSz="914400" fontAlgn="auto" hangingPunct="1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 charset="0"/>
          <a:ea typeface="Arial" charset="0"/>
          <a:cs typeface="Arial" charset="0"/>
        </a:defRPr>
      </a:lvl7pPr>
      <a:lvl8pPr algn="l" defTabSz="914400" fontAlgn="auto" hangingPunct="1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 charset="0"/>
          <a:ea typeface="Arial" charset="0"/>
          <a:cs typeface="Arial" charset="0"/>
        </a:defRPr>
      </a:lvl8pPr>
      <a:lvl9pPr algn="l" defTabSz="914400" fontAlgn="auto" hangingPunct="1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 charset="0"/>
          <a:ea typeface="Arial" charset="0"/>
          <a:cs typeface="Arial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github.com/shuvo881/Software-Testing-EDGE_2026-/tree/main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Combination"/>
          <p:cNvGrpSpPr>
            <a:grpSpLocks/>
          </p:cNvGrpSpPr>
          <p:nvPr/>
        </p:nvGrpSpPr>
        <p:grpSpPr>
          <a:xfrm>
            <a:off x="3100181" y="616944"/>
            <a:ext cx="5804025" cy="1185339"/>
            <a:chOff x="3100181" y="616944"/>
            <a:chExt cx="5804025" cy="1185339"/>
          </a:xfrm>
        </p:grpSpPr>
        <p:sp>
          <p:nvSpPr>
            <p:cNvPr id="30" name="Rectangles"/>
            <p:cNvSpPr>
              <a:spLocks/>
            </p:cNvSpPr>
            <p:nvPr/>
          </p:nvSpPr>
          <p:spPr>
            <a:xfrm>
              <a:off x="3100181" y="616944"/>
              <a:ext cx="5804025" cy="64629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91425" tIns="45700" rIns="91425" bIns="45700" anchor="t" anchorCtr="0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altLang="zh-CN" sz="3600" b="1">
                  <a:latin typeface="Calibri" charset="0"/>
                  <a:ea typeface="Calibri" charset="0"/>
                  <a:cs typeface="Calibri" charset="0"/>
                  <a:sym typeface="Calibri" charset="0"/>
                </a:rPr>
                <a:t> Foundational Skills Program</a:t>
              </a:r>
              <a:endParaRPr lang="zh-CN" altLang="en-US" sz="1400" b="0" i="0" u="none" strike="noStrike" kern="0" cap="none" spc="0" baseline="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endParaRPr>
            </a:p>
          </p:txBody>
        </p:sp>
        <p:sp>
          <p:nvSpPr>
            <p:cNvPr id="31" name="Rectangles"/>
            <p:cNvSpPr>
              <a:spLocks/>
            </p:cNvSpPr>
            <p:nvPr/>
          </p:nvSpPr>
          <p:spPr>
            <a:xfrm>
              <a:off x="3357371" y="1279064"/>
              <a:ext cx="5289640" cy="523219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91425" tIns="45700" rIns="91425" bIns="45700" anchor="t" anchorCtr="0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altLang="zh-CN" sz="2800" b="1">
                  <a:solidFill>
                    <a:srgbClr val="0070C0"/>
                  </a:solidFill>
                  <a:latin typeface="Calibri"/>
                  <a:ea typeface="Calibri"/>
                  <a:cs typeface="Calibri"/>
                  <a:sym typeface="Calibri" charset="0"/>
                </a:rPr>
                <a:t>Course Title: Software Testing</a:t>
              </a:r>
              <a:endParaRPr lang="zh-CN" altLang="en-US" sz="2800" b="1" i="0" u="none" strike="noStrike" kern="0" cap="none" spc="0" baseline="0">
                <a:solidFill>
                  <a:srgbClr val="0070C0"/>
                </a:solidFill>
                <a:latin typeface="Calibri" charset="0"/>
                <a:ea typeface="Calibri" charset="0"/>
                <a:cs typeface="Calibri" charset="0"/>
                <a:sym typeface="Calibri" charset="0"/>
              </a:endParaRPr>
            </a:p>
          </p:txBody>
        </p:sp>
      </p:grpSp>
      <p:sp>
        <p:nvSpPr>
          <p:cNvPr id="33" name="Rectangles"/>
          <p:cNvSpPr>
            <a:spLocks/>
          </p:cNvSpPr>
          <p:nvPr/>
        </p:nvSpPr>
        <p:spPr>
          <a:xfrm>
            <a:off x="3044119" y="3539400"/>
            <a:ext cx="5960874" cy="98484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25" tIns="45700" rIns="91425" bIns="4570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CN" sz="2400" b="1">
                <a:latin typeface="Calibri"/>
                <a:cs typeface="Calibri"/>
              </a:rPr>
              <a:t>Md. Golam </a:t>
            </a:r>
            <a:r>
              <a:rPr lang="en-US" altLang="zh-CN" sz="2400" b="1" err="1">
                <a:latin typeface="Calibri"/>
                <a:cs typeface="Calibri"/>
              </a:rPr>
              <a:t>Mostofa</a:t>
            </a:r>
            <a:endParaRPr lang="en-US" altLang="zh-CN" sz="2400" b="1" i="0" u="none" strike="noStrike" kern="0" cap="none" spc="0" baseline="0">
              <a:solidFill>
                <a:srgbClr val="000000"/>
              </a:solidFill>
              <a:latin typeface="Calibri"/>
              <a:cs typeface="Calibri"/>
            </a:endParaRPr>
          </a:p>
          <a:p>
            <a:pPr algn="ctr"/>
            <a:r>
              <a:rPr lang="en-US" altLang="zh-CN">
                <a:latin typeface="Arial"/>
                <a:cs typeface="Arial"/>
              </a:rPr>
              <a:t>AI/ML-QA Engineer, </a:t>
            </a:r>
            <a:r>
              <a:rPr lang="en-US" altLang="zh-CN" err="1">
                <a:latin typeface="Arial"/>
                <a:cs typeface="Arial"/>
              </a:rPr>
              <a:t>Bizzntek</a:t>
            </a:r>
            <a:r>
              <a:rPr lang="en-US" altLang="zh-CN">
                <a:latin typeface="Arial"/>
                <a:cs typeface="Arial"/>
              </a:rPr>
              <a:t> Ltd</a:t>
            </a:r>
            <a:endParaRPr lang="en-US" altLang="zh-CN" sz="1400" b="0" i="0" u="none" strike="noStrike" kern="0" cap="none" spc="0" baseline="0">
              <a:solidFill>
                <a:srgbClr val="000000"/>
              </a:solidFill>
              <a:latin typeface="Arial"/>
              <a:cs typeface="Arial" charset="0"/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2000" b="1">
              <a:ea typeface="Calibri"/>
              <a:cs typeface="Calibri"/>
            </a:endParaRPr>
          </a:p>
        </p:txBody>
      </p:sp>
      <p:pic>
        <p:nvPicPr>
          <p:cNvPr id="34" name="Images" descr="DUET"/>
          <p:cNvPicPr>
            <a:picLocks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513169" y="1942006"/>
            <a:ext cx="875522" cy="875522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</p:pic>
      <p:sp>
        <p:nvSpPr>
          <p:cNvPr id="38" name="Rectangles"/>
          <p:cNvSpPr>
            <a:spLocks/>
          </p:cNvSpPr>
          <p:nvPr/>
        </p:nvSpPr>
        <p:spPr>
          <a:xfrm>
            <a:off x="4895958" y="2949269"/>
            <a:ext cx="2229649" cy="369291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25" tIns="45700" rIns="91425" bIns="4570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CN" sz="1800" b="1" i="0" u="none" strike="noStrike" kern="0" cap="none" spc="0" baseline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 charset="0"/>
              </a:rPr>
              <a:t>Date:</a:t>
            </a:r>
            <a:r>
              <a:rPr lang="en-US" altLang="zh-CN" sz="1800" b="1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 charset="0"/>
              </a:rPr>
              <a:t> May</a:t>
            </a:r>
            <a:r>
              <a:rPr lang="en-US" altLang="zh-CN" sz="1800" b="1" i="0" u="none" strike="noStrike" kern="0" cap="none" spc="0" baseline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 charset="0"/>
              </a:rPr>
              <a:t> </a:t>
            </a:r>
            <a:r>
              <a:rPr lang="en-US" altLang="zh-CN" sz="1800" b="1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 charset="0"/>
              </a:rPr>
              <a:t>10</a:t>
            </a:r>
            <a:r>
              <a:rPr lang="en-US" altLang="zh-CN" sz="1800" b="1" i="0" u="none" strike="noStrike" kern="0" cap="none" spc="0" baseline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 charset="0"/>
              </a:rPr>
              <a:t>, 2026</a:t>
            </a:r>
            <a:endParaRPr lang="zh-CN" altLang="en-US" sz="1400" b="0" i="0" u="none" strike="noStrike" kern="0" cap="none" spc="0" baseline="0">
              <a:solidFill>
                <a:srgbClr val="000000"/>
              </a:solidFill>
              <a:latin typeface="Calibri"/>
              <a:cs typeface="Calibri"/>
              <a:sym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0643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FCCB626-31E3-F1D1-9E5C-DCDFC8FBE23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CAD2D6BD-DE1B-4B5F-8B41-2702339687B9}" type="slidenum">
              <a:rPr lang="en-US" altLang="zh-CN" smtClean="0">
                <a:solidFill>
                  <a:srgbClr val="888888"/>
                </a:solidFill>
                <a:ea typeface="Calibri" charset="0"/>
                <a:sym typeface="Calibri" charset="0"/>
              </a:rPr>
              <a:pPr algn="r"/>
              <a:t>2</a:t>
            </a:fld>
            <a:endParaRPr lang="zh-CN" altLang="en-US">
              <a:solidFill>
                <a:srgbClr val="888888"/>
              </a:solidFill>
              <a:ea typeface="Calibri" charset="0"/>
              <a:sym typeface="Calibri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543425-E61E-6525-D9DD-EB68BA8C681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457200" indent="-457200">
              <a:buFont typeface="Arial"/>
              <a:buChar char="•"/>
            </a:pPr>
            <a:r>
              <a:rPr lang="en-US">
                <a:latin typeface="Arial"/>
                <a:cs typeface="Arial"/>
              </a:rPr>
              <a:t>Introducing Evaluation dataset</a:t>
            </a:r>
            <a:endParaRPr lang="en-US"/>
          </a:p>
          <a:p>
            <a:pPr marL="457200" indent="-457200">
              <a:buFont typeface="Arial"/>
              <a:buChar char="•"/>
            </a:pPr>
            <a:r>
              <a:rPr lang="en-US" dirty="0">
                <a:latin typeface="Arial"/>
                <a:cs typeface="Arial"/>
              </a:rPr>
              <a:t>Introducing </a:t>
            </a:r>
            <a:r>
              <a:rPr lang="en-US" dirty="0" err="1">
                <a:latin typeface="Arial"/>
                <a:cs typeface="Arial"/>
              </a:rPr>
              <a:t>DeepEval</a:t>
            </a:r>
            <a:r>
              <a:rPr lang="en-US" dirty="0">
                <a:latin typeface="Arial"/>
                <a:cs typeface="Arial"/>
              </a:rPr>
              <a:t> and Uptrain tool</a:t>
            </a:r>
          </a:p>
          <a:p>
            <a:pPr marL="457200" indent="-457200">
              <a:buFont typeface="Arial"/>
              <a:buChar char="•"/>
            </a:pPr>
            <a:r>
              <a:rPr lang="en-US"/>
              <a:t>Evaluation Setup</a:t>
            </a:r>
          </a:p>
          <a:p>
            <a:pPr marL="457200" indent="-457200">
              <a:buFont typeface="Arial"/>
              <a:buChar char="•"/>
            </a:pPr>
            <a:r>
              <a:rPr lang="en-US"/>
              <a:t>Environment Setup</a:t>
            </a:r>
          </a:p>
          <a:p>
            <a:pPr marL="457200" indent="-457200">
              <a:buFont typeface="Arial"/>
              <a:buChar char="•"/>
            </a:pPr>
            <a:r>
              <a:rPr lang="en-US" dirty="0">
                <a:latin typeface="Arial"/>
                <a:cs typeface="Arial"/>
              </a:rPr>
              <a:t>Test EDEG chatbot using </a:t>
            </a:r>
            <a:r>
              <a:rPr lang="en-US" dirty="0" err="1">
                <a:latin typeface="Arial"/>
                <a:cs typeface="Arial"/>
              </a:rPr>
              <a:t>deepEval</a:t>
            </a:r>
            <a:r>
              <a:rPr lang="en-US" dirty="0">
                <a:latin typeface="Arial"/>
                <a:cs typeface="Arial"/>
              </a:rPr>
              <a:t> or Uptrain (automated and AI-Driven)</a:t>
            </a:r>
          </a:p>
          <a:p>
            <a:pPr marL="457200" indent="-457200">
              <a:buFont typeface="Arial"/>
              <a:buChar char="•"/>
            </a:pPr>
            <a:endParaRPr lang="en-US" dirty="0"/>
          </a:p>
        </p:txBody>
      </p:sp>
      <p:sp>
        <p:nvSpPr>
          <p:cNvPr id="6" name="Shape 0">
            <a:extLst>
              <a:ext uri="{FF2B5EF4-FFF2-40B4-BE49-F238E27FC236}">
                <a16:creationId xmlns:a16="http://schemas.microsoft.com/office/drawing/2014/main" id="{32C312E3-8E31-F280-EB7B-D5F55040A70A}"/>
              </a:ext>
            </a:extLst>
          </p:cNvPr>
          <p:cNvSpPr/>
          <p:nvPr/>
        </p:nvSpPr>
        <p:spPr>
          <a:xfrm>
            <a:off x="0" y="0"/>
            <a:ext cx="12192000" cy="12192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1214E9C9-55F9-B1DB-6971-51DCBF4CC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750" y="-1586"/>
            <a:ext cx="10515600" cy="1325562"/>
          </a:xfrm>
        </p:spPr>
        <p:txBody>
          <a:bodyPr/>
          <a:lstStyle/>
          <a:p>
            <a:r>
              <a:rPr lang="en-US">
                <a:solidFill>
                  <a:schemeClr val="bg1"/>
                </a:solidFill>
                <a:latin typeface="Arial"/>
                <a:cs typeface="Arial"/>
              </a:rPr>
              <a:t>Outline</a:t>
            </a:r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13583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87680" y="268224"/>
            <a:ext cx="11216640" cy="7924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3733" b="1" dirty="0">
                <a:solidFill>
                  <a:srgbClr val="FFFFFF"/>
                </a:solidFill>
              </a:rPr>
              <a:t>What Are Evaluation Datasets?</a:t>
            </a:r>
            <a:endParaRPr lang="en-US" sz="3733" dirty="0"/>
          </a:p>
        </p:txBody>
      </p:sp>
      <p:sp>
        <p:nvSpPr>
          <p:cNvPr id="4" name="Shape 2"/>
          <p:cNvSpPr/>
          <p:nvPr/>
        </p:nvSpPr>
        <p:spPr>
          <a:xfrm>
            <a:off x="487680" y="1219200"/>
            <a:ext cx="11216640" cy="1158240"/>
          </a:xfrm>
          <a:prstGeom prst="rect">
            <a:avLst/>
          </a:prstGeom>
          <a:solidFill>
            <a:srgbClr val="1E3A5F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70560" y="1219200"/>
            <a:ext cx="10850880" cy="115824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33" b="1" dirty="0">
                <a:solidFill>
                  <a:srgbClr val="06B6D4"/>
                </a:solidFill>
              </a:rPr>
              <a:t>Definition: </a:t>
            </a:r>
            <a:r>
              <a:rPr lang="en-US" sz="1733" dirty="0">
                <a:solidFill>
                  <a:srgbClr val="F1F5F9"/>
                </a:solidFill>
              </a:rPr>
              <a:t>Curated collections of questions, prompts, and expected answers used to measure LLM capabilities across dimensions like knowledge, reasoning, truthfulness, and math.</a:t>
            </a:r>
            <a:endParaRPr lang="en-US" sz="1733" dirty="0"/>
          </a:p>
        </p:txBody>
      </p:sp>
      <p:sp>
        <p:nvSpPr>
          <p:cNvPr id="6" name="Shape 4"/>
          <p:cNvSpPr/>
          <p:nvPr/>
        </p:nvSpPr>
        <p:spPr>
          <a:xfrm>
            <a:off x="487680" y="2621280"/>
            <a:ext cx="3535680" cy="3474720"/>
          </a:xfrm>
          <a:prstGeom prst="rect">
            <a:avLst/>
          </a:prstGeom>
          <a:solidFill>
            <a:srgbClr val="1E293B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87680" y="2621280"/>
            <a:ext cx="353568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7680" y="2804160"/>
            <a:ext cx="3535680" cy="6705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467" dirty="0">
                <a:solidFill>
                  <a:srgbClr val="000000"/>
                </a:solidFill>
              </a:rPr>
              <a:t>📊</a:t>
            </a:r>
            <a:endParaRPr lang="en-US" sz="3467" dirty="0"/>
          </a:p>
        </p:txBody>
      </p:sp>
      <p:sp>
        <p:nvSpPr>
          <p:cNvPr id="9" name="Text 7"/>
          <p:cNvSpPr/>
          <p:nvPr/>
        </p:nvSpPr>
        <p:spPr>
          <a:xfrm>
            <a:off x="487680" y="3535680"/>
            <a:ext cx="3535680" cy="51206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67" b="1" dirty="0">
                <a:solidFill>
                  <a:srgbClr val="0D9488"/>
                </a:solidFill>
              </a:rPr>
              <a:t>Standardized</a:t>
            </a:r>
            <a:endParaRPr lang="en-US" sz="1867" dirty="0"/>
          </a:p>
        </p:txBody>
      </p:sp>
      <p:sp>
        <p:nvSpPr>
          <p:cNvPr id="10" name="Text 8"/>
          <p:cNvSpPr/>
          <p:nvPr/>
        </p:nvSpPr>
        <p:spPr>
          <a:xfrm>
            <a:off x="633984" y="4084320"/>
            <a:ext cx="3243072" cy="1828800"/>
          </a:xfrm>
          <a:prstGeom prst="rect">
            <a:avLst/>
          </a:prstGeom>
          <a:noFill/>
          <a:ln/>
        </p:spPr>
        <p:txBody>
          <a:bodyPr wrap="square" rtlCol="0" anchor="t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467" dirty="0">
                <a:solidFill>
                  <a:srgbClr val="CBD5E1"/>
                </a:solidFill>
              </a:rPr>
              <a:t>Fixed question sets with ground-truth answers enable fair, reproducible comparisons across models and versions.</a:t>
            </a:r>
            <a:endParaRPr lang="en-US" sz="1467" dirty="0"/>
          </a:p>
        </p:txBody>
      </p:sp>
      <p:sp>
        <p:nvSpPr>
          <p:cNvPr id="11" name="Shape 9"/>
          <p:cNvSpPr/>
          <p:nvPr/>
        </p:nvSpPr>
        <p:spPr>
          <a:xfrm>
            <a:off x="4267200" y="2621280"/>
            <a:ext cx="3535680" cy="3474720"/>
          </a:xfrm>
          <a:prstGeom prst="rect">
            <a:avLst/>
          </a:prstGeom>
          <a:solidFill>
            <a:srgbClr val="1E293B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67200" y="2621280"/>
            <a:ext cx="3535680" cy="7315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67200" y="2804160"/>
            <a:ext cx="3535680" cy="6705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467" dirty="0">
                <a:solidFill>
                  <a:srgbClr val="000000"/>
                </a:solidFill>
              </a:rPr>
              <a:t>🎯</a:t>
            </a:r>
            <a:endParaRPr lang="en-US" sz="3467" dirty="0"/>
          </a:p>
        </p:txBody>
      </p:sp>
      <p:sp>
        <p:nvSpPr>
          <p:cNvPr id="14" name="Text 12"/>
          <p:cNvSpPr/>
          <p:nvPr/>
        </p:nvSpPr>
        <p:spPr>
          <a:xfrm>
            <a:off x="4267200" y="3535680"/>
            <a:ext cx="3535680" cy="51206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67" b="1" dirty="0">
                <a:solidFill>
                  <a:srgbClr val="8B5CF6"/>
                </a:solidFill>
              </a:rPr>
              <a:t>Multi-Dimensional</a:t>
            </a:r>
            <a:endParaRPr lang="en-US" sz="1867" dirty="0"/>
          </a:p>
        </p:txBody>
      </p:sp>
      <p:sp>
        <p:nvSpPr>
          <p:cNvPr id="15" name="Text 13"/>
          <p:cNvSpPr/>
          <p:nvPr/>
        </p:nvSpPr>
        <p:spPr>
          <a:xfrm>
            <a:off x="4413504" y="4084320"/>
            <a:ext cx="3243072" cy="1828800"/>
          </a:xfrm>
          <a:prstGeom prst="rect">
            <a:avLst/>
          </a:prstGeom>
          <a:noFill/>
          <a:ln/>
        </p:spPr>
        <p:txBody>
          <a:bodyPr wrap="square" rtlCol="0" anchor="t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467" dirty="0">
                <a:solidFill>
                  <a:srgbClr val="CBD5E1"/>
                </a:solidFill>
              </a:rPr>
              <a:t>Cover diverse skills: factual recall, logical reasoning, coding, mathematics, common sense, and safety alignment.</a:t>
            </a:r>
            <a:endParaRPr lang="en-US" sz="1467" dirty="0"/>
          </a:p>
        </p:txBody>
      </p:sp>
      <p:sp>
        <p:nvSpPr>
          <p:cNvPr id="16" name="Shape 14"/>
          <p:cNvSpPr/>
          <p:nvPr/>
        </p:nvSpPr>
        <p:spPr>
          <a:xfrm>
            <a:off x="8046720" y="2621280"/>
            <a:ext cx="3535680" cy="3474720"/>
          </a:xfrm>
          <a:prstGeom prst="rect">
            <a:avLst/>
          </a:prstGeom>
          <a:solidFill>
            <a:srgbClr val="1E293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46720" y="2621280"/>
            <a:ext cx="353568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46720" y="2804160"/>
            <a:ext cx="3535680" cy="6705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467" dirty="0">
                <a:solidFill>
                  <a:srgbClr val="000000"/>
                </a:solidFill>
              </a:rPr>
              <a:t>📈</a:t>
            </a:r>
            <a:endParaRPr lang="en-US" sz="3467" dirty="0"/>
          </a:p>
        </p:txBody>
      </p:sp>
      <p:sp>
        <p:nvSpPr>
          <p:cNvPr id="19" name="Text 17"/>
          <p:cNvSpPr/>
          <p:nvPr/>
        </p:nvSpPr>
        <p:spPr>
          <a:xfrm>
            <a:off x="8046720" y="3535680"/>
            <a:ext cx="3535680" cy="51206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67" b="1" dirty="0">
                <a:solidFill>
                  <a:srgbClr val="F59E0B"/>
                </a:solidFill>
              </a:rPr>
              <a:t>Benchmarking</a:t>
            </a:r>
            <a:endParaRPr lang="en-US" sz="1867" dirty="0"/>
          </a:p>
        </p:txBody>
      </p:sp>
      <p:sp>
        <p:nvSpPr>
          <p:cNvPr id="20" name="Text 18"/>
          <p:cNvSpPr/>
          <p:nvPr/>
        </p:nvSpPr>
        <p:spPr>
          <a:xfrm>
            <a:off x="8193024" y="4084320"/>
            <a:ext cx="3243072" cy="1828800"/>
          </a:xfrm>
          <a:prstGeom prst="rect">
            <a:avLst/>
          </a:prstGeom>
          <a:noFill/>
          <a:ln/>
        </p:spPr>
        <p:txBody>
          <a:bodyPr wrap="square" rtlCol="0" anchor="t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467" dirty="0">
                <a:solidFill>
                  <a:srgbClr val="CBD5E1"/>
                </a:solidFill>
              </a:rPr>
              <a:t>Enable tracking model progress over time and comparing proprietary vs. open-source models objectively.</a:t>
            </a:r>
            <a:endParaRPr lang="en-US" sz="1467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87680" y="243840"/>
            <a:ext cx="1584960" cy="548640"/>
          </a:xfrm>
          <a:prstGeom prst="round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87680" y="243840"/>
            <a:ext cx="158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67" b="1" dirty="0">
                <a:solidFill>
                  <a:srgbClr val="FFFFFF"/>
                </a:solidFill>
              </a:rPr>
              <a:t>MMLU</a:t>
            </a:r>
            <a:endParaRPr lang="en-US" sz="1867" dirty="0"/>
          </a:p>
        </p:txBody>
      </p:sp>
      <p:sp>
        <p:nvSpPr>
          <p:cNvPr id="5" name="Text 3"/>
          <p:cNvSpPr/>
          <p:nvPr/>
        </p:nvSpPr>
        <p:spPr>
          <a:xfrm>
            <a:off x="2255520" y="268224"/>
            <a:ext cx="9509760" cy="51206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2933" b="1" dirty="0">
                <a:solidFill>
                  <a:srgbClr val="FFFFFF"/>
                </a:solidFill>
              </a:rPr>
              <a:t>Massive Multitask Language Understanding</a:t>
            </a:r>
            <a:endParaRPr lang="en-US" sz="2933" dirty="0"/>
          </a:p>
        </p:txBody>
      </p:sp>
      <p:sp>
        <p:nvSpPr>
          <p:cNvPr id="6" name="Shape 4"/>
          <p:cNvSpPr/>
          <p:nvPr/>
        </p:nvSpPr>
        <p:spPr>
          <a:xfrm>
            <a:off x="487680" y="999744"/>
            <a:ext cx="2621280" cy="1219200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7680" y="1072896"/>
            <a:ext cx="2621280" cy="63398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200" b="1" dirty="0">
                <a:solidFill>
                  <a:srgbClr val="0D9488"/>
                </a:solidFill>
              </a:rPr>
              <a:t>57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87680" y="1731264"/>
            <a:ext cx="2621280" cy="39014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33" dirty="0">
                <a:solidFill>
                  <a:srgbClr val="94A3B8"/>
                </a:solidFill>
              </a:rPr>
              <a:t>Subjects</a:t>
            </a:r>
            <a:endParaRPr lang="en-US" sz="1333" dirty="0"/>
          </a:p>
        </p:txBody>
      </p:sp>
      <p:sp>
        <p:nvSpPr>
          <p:cNvPr id="9" name="Shape 7"/>
          <p:cNvSpPr/>
          <p:nvPr/>
        </p:nvSpPr>
        <p:spPr>
          <a:xfrm>
            <a:off x="3291840" y="999744"/>
            <a:ext cx="2621280" cy="1219200"/>
          </a:xfrm>
          <a:prstGeom prst="rect">
            <a:avLst/>
          </a:prstGeom>
          <a:solidFill>
            <a:srgbClr val="1E293B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1072896"/>
            <a:ext cx="2621280" cy="63398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200" b="1" dirty="0">
                <a:solidFill>
                  <a:srgbClr val="06B6D4"/>
                </a:solidFill>
              </a:rPr>
              <a:t>15,908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3291840" y="1731264"/>
            <a:ext cx="2621280" cy="39014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33" dirty="0">
                <a:solidFill>
                  <a:srgbClr val="94A3B8"/>
                </a:solidFill>
              </a:rPr>
              <a:t>Questions</a:t>
            </a:r>
            <a:endParaRPr lang="en-US" sz="1333" dirty="0"/>
          </a:p>
        </p:txBody>
      </p:sp>
      <p:sp>
        <p:nvSpPr>
          <p:cNvPr id="12" name="Shape 10"/>
          <p:cNvSpPr/>
          <p:nvPr/>
        </p:nvSpPr>
        <p:spPr>
          <a:xfrm>
            <a:off x="6096000" y="999744"/>
            <a:ext cx="2621280" cy="1219200"/>
          </a:xfrm>
          <a:prstGeom prst="rect">
            <a:avLst/>
          </a:prstGeom>
          <a:solidFill>
            <a:srgbClr val="1E293B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96000" y="1072896"/>
            <a:ext cx="2621280" cy="63398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200" b="1" dirty="0">
                <a:solidFill>
                  <a:srgbClr val="8B5CF6"/>
                </a:solidFill>
              </a:rPr>
              <a:t>4-way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6096000" y="1731264"/>
            <a:ext cx="2621280" cy="39014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33" dirty="0">
                <a:solidFill>
                  <a:srgbClr val="94A3B8"/>
                </a:solidFill>
              </a:rPr>
              <a:t>MCQ Format</a:t>
            </a:r>
            <a:endParaRPr lang="en-US" sz="1333" dirty="0"/>
          </a:p>
        </p:txBody>
      </p:sp>
      <p:sp>
        <p:nvSpPr>
          <p:cNvPr id="15" name="Shape 13"/>
          <p:cNvSpPr/>
          <p:nvPr/>
        </p:nvSpPr>
        <p:spPr>
          <a:xfrm>
            <a:off x="8900160" y="999744"/>
            <a:ext cx="2621280" cy="1219200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900160" y="1072896"/>
            <a:ext cx="2621280" cy="63398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200" b="1" dirty="0">
                <a:solidFill>
                  <a:srgbClr val="F59E0B"/>
                </a:solidFill>
              </a:rPr>
              <a:t>STEM+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8900160" y="1731264"/>
            <a:ext cx="2621280" cy="39014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33" dirty="0">
                <a:solidFill>
                  <a:srgbClr val="94A3B8"/>
                </a:solidFill>
              </a:rPr>
              <a:t>Coverage</a:t>
            </a:r>
            <a:endParaRPr lang="en-US" sz="1333" dirty="0"/>
          </a:p>
        </p:txBody>
      </p:sp>
      <p:sp>
        <p:nvSpPr>
          <p:cNvPr id="18" name="Text 16"/>
          <p:cNvSpPr/>
          <p:nvPr/>
        </p:nvSpPr>
        <p:spPr>
          <a:xfrm>
            <a:off x="487680" y="2499360"/>
            <a:ext cx="5486400" cy="4267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33" b="1" dirty="0">
                <a:solidFill>
                  <a:srgbClr val="0D9488"/>
                </a:solidFill>
              </a:rPr>
              <a:t>Categories</a:t>
            </a:r>
            <a:endParaRPr lang="en-US" sz="1733" dirty="0"/>
          </a:p>
        </p:txBody>
      </p:sp>
      <p:sp>
        <p:nvSpPr>
          <p:cNvPr id="19" name="Text 17"/>
          <p:cNvSpPr/>
          <p:nvPr/>
        </p:nvSpPr>
        <p:spPr>
          <a:xfrm>
            <a:off x="487680" y="2950464"/>
            <a:ext cx="5486400" cy="30480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F1F5F9"/>
                </a:solidFill>
              </a:rPr>
              <a:t>🔬  STEM: Math, Physics, Chemistry, CS
🏛️  Humanities: History, Law, Philosophy
🧠  Social Sciences: Economics, Psychology
💊  Medical: Anatomy, Clinical Knowledge
⚖️  Professional: Law, Accounting, Finance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339840" y="2499360"/>
            <a:ext cx="5413326" cy="359117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22720" y="2657856"/>
            <a:ext cx="4998720" cy="46329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33" b="1" dirty="0">
                <a:solidFill>
                  <a:srgbClr val="06B6D4"/>
                </a:solidFill>
              </a:rPr>
              <a:t>Why Use MMLU?</a:t>
            </a:r>
            <a:endParaRPr lang="en-US" sz="1733" dirty="0"/>
          </a:p>
        </p:txBody>
      </p:sp>
      <p:sp>
        <p:nvSpPr>
          <p:cNvPr id="22" name="Text 20"/>
          <p:cNvSpPr/>
          <p:nvPr/>
        </p:nvSpPr>
        <p:spPr>
          <a:xfrm>
            <a:off x="6522720" y="3194304"/>
            <a:ext cx="4998720" cy="3048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189" indent="-457189">
              <a:lnSpc>
                <a:spcPct val="150000"/>
              </a:lnSpc>
              <a:buSzPct val="100000"/>
              <a:buChar char="•"/>
            </a:pPr>
            <a:r>
              <a:rPr lang="en-US" sz="1533" dirty="0">
                <a:solidFill>
                  <a:srgbClr val="F1F5F9"/>
                </a:solidFill>
              </a:rPr>
              <a:t>Gold-standard breadth benchmark for general knowledge</a:t>
            </a:r>
            <a:endParaRPr lang="en-US" sz="1533" dirty="0"/>
          </a:p>
          <a:p>
            <a:pPr marL="456565" indent="-456565">
              <a:lnSpc>
                <a:spcPct val="150000"/>
              </a:lnSpc>
              <a:buSzPct val="100000"/>
              <a:buChar char="•"/>
            </a:pPr>
            <a:r>
              <a:rPr lang="en-US" sz="1500">
                <a:solidFill>
                  <a:srgbClr val="F1F5F9"/>
                </a:solidFill>
              </a:rPr>
              <a:t>Widely adopted; enables cross-paper </a:t>
            </a:r>
            <a:r>
              <a:rPr lang="en-US" sz="1500" dirty="0">
                <a:solidFill>
                  <a:srgbClr val="F1F5F9"/>
                </a:solidFill>
              </a:rPr>
              <a:t>comparison</a:t>
            </a:r>
            <a:endParaRPr lang="en-US" sz="1500" dirty="0">
              <a:cs typeface="Arial" panose="020B0604020202020204"/>
            </a:endParaRPr>
          </a:p>
          <a:p>
            <a:pPr marL="457189" indent="-457189">
              <a:lnSpc>
                <a:spcPct val="150000"/>
              </a:lnSpc>
              <a:buSzPct val="100000"/>
              <a:buChar char="•"/>
            </a:pPr>
            <a:r>
              <a:rPr lang="en-US" sz="1533" dirty="0">
                <a:solidFill>
                  <a:srgbClr val="F1F5F9"/>
                </a:solidFill>
              </a:rPr>
              <a:t>Reveals gaps across professional &amp; academic domains</a:t>
            </a:r>
            <a:endParaRPr lang="en-US" sz="1533" dirty="0"/>
          </a:p>
          <a:p>
            <a:pPr marL="457189" indent="-457189">
              <a:lnSpc>
                <a:spcPct val="150000"/>
              </a:lnSpc>
              <a:buSzPct val="100000"/>
              <a:buChar char="•"/>
            </a:pPr>
            <a:r>
              <a:rPr lang="en-US" sz="1533" dirty="0">
                <a:solidFill>
                  <a:srgbClr val="F1F5F9"/>
                </a:solidFill>
              </a:rPr>
              <a:t>Hard enough to differentiate strong vs. weak models</a:t>
            </a:r>
            <a:endParaRPr lang="en-US" sz="1533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87680" y="243840"/>
            <a:ext cx="2316480" cy="548640"/>
          </a:xfrm>
          <a:prstGeom prst="roundRect">
            <a:avLst>
              <a:gd name="adj" fmla="val 17778"/>
            </a:avLst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87680" y="243840"/>
            <a:ext cx="231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733" b="1" dirty="0">
                <a:solidFill>
                  <a:srgbClr val="FFFFFF"/>
                </a:solidFill>
              </a:rPr>
              <a:t>TruthfulQA</a:t>
            </a:r>
            <a:endParaRPr lang="en-US" sz="1733" dirty="0"/>
          </a:p>
        </p:txBody>
      </p:sp>
      <p:sp>
        <p:nvSpPr>
          <p:cNvPr id="5" name="Text 3"/>
          <p:cNvSpPr/>
          <p:nvPr/>
        </p:nvSpPr>
        <p:spPr>
          <a:xfrm>
            <a:off x="2987040" y="268224"/>
            <a:ext cx="8778240" cy="51206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2933" b="1" dirty="0">
                <a:solidFill>
                  <a:srgbClr val="FFFFFF"/>
                </a:solidFill>
              </a:rPr>
              <a:t>Measuring Truthfulness in Language Models</a:t>
            </a:r>
            <a:endParaRPr lang="en-US" sz="2933" dirty="0"/>
          </a:p>
        </p:txBody>
      </p:sp>
      <p:sp>
        <p:nvSpPr>
          <p:cNvPr id="6" name="Shape 4"/>
          <p:cNvSpPr/>
          <p:nvPr/>
        </p:nvSpPr>
        <p:spPr>
          <a:xfrm>
            <a:off x="487680" y="1036320"/>
            <a:ext cx="11216640" cy="999744"/>
          </a:xfrm>
          <a:prstGeom prst="rect">
            <a:avLst/>
          </a:prstGeom>
          <a:solidFill>
            <a:srgbClr val="2D1018"/>
          </a:solidFill>
          <a:ln w="19050">
            <a:solidFill>
              <a:srgbClr val="F43F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70560" y="1036320"/>
            <a:ext cx="10972800" cy="99974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67" b="1" dirty="0">
                <a:solidFill>
                  <a:srgbClr val="F43F5E"/>
                </a:solidFill>
              </a:rPr>
              <a:t>Problem it Solves: </a:t>
            </a:r>
            <a:r>
              <a:rPr lang="en-US" sz="1667" dirty="0">
                <a:solidFill>
                  <a:srgbClr val="F1F5F9"/>
                </a:solidFill>
              </a:rPr>
              <a:t>LLMs often generate plausible-sounding but false answers — especially for misconceptions, myths, and conspiracy-prone topics. TruthfulQA directly targets these failure modes.</a:t>
            </a:r>
            <a:endParaRPr lang="en-US" sz="1667" dirty="0"/>
          </a:p>
        </p:txBody>
      </p:sp>
      <p:sp>
        <p:nvSpPr>
          <p:cNvPr id="8" name="Shape 6"/>
          <p:cNvSpPr/>
          <p:nvPr/>
        </p:nvSpPr>
        <p:spPr>
          <a:xfrm>
            <a:off x="487680" y="2284827"/>
            <a:ext cx="3560064" cy="3539589"/>
          </a:xfrm>
          <a:prstGeom prst="rect">
            <a:avLst/>
          </a:prstGeom>
          <a:solidFill>
            <a:srgbClr val="1E293B"/>
          </a:solidFill>
          <a:ln w="19050">
            <a:solidFill>
              <a:srgbClr val="F43F5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7680" y="2255520"/>
            <a:ext cx="3560064" cy="73152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9600" y="2414016"/>
            <a:ext cx="3316224" cy="51206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133" b="1" dirty="0">
                <a:solidFill>
                  <a:srgbClr val="F43F5E"/>
                </a:solidFill>
              </a:rPr>
              <a:t>817 Questions</a:t>
            </a:r>
            <a:endParaRPr lang="en-US" sz="2133" dirty="0"/>
          </a:p>
        </p:txBody>
      </p:sp>
      <p:sp>
        <p:nvSpPr>
          <p:cNvPr id="11" name="Text 9"/>
          <p:cNvSpPr/>
          <p:nvPr/>
        </p:nvSpPr>
        <p:spPr>
          <a:xfrm>
            <a:off x="609600" y="2950464"/>
            <a:ext cx="3316224" cy="4267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i="1" dirty="0">
                <a:solidFill>
                  <a:srgbClr val="94A3B8"/>
                </a:solidFill>
              </a:rPr>
              <a:t>Hand-crafted adversarial prompts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09600" y="3413760"/>
            <a:ext cx="3316224" cy="2438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9600" y="3535680"/>
            <a:ext cx="3316224" cy="2438400"/>
          </a:xfrm>
          <a:prstGeom prst="rect">
            <a:avLst/>
          </a:prstGeom>
          <a:noFill/>
          <a:ln/>
        </p:spPr>
        <p:txBody>
          <a:bodyPr wrap="square" rtlCol="0" anchor="t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67" dirty="0">
                <a:solidFill>
                  <a:srgbClr val="CBD5E1"/>
                </a:solidFill>
              </a:rPr>
              <a:t>Questions designed so that humans would answer correctly but LLMs trained on text tend to fail due to imitative falsehoods.</a:t>
            </a:r>
            <a:endParaRPr lang="en-US" sz="1467" dirty="0"/>
          </a:p>
        </p:txBody>
      </p:sp>
      <p:sp>
        <p:nvSpPr>
          <p:cNvPr id="14" name="Shape 12"/>
          <p:cNvSpPr/>
          <p:nvPr/>
        </p:nvSpPr>
        <p:spPr>
          <a:xfrm>
            <a:off x="4267200" y="2284827"/>
            <a:ext cx="3560064" cy="3539589"/>
          </a:xfrm>
          <a:prstGeom prst="rect">
            <a:avLst/>
          </a:prstGeom>
          <a:solidFill>
            <a:srgbClr val="1E293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267200" y="2255520"/>
            <a:ext cx="3560064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0" y="2414016"/>
            <a:ext cx="3316224" cy="51206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133" b="1" dirty="0">
                <a:solidFill>
                  <a:srgbClr val="F59E0B"/>
                </a:solidFill>
              </a:rPr>
              <a:t>38 Categories</a:t>
            </a:r>
            <a:endParaRPr lang="en-US" sz="2133" dirty="0"/>
          </a:p>
        </p:txBody>
      </p:sp>
      <p:sp>
        <p:nvSpPr>
          <p:cNvPr id="17" name="Text 15"/>
          <p:cNvSpPr/>
          <p:nvPr/>
        </p:nvSpPr>
        <p:spPr>
          <a:xfrm>
            <a:off x="4389120" y="2950464"/>
            <a:ext cx="3316224" cy="4267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i="1" dirty="0">
                <a:solidFill>
                  <a:srgbClr val="94A3B8"/>
                </a:solidFill>
              </a:rPr>
              <a:t>Misconceptions &amp; myths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389120" y="3413760"/>
            <a:ext cx="3316224" cy="2438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89120" y="3535680"/>
            <a:ext cx="3316224" cy="2438400"/>
          </a:xfrm>
          <a:prstGeom prst="rect">
            <a:avLst/>
          </a:prstGeom>
          <a:noFill/>
          <a:ln/>
        </p:spPr>
        <p:txBody>
          <a:bodyPr wrap="square" rtlCol="0" anchor="t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67" dirty="0">
                <a:solidFill>
                  <a:srgbClr val="CBD5E1"/>
                </a:solidFill>
              </a:rPr>
              <a:t>Covers health, finance, law, conspiracy, fiction, politics — wherever false beliefs are commonly held.</a:t>
            </a:r>
            <a:endParaRPr lang="en-US" sz="1467" dirty="0"/>
          </a:p>
        </p:txBody>
      </p:sp>
      <p:sp>
        <p:nvSpPr>
          <p:cNvPr id="20" name="Shape 18"/>
          <p:cNvSpPr/>
          <p:nvPr/>
        </p:nvSpPr>
        <p:spPr>
          <a:xfrm>
            <a:off x="8046720" y="2284827"/>
            <a:ext cx="3599140" cy="3539589"/>
          </a:xfrm>
          <a:prstGeom prst="rect">
            <a:avLst/>
          </a:prstGeom>
          <a:solidFill>
            <a:srgbClr val="1E293B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46720" y="2255520"/>
            <a:ext cx="3560064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68640" y="2414016"/>
            <a:ext cx="3316224" cy="51206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133" b="1" dirty="0">
                <a:solidFill>
                  <a:srgbClr val="10B981"/>
                </a:solidFill>
              </a:rPr>
              <a:t>Dual Metrics</a:t>
            </a:r>
            <a:endParaRPr lang="en-US" sz="2133" dirty="0"/>
          </a:p>
        </p:txBody>
      </p:sp>
      <p:sp>
        <p:nvSpPr>
          <p:cNvPr id="23" name="Text 21"/>
          <p:cNvSpPr/>
          <p:nvPr/>
        </p:nvSpPr>
        <p:spPr>
          <a:xfrm>
            <a:off x="8168640" y="2950464"/>
            <a:ext cx="3316224" cy="4267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i="1" dirty="0">
                <a:solidFill>
                  <a:srgbClr val="94A3B8"/>
                </a:solidFill>
              </a:rPr>
              <a:t>Truthful &amp; Informative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8168640" y="3413760"/>
            <a:ext cx="3316224" cy="2438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168640" y="3535680"/>
            <a:ext cx="3316224" cy="2438400"/>
          </a:xfrm>
          <a:prstGeom prst="rect">
            <a:avLst/>
          </a:prstGeom>
          <a:noFill/>
          <a:ln/>
        </p:spPr>
        <p:txBody>
          <a:bodyPr wrap="square" rtlCol="0" anchor="t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67" dirty="0">
                <a:solidFill>
                  <a:srgbClr val="CBD5E1"/>
                </a:solidFill>
              </a:rPr>
              <a:t>Scores both whether an answer is true AND whether it's useful — a trivially safe 'I don't know' is penalised.</a:t>
            </a:r>
            <a:endParaRPr lang="en-US" sz="1467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87680" y="243840"/>
            <a:ext cx="1706880" cy="548640"/>
          </a:xfrm>
          <a:prstGeom prst="roundRect">
            <a:avLst>
              <a:gd name="adj" fmla="val 17778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87680" y="243840"/>
            <a:ext cx="1706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733" b="1" dirty="0">
                <a:solidFill>
                  <a:srgbClr val="FFFFFF"/>
                </a:solidFill>
              </a:rPr>
              <a:t>MathQA</a:t>
            </a:r>
            <a:endParaRPr lang="en-US" sz="1733" dirty="0"/>
          </a:p>
        </p:txBody>
      </p:sp>
      <p:sp>
        <p:nvSpPr>
          <p:cNvPr id="5" name="Text 3"/>
          <p:cNvSpPr/>
          <p:nvPr/>
        </p:nvSpPr>
        <p:spPr>
          <a:xfrm>
            <a:off x="2377440" y="268224"/>
            <a:ext cx="9265920" cy="51206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2933" b="1" dirty="0">
                <a:solidFill>
                  <a:srgbClr val="FFFFFF"/>
                </a:solidFill>
              </a:rPr>
              <a:t>Mathematical Reasoning Benchmark</a:t>
            </a:r>
            <a:endParaRPr lang="en-US" sz="2933" dirty="0"/>
          </a:p>
        </p:txBody>
      </p:sp>
      <p:sp>
        <p:nvSpPr>
          <p:cNvPr id="6" name="Shape 4"/>
          <p:cNvSpPr/>
          <p:nvPr/>
        </p:nvSpPr>
        <p:spPr>
          <a:xfrm>
            <a:off x="487680" y="1036320"/>
            <a:ext cx="5605975" cy="4846711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70560" y="1158240"/>
            <a:ext cx="5120640" cy="46329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67" b="1" dirty="0">
                <a:solidFill>
                  <a:srgbClr val="8B5CF6"/>
                </a:solidFill>
              </a:rPr>
              <a:t>Overview</a:t>
            </a:r>
            <a:endParaRPr lang="en-US" sz="1867" dirty="0"/>
          </a:p>
        </p:txBody>
      </p:sp>
      <p:sp>
        <p:nvSpPr>
          <p:cNvPr id="8" name="Shape 6"/>
          <p:cNvSpPr/>
          <p:nvPr/>
        </p:nvSpPr>
        <p:spPr>
          <a:xfrm>
            <a:off x="670560" y="1767840"/>
            <a:ext cx="5145024" cy="792480"/>
          </a:xfrm>
          <a:prstGeom prst="rect">
            <a:avLst/>
          </a:prstGeom>
          <a:solidFill>
            <a:srgbClr val="1A203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92480" y="1804416"/>
            <a:ext cx="1950720" cy="34137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33" b="1" dirty="0">
                <a:solidFill>
                  <a:srgbClr val="8B5CF6"/>
                </a:solidFill>
              </a:rPr>
              <a:t>~37,000</a:t>
            </a:r>
            <a:endParaRPr lang="en-US" sz="1733" dirty="0"/>
          </a:p>
        </p:txBody>
      </p:sp>
      <p:sp>
        <p:nvSpPr>
          <p:cNvPr id="10" name="Text 8"/>
          <p:cNvSpPr/>
          <p:nvPr/>
        </p:nvSpPr>
        <p:spPr>
          <a:xfrm>
            <a:off x="792480" y="2145792"/>
            <a:ext cx="4876800" cy="316992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</a:rPr>
              <a:t>annotated math word problems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70560" y="2718816"/>
            <a:ext cx="5145024" cy="792480"/>
          </a:xfrm>
          <a:prstGeom prst="rect">
            <a:avLst/>
          </a:prstGeom>
          <a:solidFill>
            <a:srgbClr val="1A203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2480" y="2755392"/>
            <a:ext cx="1950720" cy="34137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33" b="1" dirty="0">
                <a:solidFill>
                  <a:srgbClr val="8B5CF6"/>
                </a:solidFill>
              </a:rPr>
              <a:t>5-way MCQ</a:t>
            </a:r>
            <a:endParaRPr lang="en-US" sz="1733" dirty="0"/>
          </a:p>
        </p:txBody>
      </p:sp>
      <p:sp>
        <p:nvSpPr>
          <p:cNvPr id="13" name="Text 11"/>
          <p:cNvSpPr/>
          <p:nvPr/>
        </p:nvSpPr>
        <p:spPr>
          <a:xfrm>
            <a:off x="792480" y="3096768"/>
            <a:ext cx="4876800" cy="316992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</a:rPr>
              <a:t>with detailed rationales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70560" y="3669792"/>
            <a:ext cx="5145024" cy="792480"/>
          </a:xfrm>
          <a:prstGeom prst="rect">
            <a:avLst/>
          </a:prstGeom>
          <a:solidFill>
            <a:srgbClr val="1A203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2480" y="3706368"/>
            <a:ext cx="1950720" cy="34137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33" b="1" dirty="0">
                <a:solidFill>
                  <a:srgbClr val="8B5CF6"/>
                </a:solidFill>
              </a:rPr>
              <a:t>Derived from</a:t>
            </a:r>
            <a:endParaRPr lang="en-US" sz="1733" dirty="0"/>
          </a:p>
        </p:txBody>
      </p:sp>
      <p:sp>
        <p:nvSpPr>
          <p:cNvPr id="16" name="Text 14"/>
          <p:cNvSpPr/>
          <p:nvPr/>
        </p:nvSpPr>
        <p:spPr>
          <a:xfrm>
            <a:off x="792480" y="4047744"/>
            <a:ext cx="4876800" cy="316992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</a:rPr>
              <a:t>AQuA-RAT dataset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70560" y="4620768"/>
            <a:ext cx="5145024" cy="792480"/>
          </a:xfrm>
          <a:prstGeom prst="rect">
            <a:avLst/>
          </a:prstGeom>
          <a:solidFill>
            <a:srgbClr val="1A203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92480" y="4657344"/>
            <a:ext cx="1950720" cy="34137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33" b="1" dirty="0">
                <a:solidFill>
                  <a:srgbClr val="8B5CF6"/>
                </a:solidFill>
              </a:rPr>
              <a:t>Tests</a:t>
            </a:r>
            <a:endParaRPr lang="en-US" sz="1733" dirty="0"/>
          </a:p>
        </p:txBody>
      </p:sp>
      <p:sp>
        <p:nvSpPr>
          <p:cNvPr id="19" name="Text 17"/>
          <p:cNvSpPr/>
          <p:nvPr/>
        </p:nvSpPr>
        <p:spPr>
          <a:xfrm>
            <a:off x="792480" y="4998720"/>
            <a:ext cx="4876800" cy="316992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</a:rPr>
              <a:t>multi-step arithmetic reasoning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339840" y="1046089"/>
            <a:ext cx="5315634" cy="4846711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22720" y="1158240"/>
            <a:ext cx="4998720" cy="46329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67" b="1" dirty="0">
                <a:solidFill>
                  <a:srgbClr val="06B6D4"/>
                </a:solidFill>
              </a:rPr>
              <a:t>Problem Categories</a:t>
            </a:r>
            <a:endParaRPr lang="en-US" sz="1867" dirty="0"/>
          </a:p>
        </p:txBody>
      </p:sp>
      <p:sp>
        <p:nvSpPr>
          <p:cNvPr id="22" name="Text 20"/>
          <p:cNvSpPr/>
          <p:nvPr/>
        </p:nvSpPr>
        <p:spPr>
          <a:xfrm>
            <a:off x="6522720" y="1731264"/>
            <a:ext cx="304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67" dirty="0">
                <a:solidFill>
                  <a:srgbClr val="F1F5F9"/>
                </a:solidFill>
              </a:rPr>
              <a:t>Arithmetic &amp; Algebra</a:t>
            </a:r>
            <a:endParaRPr lang="en-US" sz="1467" dirty="0"/>
          </a:p>
        </p:txBody>
      </p:sp>
      <p:sp>
        <p:nvSpPr>
          <p:cNvPr id="23" name="Text 21"/>
          <p:cNvSpPr/>
          <p:nvPr/>
        </p:nvSpPr>
        <p:spPr>
          <a:xfrm>
            <a:off x="10972800" y="1731264"/>
            <a:ext cx="67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1467" b="1" dirty="0">
                <a:solidFill>
                  <a:srgbClr val="8B5CF6"/>
                </a:solidFill>
              </a:rPr>
              <a:t>35%</a:t>
            </a:r>
            <a:endParaRPr lang="en-US" sz="1467" dirty="0"/>
          </a:p>
        </p:txBody>
      </p:sp>
      <p:sp>
        <p:nvSpPr>
          <p:cNvPr id="24" name="Shape 22"/>
          <p:cNvSpPr/>
          <p:nvPr/>
        </p:nvSpPr>
        <p:spPr>
          <a:xfrm>
            <a:off x="6522720" y="2133600"/>
            <a:ext cx="4998720" cy="1706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22720" y="2133600"/>
            <a:ext cx="1749552" cy="17068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22720" y="2560320"/>
            <a:ext cx="304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67" dirty="0">
                <a:solidFill>
                  <a:srgbClr val="F1F5F9"/>
                </a:solidFill>
              </a:rPr>
              <a:t>Geometry</a:t>
            </a:r>
            <a:endParaRPr lang="en-US" sz="1467" dirty="0"/>
          </a:p>
        </p:txBody>
      </p:sp>
      <p:sp>
        <p:nvSpPr>
          <p:cNvPr id="27" name="Text 25"/>
          <p:cNvSpPr/>
          <p:nvPr/>
        </p:nvSpPr>
        <p:spPr>
          <a:xfrm>
            <a:off x="10972800" y="2560320"/>
            <a:ext cx="67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1467" b="1" dirty="0">
                <a:solidFill>
                  <a:srgbClr val="0D9488"/>
                </a:solidFill>
              </a:rPr>
              <a:t>18%</a:t>
            </a:r>
            <a:endParaRPr lang="en-US" sz="1467" dirty="0"/>
          </a:p>
        </p:txBody>
      </p:sp>
      <p:sp>
        <p:nvSpPr>
          <p:cNvPr id="28" name="Shape 26"/>
          <p:cNvSpPr/>
          <p:nvPr/>
        </p:nvSpPr>
        <p:spPr>
          <a:xfrm>
            <a:off x="6522720" y="2962656"/>
            <a:ext cx="4998720" cy="1706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522721" y="2962656"/>
            <a:ext cx="899769" cy="1706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22720" y="3389376"/>
            <a:ext cx="304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67" dirty="0">
                <a:solidFill>
                  <a:srgbClr val="F1F5F9"/>
                </a:solidFill>
              </a:rPr>
              <a:t>Probability &amp; Statistics</a:t>
            </a:r>
            <a:endParaRPr lang="en-US" sz="1467" dirty="0"/>
          </a:p>
        </p:txBody>
      </p:sp>
      <p:sp>
        <p:nvSpPr>
          <p:cNvPr id="31" name="Text 29"/>
          <p:cNvSpPr/>
          <p:nvPr/>
        </p:nvSpPr>
        <p:spPr>
          <a:xfrm>
            <a:off x="10972800" y="3389376"/>
            <a:ext cx="67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1467" b="1" dirty="0">
                <a:solidFill>
                  <a:srgbClr val="F59E0B"/>
                </a:solidFill>
              </a:rPr>
              <a:t>22%</a:t>
            </a:r>
            <a:endParaRPr lang="en-US" sz="1467" dirty="0"/>
          </a:p>
        </p:txBody>
      </p:sp>
      <p:sp>
        <p:nvSpPr>
          <p:cNvPr id="32" name="Shape 30"/>
          <p:cNvSpPr/>
          <p:nvPr/>
        </p:nvSpPr>
        <p:spPr>
          <a:xfrm>
            <a:off x="6522720" y="3791712"/>
            <a:ext cx="4998720" cy="1706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522721" y="3791712"/>
            <a:ext cx="1099719" cy="1706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22720" y="4218432"/>
            <a:ext cx="304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67" dirty="0">
                <a:solidFill>
                  <a:srgbClr val="F1F5F9"/>
                </a:solidFill>
              </a:rPr>
              <a:t>Physics Word Problems</a:t>
            </a:r>
            <a:endParaRPr lang="en-US" sz="1467" dirty="0"/>
          </a:p>
        </p:txBody>
      </p:sp>
      <p:sp>
        <p:nvSpPr>
          <p:cNvPr id="35" name="Text 33"/>
          <p:cNvSpPr/>
          <p:nvPr/>
        </p:nvSpPr>
        <p:spPr>
          <a:xfrm>
            <a:off x="10972800" y="4218432"/>
            <a:ext cx="67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1467" b="1" dirty="0">
                <a:solidFill>
                  <a:srgbClr val="F43F5E"/>
                </a:solidFill>
              </a:rPr>
              <a:t>15%</a:t>
            </a:r>
            <a:endParaRPr lang="en-US" sz="1467" dirty="0"/>
          </a:p>
        </p:txBody>
      </p:sp>
      <p:sp>
        <p:nvSpPr>
          <p:cNvPr id="36" name="Shape 34"/>
          <p:cNvSpPr/>
          <p:nvPr/>
        </p:nvSpPr>
        <p:spPr>
          <a:xfrm>
            <a:off x="6522720" y="4620768"/>
            <a:ext cx="4998720" cy="1706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522720" y="4620768"/>
            <a:ext cx="749808" cy="170688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22720" y="5047488"/>
            <a:ext cx="304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67" dirty="0">
                <a:solidFill>
                  <a:srgbClr val="F1F5F9"/>
                </a:solidFill>
              </a:rPr>
              <a:t>Other Applied Math</a:t>
            </a:r>
            <a:endParaRPr lang="en-US" sz="1467" dirty="0"/>
          </a:p>
        </p:txBody>
      </p:sp>
      <p:sp>
        <p:nvSpPr>
          <p:cNvPr id="39" name="Text 37"/>
          <p:cNvSpPr/>
          <p:nvPr/>
        </p:nvSpPr>
        <p:spPr>
          <a:xfrm>
            <a:off x="10972800" y="5047488"/>
            <a:ext cx="67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1467" b="1" dirty="0">
                <a:solidFill>
                  <a:srgbClr val="10B981"/>
                </a:solidFill>
              </a:rPr>
              <a:t>10%</a:t>
            </a:r>
            <a:endParaRPr lang="en-US" sz="1467" dirty="0"/>
          </a:p>
        </p:txBody>
      </p:sp>
      <p:sp>
        <p:nvSpPr>
          <p:cNvPr id="40" name="Shape 38"/>
          <p:cNvSpPr/>
          <p:nvPr/>
        </p:nvSpPr>
        <p:spPr>
          <a:xfrm>
            <a:off x="6522720" y="5449824"/>
            <a:ext cx="4998720" cy="1706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522720" y="5449824"/>
            <a:ext cx="499872" cy="17068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31167100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87680" y="219456"/>
            <a:ext cx="11216640" cy="6705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467" b="1" dirty="0">
                <a:solidFill>
                  <a:srgbClr val="FFFFFF"/>
                </a:solidFill>
              </a:rPr>
              <a:t>Other Notable Evaluation Datasets</a:t>
            </a:r>
            <a:endParaRPr lang="en-US" sz="3467" dirty="0"/>
          </a:p>
        </p:txBody>
      </p:sp>
      <p:sp>
        <p:nvSpPr>
          <p:cNvPr id="4" name="Shape 2"/>
          <p:cNvSpPr/>
          <p:nvPr/>
        </p:nvSpPr>
        <p:spPr>
          <a:xfrm>
            <a:off x="487680" y="1158240"/>
            <a:ext cx="3560064" cy="2438400"/>
          </a:xfrm>
          <a:prstGeom prst="rect">
            <a:avLst/>
          </a:prstGeom>
          <a:solidFill>
            <a:srgbClr val="1E293B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87680" y="1158240"/>
            <a:ext cx="3560064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9600" y="1280160"/>
            <a:ext cx="3316224" cy="4876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33" b="1" dirty="0">
                <a:solidFill>
                  <a:srgbClr val="06B6D4"/>
                </a:solidFill>
              </a:rPr>
              <a:t>🔗  HellaSwag</a:t>
            </a:r>
            <a:endParaRPr lang="en-US" sz="1733" dirty="0"/>
          </a:p>
        </p:txBody>
      </p:sp>
      <p:sp>
        <p:nvSpPr>
          <p:cNvPr id="7" name="Shape 5"/>
          <p:cNvSpPr/>
          <p:nvPr/>
        </p:nvSpPr>
        <p:spPr>
          <a:xfrm>
            <a:off x="609600" y="1792224"/>
            <a:ext cx="1828800" cy="304800"/>
          </a:xfrm>
          <a:prstGeom prst="roundRect">
            <a:avLst>
              <a:gd name="adj" fmla="val 20000"/>
            </a:avLst>
          </a:prstGeom>
          <a:solidFill>
            <a:srgbClr val="0F172A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09600" y="1792224"/>
            <a:ext cx="1828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dirty="0">
                <a:solidFill>
                  <a:srgbClr val="06B6D4"/>
                </a:solidFill>
              </a:rPr>
              <a:t>Commonsense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09600" y="2182368"/>
            <a:ext cx="3316224" cy="1341120"/>
          </a:xfrm>
          <a:prstGeom prst="rect">
            <a:avLst/>
          </a:prstGeom>
          <a:noFill/>
          <a:ln/>
        </p:spPr>
        <p:txBody>
          <a:bodyPr wrap="square" rtlCol="0" anchor="t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</a:rPr>
              <a:t>70k sentence completion tasks testing situational commonsense reasoning. Uses adversarial filtering to make it challenging.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267200" y="1158240"/>
            <a:ext cx="3560064" cy="2438400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67200" y="1158240"/>
            <a:ext cx="3560064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0" y="1280160"/>
            <a:ext cx="3316224" cy="4876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33" b="1" dirty="0">
                <a:solidFill>
                  <a:srgbClr val="10B981"/>
                </a:solidFill>
              </a:rPr>
              <a:t>🔢  GSM8K</a:t>
            </a:r>
            <a:endParaRPr lang="en-US" sz="1733" dirty="0"/>
          </a:p>
        </p:txBody>
      </p:sp>
      <p:sp>
        <p:nvSpPr>
          <p:cNvPr id="13" name="Shape 11"/>
          <p:cNvSpPr/>
          <p:nvPr/>
        </p:nvSpPr>
        <p:spPr>
          <a:xfrm>
            <a:off x="4389120" y="1792224"/>
            <a:ext cx="1828800" cy="304800"/>
          </a:xfrm>
          <a:prstGeom prst="roundRect">
            <a:avLst>
              <a:gd name="adj" fmla="val 20000"/>
            </a:avLst>
          </a:prstGeom>
          <a:solidFill>
            <a:srgbClr val="0F172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0" y="1792224"/>
            <a:ext cx="1828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dirty="0">
                <a:solidFill>
                  <a:srgbClr val="10B981"/>
                </a:solidFill>
              </a:rPr>
              <a:t>Grade-School Math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389120" y="2182368"/>
            <a:ext cx="3316224" cy="1341120"/>
          </a:xfrm>
          <a:prstGeom prst="rect">
            <a:avLst/>
          </a:prstGeom>
          <a:noFill/>
          <a:ln/>
        </p:spPr>
        <p:txBody>
          <a:bodyPr wrap="square" rtlCol="0" anchor="t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</a:rPr>
              <a:t>8.5k linguistically diverse grade-school math problems requiring multi-step arithmetic. Key test for chain-of-thought reasoning.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046720" y="1158240"/>
            <a:ext cx="3560064" cy="2438400"/>
          </a:xfrm>
          <a:prstGeom prst="rect">
            <a:avLst/>
          </a:prstGeom>
          <a:solidFill>
            <a:srgbClr val="1E293B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46720" y="1158240"/>
            <a:ext cx="3560064" cy="7315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68640" y="1280160"/>
            <a:ext cx="3316224" cy="4876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33" b="1" dirty="0">
                <a:solidFill>
                  <a:srgbClr val="8B5CF6"/>
                </a:solidFill>
              </a:rPr>
              <a:t>💻  HumanEval</a:t>
            </a:r>
            <a:endParaRPr lang="en-US" sz="1733" dirty="0"/>
          </a:p>
        </p:txBody>
      </p:sp>
      <p:sp>
        <p:nvSpPr>
          <p:cNvPr id="19" name="Shape 17"/>
          <p:cNvSpPr/>
          <p:nvPr/>
        </p:nvSpPr>
        <p:spPr>
          <a:xfrm>
            <a:off x="8168640" y="1792224"/>
            <a:ext cx="1828800" cy="304800"/>
          </a:xfrm>
          <a:prstGeom prst="roundRect">
            <a:avLst>
              <a:gd name="adj" fmla="val 20000"/>
            </a:avLst>
          </a:prstGeom>
          <a:solidFill>
            <a:srgbClr val="0F172A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68640" y="1792224"/>
            <a:ext cx="1828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dirty="0">
                <a:solidFill>
                  <a:srgbClr val="8B5CF6"/>
                </a:solidFill>
              </a:rPr>
              <a:t>Code Generation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168640" y="2182368"/>
            <a:ext cx="3316224" cy="1341120"/>
          </a:xfrm>
          <a:prstGeom prst="rect">
            <a:avLst/>
          </a:prstGeom>
          <a:noFill/>
          <a:ln/>
        </p:spPr>
        <p:txBody>
          <a:bodyPr wrap="square" rtlCol="0" anchor="t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</a:rPr>
              <a:t>164 hand-crafted Python programming problems. Tests functional correctness: code must pass hidden unit tests.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87680" y="3879556"/>
            <a:ext cx="3560064" cy="2174632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7680" y="3840480"/>
            <a:ext cx="3560064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9600" y="3962400"/>
            <a:ext cx="3316224" cy="4876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33" b="1" dirty="0">
                <a:solidFill>
                  <a:srgbClr val="F59E0B"/>
                </a:solidFill>
              </a:rPr>
              <a:t>🎲  BIG-Bench</a:t>
            </a:r>
            <a:endParaRPr lang="en-US" sz="1733" dirty="0"/>
          </a:p>
        </p:txBody>
      </p:sp>
      <p:sp>
        <p:nvSpPr>
          <p:cNvPr id="25" name="Shape 23"/>
          <p:cNvSpPr/>
          <p:nvPr/>
        </p:nvSpPr>
        <p:spPr>
          <a:xfrm>
            <a:off x="609600" y="4474464"/>
            <a:ext cx="1828800" cy="304800"/>
          </a:xfrm>
          <a:prstGeom prst="roundRect">
            <a:avLst>
              <a:gd name="adj" fmla="val 20000"/>
            </a:avLst>
          </a:prstGeom>
          <a:solidFill>
            <a:srgbClr val="0F172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9600" y="4474464"/>
            <a:ext cx="1828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dirty="0">
                <a:solidFill>
                  <a:srgbClr val="F59E0B"/>
                </a:solidFill>
              </a:rPr>
              <a:t>Diverse Tasks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09600" y="4864608"/>
            <a:ext cx="3316224" cy="1341120"/>
          </a:xfrm>
          <a:prstGeom prst="rect">
            <a:avLst/>
          </a:prstGeom>
          <a:noFill/>
          <a:ln/>
        </p:spPr>
        <p:txBody>
          <a:bodyPr wrap="square" rtlCol="0" anchor="t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</a:rPr>
              <a:t>Beyond the Imitation Game: 204 tasks from 132 institutions testing capabilities beyond standard benchmarks.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267200" y="3879556"/>
            <a:ext cx="3560064" cy="2174632"/>
          </a:xfrm>
          <a:prstGeom prst="rect">
            <a:avLst/>
          </a:prstGeom>
          <a:solidFill>
            <a:srgbClr val="1E293B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267200" y="3840480"/>
            <a:ext cx="3560064" cy="73152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89120" y="3962400"/>
            <a:ext cx="3316224" cy="4876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33" b="1" dirty="0">
                <a:solidFill>
                  <a:srgbClr val="F43F5E"/>
                </a:solidFill>
              </a:rPr>
              <a:t>🔭  ARC</a:t>
            </a:r>
            <a:endParaRPr lang="en-US" sz="1733" dirty="0"/>
          </a:p>
        </p:txBody>
      </p:sp>
      <p:sp>
        <p:nvSpPr>
          <p:cNvPr id="31" name="Shape 29"/>
          <p:cNvSpPr/>
          <p:nvPr/>
        </p:nvSpPr>
        <p:spPr>
          <a:xfrm>
            <a:off x="4389120" y="4474464"/>
            <a:ext cx="1828800" cy="304800"/>
          </a:xfrm>
          <a:prstGeom prst="roundRect">
            <a:avLst>
              <a:gd name="adj" fmla="val 20000"/>
            </a:avLst>
          </a:prstGeom>
          <a:solidFill>
            <a:srgbClr val="0F172A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89120" y="4474464"/>
            <a:ext cx="1828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dirty="0">
                <a:solidFill>
                  <a:srgbClr val="F43F5E"/>
                </a:solidFill>
              </a:rPr>
              <a:t>Science QA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389120" y="4864608"/>
            <a:ext cx="3316224" cy="1341120"/>
          </a:xfrm>
          <a:prstGeom prst="rect">
            <a:avLst/>
          </a:prstGeom>
          <a:noFill/>
          <a:ln/>
        </p:spPr>
        <p:txBody>
          <a:bodyPr wrap="square" rtlCol="0" anchor="t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</a:rPr>
              <a:t>AI2 Reasoning Challenge: 7,787 science questions split into Easy and Challenge sets for deeper reasoning.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8046720" y="3879556"/>
            <a:ext cx="3560064" cy="2174632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046720" y="3840480"/>
            <a:ext cx="3560064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168640" y="3962400"/>
            <a:ext cx="3316224" cy="4876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33" b="1" dirty="0">
                <a:solidFill>
                  <a:srgbClr val="0D9488"/>
                </a:solidFill>
              </a:rPr>
              <a:t>📝  WinoGrande</a:t>
            </a:r>
            <a:endParaRPr lang="en-US" sz="1733" dirty="0"/>
          </a:p>
        </p:txBody>
      </p:sp>
      <p:sp>
        <p:nvSpPr>
          <p:cNvPr id="37" name="Shape 35"/>
          <p:cNvSpPr/>
          <p:nvPr/>
        </p:nvSpPr>
        <p:spPr>
          <a:xfrm>
            <a:off x="8168640" y="4474464"/>
            <a:ext cx="1828800" cy="304800"/>
          </a:xfrm>
          <a:prstGeom prst="roundRect">
            <a:avLst>
              <a:gd name="adj" fmla="val 20000"/>
            </a:avLst>
          </a:prstGeom>
          <a:solidFill>
            <a:srgbClr val="0F172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168640" y="4474464"/>
            <a:ext cx="1828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dirty="0">
                <a:solidFill>
                  <a:srgbClr val="0D9488"/>
                </a:solidFill>
              </a:rPr>
              <a:t>Pronoun Resolution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8168640" y="4864608"/>
            <a:ext cx="3316224" cy="1341120"/>
          </a:xfrm>
          <a:prstGeom prst="rect">
            <a:avLst/>
          </a:prstGeom>
          <a:noFill/>
          <a:ln/>
        </p:spPr>
        <p:txBody>
          <a:bodyPr wrap="square" rtlCol="0" anchor="t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</a:rPr>
              <a:t>44k Winograd schema problems testing commonsense reasoning about pronoun references at scale.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87680" y="219456"/>
            <a:ext cx="11216640" cy="6705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DeepEval — Usage &amp; Features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87680" y="1072896"/>
            <a:ext cx="6705600" cy="4693920"/>
          </a:xfrm>
          <a:prstGeom prst="rect">
            <a:avLst/>
          </a:prstGeom>
          <a:solidFill>
            <a:srgbClr val="0D1117"/>
          </a:solidFill>
          <a:ln w="19050">
            <a:solidFill>
              <a:srgbClr val="3036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87680" y="1072896"/>
            <a:ext cx="6705600" cy="463296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70560" y="1072896"/>
            <a:ext cx="6522720" cy="46329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33" dirty="0">
                <a:solidFill>
                  <a:srgbClr val="94A3B8"/>
                </a:solidFill>
              </a:rPr>
              <a:t>Python</a:t>
            </a:r>
            <a:endParaRPr lang="en-US" sz="1333" dirty="0"/>
          </a:p>
        </p:txBody>
      </p:sp>
      <p:sp>
        <p:nvSpPr>
          <p:cNvPr id="7" name="Text 5"/>
          <p:cNvSpPr/>
          <p:nvPr/>
        </p:nvSpPr>
        <p:spPr>
          <a:xfrm>
            <a:off x="609600" y="1645920"/>
            <a:ext cx="6339840" cy="390144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14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deepeval </a:t>
            </a:r>
            <a:r>
              <a:rPr lang="en-US" sz="1400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14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evaluate
</a:t>
            </a:r>
            <a:r>
              <a:rPr lang="en-US" sz="1400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14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deepeval.metrics </a:t>
            </a:r>
            <a:r>
              <a:rPr lang="en-US" sz="1400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14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AnswerRelevancyMetric
</a:t>
            </a:r>
            <a:r>
              <a:rPr lang="en-US" sz="1400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14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deepeval.test_case </a:t>
            </a:r>
            <a:r>
              <a:rPr lang="en-US" sz="1400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14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LLMTestCase
</a:t>
            </a:r>
            <a:r>
              <a:rPr lang="en-US" sz="1400" dirty="0">
                <a:solidFill>
                  <a:srgbClr val="6A91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Define the metric
</a:t>
            </a:r>
            <a:r>
              <a:rPr lang="en-US" sz="14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metric </a:t>
            </a:r>
            <a:r>
              <a:rPr lang="en-US" sz="1400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r>
              <a:rPr lang="en-US" sz="14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AnswerRelevancyMetric(threshold</a:t>
            </a:r>
            <a:r>
              <a:rPr lang="en-US" sz="1400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0.7)
</a:t>
            </a:r>
            <a:r>
              <a:rPr lang="en-US" sz="1400" dirty="0">
                <a:solidFill>
                  <a:srgbClr val="6A91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Create test case
</a:t>
            </a:r>
            <a:r>
              <a:rPr lang="en-US" sz="14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test_case </a:t>
            </a:r>
            <a:r>
              <a:rPr lang="en-US" sz="1400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r>
              <a:rPr lang="en-US" sz="14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LLMTestCase(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input=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"What is LangChain?"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actual_output</a:t>
            </a:r>
            <a:r>
              <a:rPr lang="en-US" sz="1400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llm_response
)
</a:t>
            </a:r>
            <a:r>
              <a:rPr lang="en-US" sz="1400" dirty="0">
                <a:solidFill>
                  <a:srgbClr val="6A91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Run evaluation
</a:t>
            </a:r>
            <a:r>
              <a:rPr lang="en-US" sz="14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evaluate</a:t>
            </a:r>
            <a:r>
              <a:rPr lang="en-US" sz="14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([test_case], [metric])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437120" y="818896"/>
            <a:ext cx="4389120" cy="51206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67" b="1" dirty="0">
                <a:solidFill>
                  <a:srgbClr val="10B981"/>
                </a:solidFill>
              </a:rPr>
              <a:t>Key Features</a:t>
            </a:r>
            <a:endParaRPr lang="en-US" sz="1867" dirty="0"/>
          </a:p>
        </p:txBody>
      </p:sp>
      <p:sp>
        <p:nvSpPr>
          <p:cNvPr id="9" name="Shape 7"/>
          <p:cNvSpPr/>
          <p:nvPr/>
        </p:nvSpPr>
        <p:spPr>
          <a:xfrm>
            <a:off x="7437120" y="1252572"/>
            <a:ext cx="4267200" cy="79967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59040" y="133307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533" b="1" dirty="0">
                <a:solidFill>
                  <a:srgbClr val="10B981"/>
                </a:solidFill>
              </a:rPr>
              <a:t>🧪 pytest Integration</a:t>
            </a:r>
            <a:endParaRPr lang="en-US" sz="1533" dirty="0"/>
          </a:p>
        </p:txBody>
      </p:sp>
      <p:sp>
        <p:nvSpPr>
          <p:cNvPr id="11" name="Text 9"/>
          <p:cNvSpPr/>
          <p:nvPr/>
        </p:nvSpPr>
        <p:spPr>
          <a:xfrm>
            <a:off x="7559040" y="169883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33" dirty="0">
                <a:solidFill>
                  <a:srgbClr val="94A3B8"/>
                </a:solidFill>
              </a:rPr>
              <a:t>Write evals like unit tests; run with deepeval test run</a:t>
            </a:r>
            <a:endParaRPr lang="en-US" sz="1333" dirty="0"/>
          </a:p>
        </p:txBody>
      </p:sp>
      <p:sp>
        <p:nvSpPr>
          <p:cNvPr id="12" name="Shape 10"/>
          <p:cNvSpPr/>
          <p:nvPr/>
        </p:nvSpPr>
        <p:spPr>
          <a:xfrm>
            <a:off x="7437120" y="2284046"/>
            <a:ext cx="4267200" cy="877824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559040" y="2345006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533" b="1" dirty="0">
                <a:solidFill>
                  <a:srgbClr val="10B981"/>
                </a:solidFill>
              </a:rPr>
              <a:t>📊 Confident AI Dashboard</a:t>
            </a:r>
            <a:endParaRPr lang="en-US" sz="1533" dirty="0"/>
          </a:p>
        </p:txBody>
      </p:sp>
      <p:sp>
        <p:nvSpPr>
          <p:cNvPr id="14" name="Text 12"/>
          <p:cNvSpPr/>
          <p:nvPr/>
        </p:nvSpPr>
        <p:spPr>
          <a:xfrm>
            <a:off x="7559040" y="2710766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33" dirty="0">
                <a:solidFill>
                  <a:srgbClr val="94A3B8"/>
                </a:solidFill>
              </a:rPr>
              <a:t>Visual UI to track regressions &amp; compare runs</a:t>
            </a:r>
            <a:endParaRPr lang="en-US" sz="1333" dirty="0"/>
          </a:p>
        </p:txBody>
      </p:sp>
      <p:sp>
        <p:nvSpPr>
          <p:cNvPr id="15" name="Shape 13"/>
          <p:cNvSpPr/>
          <p:nvPr/>
        </p:nvSpPr>
        <p:spPr>
          <a:xfrm>
            <a:off x="7437120" y="3295982"/>
            <a:ext cx="4267200" cy="877824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59040" y="3356942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533" b="1" dirty="0">
                <a:solidFill>
                  <a:srgbClr val="10B981"/>
                </a:solidFill>
              </a:rPr>
              <a:t>🔁 CI/CD Ready</a:t>
            </a:r>
            <a:endParaRPr lang="en-US" sz="1533" dirty="0"/>
          </a:p>
        </p:txBody>
      </p:sp>
      <p:sp>
        <p:nvSpPr>
          <p:cNvPr id="17" name="Text 15"/>
          <p:cNvSpPr/>
          <p:nvPr/>
        </p:nvSpPr>
        <p:spPr>
          <a:xfrm>
            <a:off x="7559040" y="3722702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33" dirty="0">
                <a:solidFill>
                  <a:srgbClr val="94A3B8"/>
                </a:solidFill>
              </a:rPr>
              <a:t>Fail pipelines when metric scores drop below threshold</a:t>
            </a:r>
            <a:endParaRPr lang="en-US" sz="1333" dirty="0"/>
          </a:p>
        </p:txBody>
      </p:sp>
      <p:sp>
        <p:nvSpPr>
          <p:cNvPr id="18" name="Shape 16"/>
          <p:cNvSpPr/>
          <p:nvPr/>
        </p:nvSpPr>
        <p:spPr>
          <a:xfrm>
            <a:off x="7437120" y="4307918"/>
            <a:ext cx="4267200" cy="877824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59040" y="4368878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533" b="1" dirty="0">
                <a:solidFill>
                  <a:srgbClr val="10B981"/>
                </a:solidFill>
              </a:rPr>
              <a:t>🤖 LLM-as-Judge</a:t>
            </a:r>
            <a:endParaRPr lang="en-US" sz="1533" dirty="0"/>
          </a:p>
        </p:txBody>
      </p:sp>
      <p:sp>
        <p:nvSpPr>
          <p:cNvPr id="20" name="Text 18"/>
          <p:cNvSpPr/>
          <p:nvPr/>
        </p:nvSpPr>
        <p:spPr>
          <a:xfrm>
            <a:off x="7559040" y="4734638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33" dirty="0">
                <a:solidFill>
                  <a:srgbClr val="94A3B8"/>
                </a:solidFill>
              </a:rPr>
              <a:t>Uses GPT-4 or custom models to score open-ended answers</a:t>
            </a:r>
            <a:endParaRPr lang="en-US" sz="1333" dirty="0"/>
          </a:p>
        </p:txBody>
      </p:sp>
      <p:sp>
        <p:nvSpPr>
          <p:cNvPr id="21" name="Shape 19"/>
          <p:cNvSpPr/>
          <p:nvPr/>
        </p:nvSpPr>
        <p:spPr>
          <a:xfrm>
            <a:off x="7437120" y="5378469"/>
            <a:ext cx="4267200" cy="750825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559040" y="5380814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533" b="1" dirty="0">
                <a:solidFill>
                  <a:srgbClr val="10B981"/>
                </a:solidFill>
              </a:rPr>
              <a:t>🔌 RAG Support</a:t>
            </a:r>
            <a:endParaRPr lang="en-US" sz="1533" dirty="0"/>
          </a:p>
        </p:txBody>
      </p:sp>
      <p:sp>
        <p:nvSpPr>
          <p:cNvPr id="23" name="Text 21"/>
          <p:cNvSpPr/>
          <p:nvPr/>
        </p:nvSpPr>
        <p:spPr>
          <a:xfrm>
            <a:off x="7559040" y="5746574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33" dirty="0">
                <a:solidFill>
                  <a:srgbClr val="94A3B8"/>
                </a:solidFill>
              </a:rPr>
              <a:t>Full pipeline metrics: retrieval, faithfulness, recall</a:t>
            </a:r>
            <a:endParaRPr lang="en-US" sz="1333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87680" y="243840"/>
            <a:ext cx="1950720" cy="548640"/>
          </a:xfrm>
          <a:prstGeom prst="roundRect">
            <a:avLst>
              <a:gd name="adj" fmla="val 17778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87680" y="243840"/>
            <a:ext cx="195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733" b="1" dirty="0">
                <a:solidFill>
                  <a:srgbClr val="0F172A"/>
                </a:solidFill>
              </a:rPr>
              <a:t>UpTrain</a:t>
            </a:r>
            <a:endParaRPr lang="en-US" sz="1733" dirty="0"/>
          </a:p>
        </p:txBody>
      </p:sp>
      <p:sp>
        <p:nvSpPr>
          <p:cNvPr id="5" name="Text 3"/>
          <p:cNvSpPr/>
          <p:nvPr/>
        </p:nvSpPr>
        <p:spPr>
          <a:xfrm>
            <a:off x="2621280" y="268224"/>
            <a:ext cx="9144000" cy="51206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2933" b="1" dirty="0">
                <a:solidFill>
                  <a:srgbClr val="FFFFFF"/>
                </a:solidFill>
              </a:rPr>
              <a:t>AI Quality Evaluation &amp; Continuous Monitoring</a:t>
            </a:r>
            <a:endParaRPr lang="en-US" sz="2933" dirty="0"/>
          </a:p>
        </p:txBody>
      </p:sp>
      <p:sp>
        <p:nvSpPr>
          <p:cNvPr id="6" name="Shape 4"/>
          <p:cNvSpPr/>
          <p:nvPr/>
        </p:nvSpPr>
        <p:spPr>
          <a:xfrm>
            <a:off x="487680" y="1036320"/>
            <a:ext cx="11216640" cy="853440"/>
          </a:xfrm>
          <a:prstGeom prst="rect">
            <a:avLst/>
          </a:prstGeom>
          <a:solidFill>
            <a:srgbClr val="071C27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70560" y="1036320"/>
            <a:ext cx="10972800" cy="8534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50" b="1" dirty="0">
                <a:solidFill>
                  <a:srgbClr val="06B6D4"/>
                </a:solidFill>
              </a:rPr>
              <a:t>Core Philosophy: </a:t>
            </a:r>
            <a:r>
              <a:rPr lang="en-US" sz="1650" dirty="0" err="1">
                <a:solidFill>
                  <a:srgbClr val="F1F5F9"/>
                </a:solidFill>
              </a:rPr>
              <a:t>UpTrain</a:t>
            </a:r>
            <a:r>
              <a:rPr lang="en-US" sz="1650" dirty="0">
                <a:solidFill>
                  <a:srgbClr val="F1F5F9"/>
                </a:solidFill>
              </a:rPr>
              <a:t> focuses on production-grade LLM observability, evaluating, monitoring, and improving AI pipelines continuously, not just at test time.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487680" y="2133600"/>
            <a:ext cx="3560064" cy="1950720"/>
          </a:xfrm>
          <a:prstGeom prst="rect">
            <a:avLst/>
          </a:prstGeom>
          <a:solidFill>
            <a:srgbClr val="1E293B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7680" y="2133600"/>
            <a:ext cx="73152" cy="19507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7136" y="2255520"/>
            <a:ext cx="3230880" cy="51206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67" b="1" dirty="0">
                <a:solidFill>
                  <a:srgbClr val="06B6D4"/>
                </a:solidFill>
              </a:rPr>
              <a:t>📡  Response Quality</a:t>
            </a:r>
            <a:endParaRPr lang="en-US" sz="1667" dirty="0"/>
          </a:p>
        </p:txBody>
      </p:sp>
      <p:sp>
        <p:nvSpPr>
          <p:cNvPr id="11" name="Text 9"/>
          <p:cNvSpPr/>
          <p:nvPr/>
        </p:nvSpPr>
        <p:spPr>
          <a:xfrm>
            <a:off x="707136" y="2816352"/>
            <a:ext cx="3230880" cy="115824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67" dirty="0">
                <a:solidFill>
                  <a:srgbClr val="CBD5E1"/>
                </a:solidFill>
              </a:rPr>
              <a:t>Scores completeness, conciseness, and relevance of generated text.</a:t>
            </a:r>
            <a:endParaRPr lang="en-US" sz="1467" dirty="0"/>
          </a:p>
        </p:txBody>
      </p:sp>
      <p:sp>
        <p:nvSpPr>
          <p:cNvPr id="12" name="Shape 10"/>
          <p:cNvSpPr/>
          <p:nvPr/>
        </p:nvSpPr>
        <p:spPr>
          <a:xfrm>
            <a:off x="4267200" y="2133600"/>
            <a:ext cx="3560064" cy="1950720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67200" y="2133600"/>
            <a:ext cx="73152" cy="1950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86656" y="2255520"/>
            <a:ext cx="3230880" cy="51206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67" b="1" dirty="0">
                <a:solidFill>
                  <a:srgbClr val="0D9488"/>
                </a:solidFill>
              </a:rPr>
              <a:t>🧠  Context Grounding</a:t>
            </a:r>
            <a:endParaRPr lang="en-US" sz="1667" dirty="0"/>
          </a:p>
        </p:txBody>
      </p:sp>
      <p:sp>
        <p:nvSpPr>
          <p:cNvPr id="15" name="Text 13"/>
          <p:cNvSpPr/>
          <p:nvPr/>
        </p:nvSpPr>
        <p:spPr>
          <a:xfrm>
            <a:off x="4486656" y="2816352"/>
            <a:ext cx="3230880" cy="115824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67" dirty="0">
                <a:solidFill>
                  <a:srgbClr val="CBD5E1"/>
                </a:solidFill>
              </a:rPr>
              <a:t>Checks if responses are grounded in provided context (critical for RAG).</a:t>
            </a:r>
            <a:endParaRPr lang="en-US" sz="1467" dirty="0"/>
          </a:p>
        </p:txBody>
      </p:sp>
      <p:sp>
        <p:nvSpPr>
          <p:cNvPr id="16" name="Shape 14"/>
          <p:cNvSpPr/>
          <p:nvPr/>
        </p:nvSpPr>
        <p:spPr>
          <a:xfrm>
            <a:off x="8046720" y="2133600"/>
            <a:ext cx="3560064" cy="1950720"/>
          </a:xfrm>
          <a:prstGeom prst="rect">
            <a:avLst/>
          </a:prstGeom>
          <a:solidFill>
            <a:srgbClr val="1E293B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46720" y="2133600"/>
            <a:ext cx="73152" cy="19507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66176" y="2255520"/>
            <a:ext cx="3230880" cy="51206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67" b="1" dirty="0">
                <a:solidFill>
                  <a:srgbClr val="8B5CF6"/>
                </a:solidFill>
              </a:rPr>
              <a:t>🔄  Conversation Eval</a:t>
            </a:r>
            <a:endParaRPr lang="en-US" sz="1667" dirty="0"/>
          </a:p>
        </p:txBody>
      </p:sp>
      <p:sp>
        <p:nvSpPr>
          <p:cNvPr id="19" name="Text 17"/>
          <p:cNvSpPr/>
          <p:nvPr/>
        </p:nvSpPr>
        <p:spPr>
          <a:xfrm>
            <a:off x="8266176" y="2816352"/>
            <a:ext cx="3230880" cy="115824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67" dirty="0">
                <a:solidFill>
                  <a:srgbClr val="CBD5E1"/>
                </a:solidFill>
              </a:rPr>
              <a:t>Multi-turn conversation quality: coherence, satisfaction, topic drift.</a:t>
            </a:r>
            <a:endParaRPr lang="en-US" sz="1467" dirty="0"/>
          </a:p>
        </p:txBody>
      </p:sp>
      <p:sp>
        <p:nvSpPr>
          <p:cNvPr id="20" name="Shape 18"/>
          <p:cNvSpPr/>
          <p:nvPr/>
        </p:nvSpPr>
        <p:spPr>
          <a:xfrm>
            <a:off x="516987" y="4303776"/>
            <a:ext cx="3530757" cy="1765105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8373" y="4303776"/>
            <a:ext cx="73152" cy="1765105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7136" y="4425696"/>
            <a:ext cx="3230880" cy="51206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67" b="1" dirty="0">
                <a:solidFill>
                  <a:srgbClr val="F59E0B"/>
                </a:solidFill>
              </a:rPr>
              <a:t>📉  Drift Detection</a:t>
            </a:r>
            <a:endParaRPr lang="en-US" sz="1667" dirty="0"/>
          </a:p>
        </p:txBody>
      </p:sp>
      <p:sp>
        <p:nvSpPr>
          <p:cNvPr id="23" name="Text 21"/>
          <p:cNvSpPr/>
          <p:nvPr/>
        </p:nvSpPr>
        <p:spPr>
          <a:xfrm>
            <a:off x="707136" y="4986528"/>
            <a:ext cx="3230880" cy="115824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67" dirty="0">
                <a:solidFill>
                  <a:srgbClr val="CBD5E1"/>
                </a:solidFill>
              </a:rPr>
              <a:t>Monitors data drift and model degradation in production over time.</a:t>
            </a:r>
            <a:endParaRPr lang="en-US" sz="1467" dirty="0"/>
          </a:p>
        </p:txBody>
      </p:sp>
      <p:sp>
        <p:nvSpPr>
          <p:cNvPr id="24" name="Shape 22"/>
          <p:cNvSpPr/>
          <p:nvPr/>
        </p:nvSpPr>
        <p:spPr>
          <a:xfrm>
            <a:off x="4296507" y="4303776"/>
            <a:ext cx="3530757" cy="1765105"/>
          </a:xfrm>
          <a:prstGeom prst="rect">
            <a:avLst/>
          </a:prstGeom>
          <a:solidFill>
            <a:srgbClr val="1E293B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237893" y="4303776"/>
            <a:ext cx="73152" cy="1765105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86656" y="4425696"/>
            <a:ext cx="3230880" cy="51206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67" b="1" dirty="0">
                <a:solidFill>
                  <a:srgbClr val="F43F5E"/>
                </a:solidFill>
              </a:rPr>
              <a:t>🛡️  Safety &amp; Bias</a:t>
            </a:r>
            <a:endParaRPr lang="en-US" sz="1667" dirty="0"/>
          </a:p>
        </p:txBody>
      </p:sp>
      <p:sp>
        <p:nvSpPr>
          <p:cNvPr id="27" name="Text 25"/>
          <p:cNvSpPr/>
          <p:nvPr/>
        </p:nvSpPr>
        <p:spPr>
          <a:xfrm>
            <a:off x="4486656" y="4986528"/>
            <a:ext cx="3230880" cy="11582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67" dirty="0">
                <a:solidFill>
                  <a:srgbClr val="CBD5E1"/>
                </a:solidFill>
              </a:rPr>
              <a:t>Detects harmful content, PII leakage, and demographic bias.</a:t>
            </a:r>
            <a:endParaRPr lang="en-US" sz="1467" dirty="0"/>
          </a:p>
        </p:txBody>
      </p:sp>
      <p:sp>
        <p:nvSpPr>
          <p:cNvPr id="28" name="Shape 26"/>
          <p:cNvSpPr/>
          <p:nvPr/>
        </p:nvSpPr>
        <p:spPr>
          <a:xfrm>
            <a:off x="8076027" y="4303776"/>
            <a:ext cx="3569833" cy="1765105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017413" y="4303776"/>
            <a:ext cx="73152" cy="1765105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66176" y="4425696"/>
            <a:ext cx="3230880" cy="51206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67" b="1" dirty="0">
                <a:solidFill>
                  <a:srgbClr val="10B981"/>
                </a:solidFill>
              </a:rPr>
              <a:t>📋  Custom Operators</a:t>
            </a:r>
            <a:endParaRPr lang="en-US" sz="1667" dirty="0"/>
          </a:p>
        </p:txBody>
      </p:sp>
      <p:sp>
        <p:nvSpPr>
          <p:cNvPr id="31" name="Text 29"/>
          <p:cNvSpPr/>
          <p:nvPr/>
        </p:nvSpPr>
        <p:spPr>
          <a:xfrm>
            <a:off x="8266176" y="4986528"/>
            <a:ext cx="3230880" cy="115824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67" dirty="0">
                <a:solidFill>
                  <a:srgbClr val="CBD5E1"/>
                </a:solidFill>
              </a:rPr>
              <a:t>Write custom Python operators to embed domain-specific evaluation logic.</a:t>
            </a:r>
            <a:endParaRPr lang="en-US" sz="1467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87680" y="219456"/>
            <a:ext cx="11216640" cy="63398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UpTrain — Usage &amp; Dashboard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87680" y="1036320"/>
            <a:ext cx="6705600" cy="4450080"/>
          </a:xfrm>
          <a:prstGeom prst="rect">
            <a:avLst/>
          </a:prstGeom>
          <a:solidFill>
            <a:srgbClr val="0D1117"/>
          </a:solidFill>
          <a:ln w="19050">
            <a:solidFill>
              <a:srgbClr val="3036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87680" y="1036320"/>
            <a:ext cx="6705600" cy="463296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70560" y="1036320"/>
            <a:ext cx="6522720" cy="46329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33" dirty="0">
                <a:solidFill>
                  <a:srgbClr val="94A3B8"/>
                </a:solidFill>
              </a:rPr>
              <a:t>Python</a:t>
            </a:r>
            <a:endParaRPr lang="en-US" sz="1333" dirty="0"/>
          </a:p>
        </p:txBody>
      </p:sp>
      <p:sp>
        <p:nvSpPr>
          <p:cNvPr id="7" name="Text 5"/>
          <p:cNvSpPr/>
          <p:nvPr/>
        </p:nvSpPr>
        <p:spPr>
          <a:xfrm>
            <a:off x="609600" y="1609344"/>
            <a:ext cx="6339840" cy="36576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14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uptrain
</a:t>
            </a:r>
            <a:r>
              <a:rPr lang="en-US" sz="1400" dirty="0">
                <a:solidFill>
                  <a:srgbClr val="6A91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Initialize the evaluator
</a:t>
            </a:r>
            <a:r>
              <a:rPr lang="en-US" sz="14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eval_llm </a:t>
            </a:r>
            <a:r>
              <a:rPr lang="en-US" sz="1400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r>
              <a:rPr lang="en-US" sz="14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uptrain.EvalLLM(uptrain.Evals.RAG_WITH_CITATION,
</a:t>
            </a:r>
            <a:r>
              <a:rPr lang="en-US" sz="14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openai_api_key</a:t>
            </a:r>
            <a:r>
              <a:rPr lang="en-US" sz="1400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"sk-..."
)
</a:t>
            </a:r>
            <a:r>
              <a:rPr lang="en-US" sz="1400" dirty="0">
                <a:solidFill>
                  <a:srgbClr val="6A91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Evaluate responses
</a:t>
            </a:r>
            <a:r>
              <a:rPr lang="en-US" sz="14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results </a:t>
            </a:r>
            <a:r>
              <a:rPr lang="en-US" sz="1400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r>
              <a:rPr lang="en-US" sz="14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eval_llm.evaluate(
</a:t>
            </a:r>
            <a:r>
              <a:rPr lang="en-US" sz="14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data</a:t>
            </a:r>
            <a:r>
              <a:rPr lang="en-US" sz="1400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=[{
</a:t>
            </a:r>
            <a:r>
              <a:rPr lang="en-US" sz="14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"question"</a:t>
            </a:r>
            <a:r>
              <a:rPr lang="en-US" sz="1400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r>
              <a:rPr lang="en-US" sz="14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"What is RAG?",
</a:t>
            </a:r>
            <a:r>
              <a:rPr lang="en-US" sz="14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"context"</a:t>
            </a:r>
            <a:r>
              <a:rPr lang="en-US" sz="1400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r>
              <a:rPr lang="en-US" sz="14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retrieved_docs,
    </a:t>
            </a:r>
            <a:r>
              <a:rPr lang="en-US" sz="14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"response"</a:t>
            </a:r>
            <a:r>
              <a:rPr lang="en-US" sz="1400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r>
              <a:rPr lang="en-US" sz="14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llm_answer
  }]
)
</a:t>
            </a:r>
            <a:r>
              <a:rPr lang="en-US" sz="14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4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(results)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437120" y="577166"/>
            <a:ext cx="4389120" cy="51206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67" b="1" dirty="0">
                <a:solidFill>
                  <a:srgbClr val="06B6D4"/>
                </a:solidFill>
              </a:rPr>
              <a:t>Platform Features</a:t>
            </a:r>
            <a:endParaRPr lang="en-US" sz="1867" dirty="0"/>
          </a:p>
        </p:txBody>
      </p:sp>
      <p:sp>
        <p:nvSpPr>
          <p:cNvPr id="9" name="Shape 7"/>
          <p:cNvSpPr/>
          <p:nvPr/>
        </p:nvSpPr>
        <p:spPr>
          <a:xfrm>
            <a:off x="7437120" y="1223342"/>
            <a:ext cx="4267200" cy="877824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59040" y="1284302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533" b="1" dirty="0">
                <a:solidFill>
                  <a:srgbClr val="06B6D4"/>
                </a:solidFill>
              </a:rPr>
              <a:t>🖥️ Self-Hosted Dashboard</a:t>
            </a:r>
            <a:endParaRPr lang="en-US" sz="1533" dirty="0"/>
          </a:p>
        </p:txBody>
      </p:sp>
      <p:sp>
        <p:nvSpPr>
          <p:cNvPr id="11" name="Text 9"/>
          <p:cNvSpPr/>
          <p:nvPr/>
        </p:nvSpPr>
        <p:spPr>
          <a:xfrm>
            <a:off x="7559040" y="1650062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33" dirty="0">
                <a:solidFill>
                  <a:srgbClr val="94A3B8"/>
                </a:solidFill>
              </a:rPr>
              <a:t>Local web UI — no data leaves your infra</a:t>
            </a:r>
            <a:endParaRPr lang="en-US" sz="1333" dirty="0"/>
          </a:p>
        </p:txBody>
      </p:sp>
      <p:sp>
        <p:nvSpPr>
          <p:cNvPr id="12" name="Shape 10"/>
          <p:cNvSpPr/>
          <p:nvPr/>
        </p:nvSpPr>
        <p:spPr>
          <a:xfrm>
            <a:off x="7437120" y="2235278"/>
            <a:ext cx="4267200" cy="877824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559040" y="2296238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533" b="1" dirty="0">
                <a:solidFill>
                  <a:srgbClr val="06B6D4"/>
                </a:solidFill>
              </a:rPr>
              <a:t>☁️ UpTrain Cloud</a:t>
            </a:r>
            <a:endParaRPr lang="en-US" sz="1533" dirty="0"/>
          </a:p>
        </p:txBody>
      </p:sp>
      <p:sp>
        <p:nvSpPr>
          <p:cNvPr id="14" name="Text 12"/>
          <p:cNvSpPr/>
          <p:nvPr/>
        </p:nvSpPr>
        <p:spPr>
          <a:xfrm>
            <a:off x="7559040" y="2661998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33" dirty="0">
                <a:solidFill>
                  <a:srgbClr val="94A3B8"/>
                </a:solidFill>
              </a:rPr>
              <a:t>Managed SaaS with experiment tracking</a:t>
            </a:r>
            <a:endParaRPr lang="en-US" sz="1333" dirty="0"/>
          </a:p>
        </p:txBody>
      </p:sp>
      <p:sp>
        <p:nvSpPr>
          <p:cNvPr id="15" name="Shape 13"/>
          <p:cNvSpPr/>
          <p:nvPr/>
        </p:nvSpPr>
        <p:spPr>
          <a:xfrm>
            <a:off x="7437120" y="3247214"/>
            <a:ext cx="4267200" cy="877824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59040" y="3308174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533" b="1" dirty="0">
                <a:solidFill>
                  <a:srgbClr val="06B6D4"/>
                </a:solidFill>
              </a:rPr>
              <a:t>📬 Slack Alerts</a:t>
            </a:r>
            <a:endParaRPr lang="en-US" sz="1533" dirty="0"/>
          </a:p>
        </p:txBody>
      </p:sp>
      <p:sp>
        <p:nvSpPr>
          <p:cNvPr id="17" name="Text 15"/>
          <p:cNvSpPr/>
          <p:nvPr/>
        </p:nvSpPr>
        <p:spPr>
          <a:xfrm>
            <a:off x="7559040" y="3673934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33" dirty="0">
                <a:solidFill>
                  <a:srgbClr val="94A3B8"/>
                </a:solidFill>
              </a:rPr>
              <a:t>Real-time alerts when quality drops in prod</a:t>
            </a:r>
            <a:endParaRPr lang="en-US" sz="1333" dirty="0"/>
          </a:p>
        </p:txBody>
      </p:sp>
      <p:sp>
        <p:nvSpPr>
          <p:cNvPr id="18" name="Shape 16"/>
          <p:cNvSpPr/>
          <p:nvPr/>
        </p:nvSpPr>
        <p:spPr>
          <a:xfrm>
            <a:off x="7437120" y="4259150"/>
            <a:ext cx="4267200" cy="877824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59040" y="432011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533" b="1" dirty="0">
                <a:solidFill>
                  <a:srgbClr val="06B6D4"/>
                </a:solidFill>
              </a:rPr>
              <a:t>🔬 A/B Testing</a:t>
            </a:r>
            <a:endParaRPr lang="en-US" sz="1533" dirty="0"/>
          </a:p>
        </p:txBody>
      </p:sp>
      <p:sp>
        <p:nvSpPr>
          <p:cNvPr id="20" name="Text 18"/>
          <p:cNvSpPr/>
          <p:nvPr/>
        </p:nvSpPr>
        <p:spPr>
          <a:xfrm>
            <a:off x="7559040" y="468587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33" dirty="0">
                <a:solidFill>
                  <a:srgbClr val="94A3B8"/>
                </a:solidFill>
              </a:rPr>
              <a:t>Compare prompt versions with statistical rigor</a:t>
            </a:r>
            <a:endParaRPr lang="en-US" sz="1333" dirty="0"/>
          </a:p>
        </p:txBody>
      </p:sp>
      <p:sp>
        <p:nvSpPr>
          <p:cNvPr id="21" name="Shape 19"/>
          <p:cNvSpPr/>
          <p:nvPr/>
        </p:nvSpPr>
        <p:spPr>
          <a:xfrm>
            <a:off x="7437120" y="5271086"/>
            <a:ext cx="4267200" cy="877824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559040" y="5332046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533" b="1" dirty="0">
                <a:solidFill>
                  <a:srgbClr val="06B6D4"/>
                </a:solidFill>
              </a:rPr>
              <a:t>🔗 LangChain/LlamaIndex</a:t>
            </a:r>
            <a:endParaRPr lang="en-US" sz="1533" dirty="0"/>
          </a:p>
        </p:txBody>
      </p:sp>
      <p:sp>
        <p:nvSpPr>
          <p:cNvPr id="23" name="Text 21"/>
          <p:cNvSpPr/>
          <p:nvPr/>
        </p:nvSpPr>
        <p:spPr>
          <a:xfrm>
            <a:off x="7559040" y="5697806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33" dirty="0">
                <a:solidFill>
                  <a:srgbClr val="94A3B8"/>
                </a:solidFill>
              </a:rPr>
              <a:t>Native integrations with popular LLM frameworks</a:t>
            </a:r>
            <a:endParaRPr lang="en-US" sz="1333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87680" y="219456"/>
            <a:ext cx="11216640" cy="6705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200" b="1" dirty="0" err="1">
                <a:solidFill>
                  <a:srgbClr val="FFFFFF"/>
                </a:solidFill>
              </a:rPr>
              <a:t>DeepEval</a:t>
            </a:r>
            <a:r>
              <a:rPr lang="en-US" sz="3200" b="1" dirty="0">
                <a:solidFill>
                  <a:srgbClr val="FFFFFF"/>
                </a:solidFill>
              </a:rPr>
              <a:t> vs </a:t>
            </a:r>
            <a:r>
              <a:rPr lang="en-US" sz="3200" b="1" dirty="0" err="1">
                <a:solidFill>
                  <a:srgbClr val="FFFFFF"/>
                </a:solidFill>
              </a:rPr>
              <a:t>UpTrain</a:t>
            </a:r>
            <a:endParaRPr lang="en-US" sz="3200" b="1" dirty="0" err="1">
              <a:solidFill>
                <a:srgbClr val="FFFFFF"/>
              </a:solidFill>
              <a:cs typeface="Arial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87680" y="823742"/>
            <a:ext cx="2365248" cy="548640"/>
          </a:xfrm>
          <a:prstGeom prst="rect">
            <a:avLst/>
          </a:prstGeom>
          <a:solidFill>
            <a:srgbClr val="1E3A5F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9600" y="823742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33" b="1" dirty="0">
                <a:solidFill>
                  <a:srgbClr val="94A3B8"/>
                </a:solidFill>
              </a:rPr>
              <a:t>Dimension</a:t>
            </a:r>
            <a:endParaRPr lang="en-US" sz="1733" dirty="0"/>
          </a:p>
        </p:txBody>
      </p:sp>
      <p:sp>
        <p:nvSpPr>
          <p:cNvPr id="6" name="Shape 4"/>
          <p:cNvSpPr/>
          <p:nvPr/>
        </p:nvSpPr>
        <p:spPr>
          <a:xfrm>
            <a:off x="3145536" y="823742"/>
            <a:ext cx="4255008" cy="548640"/>
          </a:xfrm>
          <a:prstGeom prst="rect">
            <a:avLst/>
          </a:prstGeom>
          <a:solidFill>
            <a:srgbClr val="1E3A5F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67456" y="823742"/>
            <a:ext cx="408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33" b="1" dirty="0">
                <a:solidFill>
                  <a:srgbClr val="10B981"/>
                </a:solidFill>
              </a:rPr>
              <a:t>DeepEval</a:t>
            </a:r>
            <a:endParaRPr lang="en-US" sz="1733" dirty="0"/>
          </a:p>
        </p:txBody>
      </p:sp>
      <p:sp>
        <p:nvSpPr>
          <p:cNvPr id="8" name="Shape 6"/>
          <p:cNvSpPr/>
          <p:nvPr/>
        </p:nvSpPr>
        <p:spPr>
          <a:xfrm>
            <a:off x="7412736" y="823742"/>
            <a:ext cx="4255008" cy="548640"/>
          </a:xfrm>
          <a:prstGeom prst="rect">
            <a:avLst/>
          </a:prstGeom>
          <a:solidFill>
            <a:srgbClr val="1E3A5F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34656" y="823742"/>
            <a:ext cx="408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33" b="1" dirty="0">
                <a:solidFill>
                  <a:srgbClr val="06B6D4"/>
                </a:solidFill>
              </a:rPr>
              <a:t>UpTrain</a:t>
            </a:r>
            <a:endParaRPr lang="en-US" sz="1733" dirty="0"/>
          </a:p>
        </p:txBody>
      </p:sp>
      <p:sp>
        <p:nvSpPr>
          <p:cNvPr id="10" name="Shape 8"/>
          <p:cNvSpPr/>
          <p:nvPr/>
        </p:nvSpPr>
        <p:spPr>
          <a:xfrm>
            <a:off x="487680" y="1457726"/>
            <a:ext cx="2365248" cy="633984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9600" y="1457726"/>
            <a:ext cx="2170176" cy="63398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</a:rPr>
              <a:t>Primary Focus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145536" y="1457726"/>
            <a:ext cx="4255008" cy="633984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67456" y="1457726"/>
            <a:ext cx="4059936" cy="63398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dirty="0">
                <a:solidFill>
                  <a:srgbClr val="F1F5F9"/>
                </a:solidFill>
              </a:rPr>
              <a:t>Unit-test-style LLM evaluation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412736" y="1457726"/>
            <a:ext cx="4255008" cy="633984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34656" y="1457726"/>
            <a:ext cx="4059936" cy="63398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dirty="0">
                <a:solidFill>
                  <a:srgbClr val="F1F5F9"/>
                </a:solidFill>
              </a:rPr>
              <a:t>Production monitoring &amp; observability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87680" y="2164862"/>
            <a:ext cx="2365248" cy="633984"/>
          </a:xfrm>
          <a:prstGeom prst="rect">
            <a:avLst/>
          </a:prstGeom>
          <a:solidFill>
            <a:srgbClr val="151F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9600" y="2164862"/>
            <a:ext cx="2170176" cy="63398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</a:rPr>
              <a:t>Integration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145536" y="2164862"/>
            <a:ext cx="4255008" cy="633984"/>
          </a:xfrm>
          <a:prstGeom prst="rect">
            <a:avLst/>
          </a:prstGeom>
          <a:solidFill>
            <a:srgbClr val="151F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67456" y="2164862"/>
            <a:ext cx="4059936" cy="63398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dirty="0">
                <a:solidFill>
                  <a:srgbClr val="F1F5F9"/>
                </a:solidFill>
              </a:rPr>
              <a:t>pytest, CI/CD pipelines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412736" y="2164862"/>
            <a:ext cx="4255008" cy="633984"/>
          </a:xfrm>
          <a:prstGeom prst="rect">
            <a:avLst/>
          </a:prstGeom>
          <a:solidFill>
            <a:srgbClr val="151F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34656" y="2164862"/>
            <a:ext cx="4059936" cy="63398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dirty="0">
                <a:solidFill>
                  <a:srgbClr val="F1F5F9"/>
                </a:solidFill>
              </a:rPr>
              <a:t>LangChain, LlamaIndex, REST API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87680" y="2871998"/>
            <a:ext cx="2365248" cy="633984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9600" y="2871998"/>
            <a:ext cx="2170176" cy="63398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</a:rPr>
              <a:t>Metrics Style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145536" y="2871998"/>
            <a:ext cx="4255008" cy="633984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67456" y="2871998"/>
            <a:ext cx="4059936" cy="63398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dirty="0">
                <a:solidFill>
                  <a:srgbClr val="F1F5F9"/>
                </a:solidFill>
              </a:rPr>
              <a:t>Pre-built + custom via G-Eval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412736" y="2871998"/>
            <a:ext cx="4255008" cy="633984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534656" y="2871998"/>
            <a:ext cx="4059936" cy="63398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dirty="0">
                <a:solidFill>
                  <a:srgbClr val="F1F5F9"/>
                </a:solidFill>
              </a:rPr>
              <a:t>Pre-built operators + custom Python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87680" y="3579134"/>
            <a:ext cx="2365248" cy="633984"/>
          </a:xfrm>
          <a:prstGeom prst="rect">
            <a:avLst/>
          </a:prstGeom>
          <a:solidFill>
            <a:srgbClr val="151F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09600" y="3579134"/>
            <a:ext cx="2170176" cy="63398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</a:rPr>
              <a:t>Dashboard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145536" y="3579134"/>
            <a:ext cx="4255008" cy="633984"/>
          </a:xfrm>
          <a:prstGeom prst="rect">
            <a:avLst/>
          </a:prstGeom>
          <a:solidFill>
            <a:srgbClr val="151F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67456" y="3579134"/>
            <a:ext cx="4059936" cy="63398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dirty="0">
                <a:solidFill>
                  <a:srgbClr val="F1F5F9"/>
                </a:solidFill>
              </a:rPr>
              <a:t>Confident AI (cloud)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7412736" y="3579134"/>
            <a:ext cx="4255008" cy="633984"/>
          </a:xfrm>
          <a:prstGeom prst="rect">
            <a:avLst/>
          </a:prstGeom>
          <a:solidFill>
            <a:srgbClr val="151F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534656" y="3579134"/>
            <a:ext cx="4059936" cy="63398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dirty="0">
                <a:solidFill>
                  <a:srgbClr val="F1F5F9"/>
                </a:solidFill>
              </a:rPr>
              <a:t>Self-hosted or UpTrain Cloud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487680" y="4286270"/>
            <a:ext cx="2365248" cy="633984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09600" y="4286270"/>
            <a:ext cx="2170176" cy="63398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</a:rPr>
              <a:t>RAG Support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145536" y="4286270"/>
            <a:ext cx="4255008" cy="633984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67456" y="4286270"/>
            <a:ext cx="4059936" cy="63398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dirty="0">
                <a:solidFill>
                  <a:srgbClr val="F1F5F9"/>
                </a:solidFill>
              </a:rPr>
              <a:t>Full RAG metric suite ✅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7412736" y="4286270"/>
            <a:ext cx="4255008" cy="633984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534656" y="4286270"/>
            <a:ext cx="4059936" cy="63398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dirty="0">
                <a:solidFill>
                  <a:srgbClr val="F1F5F9"/>
                </a:solidFill>
              </a:rPr>
              <a:t>Full RAG metric suite ✅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487680" y="4993406"/>
            <a:ext cx="2365248" cy="633984"/>
          </a:xfrm>
          <a:prstGeom prst="rect">
            <a:avLst/>
          </a:prstGeom>
          <a:solidFill>
            <a:srgbClr val="151F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09600" y="4993406"/>
            <a:ext cx="2170176" cy="63398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</a:rPr>
              <a:t>Alerting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3145536" y="4993406"/>
            <a:ext cx="4255008" cy="633984"/>
          </a:xfrm>
          <a:prstGeom prst="rect">
            <a:avLst/>
          </a:prstGeom>
          <a:solidFill>
            <a:srgbClr val="151F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267456" y="4993406"/>
            <a:ext cx="4059936" cy="63398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dirty="0">
                <a:solidFill>
                  <a:srgbClr val="F1F5F9"/>
                </a:solidFill>
              </a:rPr>
              <a:t>Threshold-based test failure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7412736" y="4993406"/>
            <a:ext cx="4255008" cy="633984"/>
          </a:xfrm>
          <a:prstGeom prst="rect">
            <a:avLst/>
          </a:prstGeom>
          <a:solidFill>
            <a:srgbClr val="151F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534656" y="4993406"/>
            <a:ext cx="4059936" cy="63398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dirty="0">
                <a:solidFill>
                  <a:srgbClr val="F1F5F9"/>
                </a:solidFill>
              </a:rPr>
              <a:t>Real-time Slack/email alerts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487680" y="5700542"/>
            <a:ext cx="2326172" cy="477677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09600" y="5700542"/>
            <a:ext cx="2170176" cy="63398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</a:rPr>
              <a:t>Best For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3145536" y="5700542"/>
            <a:ext cx="4264777" cy="477677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267456" y="5700542"/>
            <a:ext cx="4059936" cy="63398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dirty="0">
                <a:solidFill>
                  <a:srgbClr val="F1F5F9"/>
                </a:solidFill>
              </a:rPr>
              <a:t>Dev/testing phase evaluation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7402967" y="5700542"/>
            <a:ext cx="4303853" cy="477677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534656" y="5700542"/>
            <a:ext cx="4079474" cy="477677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dirty="0">
                <a:solidFill>
                  <a:srgbClr val="F1F5F9"/>
                </a:solidFill>
              </a:rPr>
              <a:t>Production quality monitoring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C86AB9-9BF0-A7B3-DC70-3DCA373A41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4A39946-54AD-0493-09ED-2828FCCA4964}"/>
              </a:ext>
            </a:extLst>
          </p:cNvPr>
          <p:cNvSpPr/>
          <p:nvPr/>
        </p:nvSpPr>
        <p:spPr>
          <a:xfrm>
            <a:off x="0" y="0"/>
            <a:ext cx="12192000" cy="12192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4AE6751-DA63-ED86-098D-25DAB32905EC}"/>
              </a:ext>
            </a:extLst>
          </p:cNvPr>
          <p:cNvSpPr/>
          <p:nvPr/>
        </p:nvSpPr>
        <p:spPr>
          <a:xfrm>
            <a:off x="243840" y="121920"/>
            <a:ext cx="109728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650" b="1" dirty="0">
              <a:solidFill>
                <a:srgbClr val="0E9F8E"/>
              </a:solidFill>
              <a:latin typeface="Arial Black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481199A-F98C-6C4F-AADD-E292E5C6A468}"/>
              </a:ext>
            </a:extLst>
          </p:cNvPr>
          <p:cNvSpPr/>
          <p:nvPr/>
        </p:nvSpPr>
        <p:spPr>
          <a:xfrm>
            <a:off x="364197" y="126766"/>
            <a:ext cx="11015784" cy="970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450" b="1" dirty="0">
                <a:solidFill>
                  <a:srgbClr val="FFFFFF"/>
                </a:solidFill>
                <a:latin typeface="Arial Black"/>
              </a:rPr>
              <a:t>EDEG Chatbot Test automation </a:t>
            </a:r>
            <a:r>
              <a:rPr lang="en-US" sz="3450" b="1">
                <a:solidFill>
                  <a:srgbClr val="FFFFFF"/>
                </a:solidFill>
                <a:latin typeface="Arial Black"/>
              </a:rPr>
              <a:t>Architecture</a:t>
            </a:r>
            <a:endParaRPr lang="en-US" sz="3450" b="1" dirty="0">
              <a:solidFill>
                <a:srgbClr val="FFFFFF"/>
              </a:solidFill>
              <a:latin typeface="Arial Black"/>
            </a:endParaRPr>
          </a:p>
        </p:txBody>
      </p:sp>
      <p:pic>
        <p:nvPicPr>
          <p:cNvPr id="33" name="Graphic 32">
            <a:extLst>
              <a:ext uri="{FF2B5EF4-FFF2-40B4-BE49-F238E27FC236}">
                <a16:creationId xmlns:a16="http://schemas.microsoft.com/office/drawing/2014/main" id="{861F9DE6-68BB-FF74-05A8-B74436F894E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66490" y="1445683"/>
            <a:ext cx="4289354" cy="4643966"/>
          </a:xfrm>
          <a:prstGeom prst="rect">
            <a:avLst/>
          </a:prstGeom>
        </p:spPr>
      </p:pic>
      <p:sp>
        <p:nvSpPr>
          <p:cNvPr id="35" name="Shape 4">
            <a:extLst>
              <a:ext uri="{FF2B5EF4-FFF2-40B4-BE49-F238E27FC236}">
                <a16:creationId xmlns:a16="http://schemas.microsoft.com/office/drawing/2014/main" id="{22115C0B-5F25-5D6B-5444-AF5C918493C6}"/>
              </a:ext>
            </a:extLst>
          </p:cNvPr>
          <p:cNvSpPr/>
          <p:nvPr/>
        </p:nvSpPr>
        <p:spPr>
          <a:xfrm>
            <a:off x="365760" y="1402080"/>
            <a:ext cx="5427785" cy="4720493"/>
          </a:xfrm>
          <a:prstGeom prst="rect">
            <a:avLst/>
          </a:prstGeom>
          <a:solidFill>
            <a:srgbClr val="1B3A5C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101E519-FF66-65D0-9956-1AA5365BA5DC}"/>
              </a:ext>
            </a:extLst>
          </p:cNvPr>
          <p:cNvSpPr txBox="1"/>
          <p:nvPr/>
        </p:nvSpPr>
        <p:spPr>
          <a:xfrm>
            <a:off x="444500" y="1608666"/>
            <a:ext cx="4984750" cy="286232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2000">
                <a:solidFill>
                  <a:schemeClr val="bg1"/>
                </a:solidFill>
                <a:latin typeface="Arial"/>
                <a:cs typeface="Arial"/>
              </a:rPr>
              <a:t>Start from main function</a:t>
            </a:r>
            <a:endParaRPr lang="en-US" sz="2000" dirty="0">
              <a:solidFill>
                <a:schemeClr val="bg1"/>
              </a:solidFill>
              <a:latin typeface="Arial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sz="2000">
                <a:solidFill>
                  <a:schemeClr val="bg1"/>
                </a:solidFill>
                <a:latin typeface="Arial"/>
                <a:cs typeface="Arial"/>
              </a:rPr>
              <a:t>Checking test file available or not</a:t>
            </a:r>
            <a:endParaRPr lang="en-US" sz="2000" dirty="0">
              <a:solidFill>
                <a:schemeClr val="bg1"/>
              </a:solidFill>
              <a:latin typeface="Arial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sz="2000" dirty="0">
                <a:solidFill>
                  <a:schemeClr val="bg1"/>
                </a:solidFill>
                <a:latin typeface="Arial"/>
                <a:cs typeface="Arial"/>
              </a:rPr>
              <a:t>Result folder </a:t>
            </a:r>
            <a:r>
              <a:rPr lang="en-US" sz="2000">
                <a:solidFill>
                  <a:schemeClr val="bg1"/>
                </a:solidFill>
                <a:latin typeface="Arial"/>
                <a:cs typeface="Arial"/>
              </a:rPr>
              <a:t>checking</a:t>
            </a:r>
            <a:endParaRPr lang="en-US" sz="2000" dirty="0">
              <a:solidFill>
                <a:schemeClr val="bg1"/>
              </a:solidFill>
              <a:latin typeface="Arial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sz="2000">
                <a:solidFill>
                  <a:schemeClr val="bg1"/>
                </a:solidFill>
                <a:latin typeface="Arial"/>
                <a:cs typeface="Arial"/>
              </a:rPr>
              <a:t>Launch app in Chrome browser</a:t>
            </a:r>
            <a:endParaRPr lang="en-US" sz="2000" dirty="0">
              <a:solidFill>
                <a:schemeClr val="bg1"/>
              </a:solidFill>
              <a:latin typeface="Arial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sz="2000">
                <a:solidFill>
                  <a:schemeClr val="bg1"/>
                </a:solidFill>
                <a:latin typeface="Arial"/>
                <a:cs typeface="Arial"/>
              </a:rPr>
              <a:t>Wait for ready</a:t>
            </a:r>
            <a:endParaRPr lang="en-US" sz="2000" dirty="0">
              <a:solidFill>
                <a:schemeClr val="bg1"/>
              </a:solidFill>
              <a:latin typeface="Arial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sz="2000">
                <a:solidFill>
                  <a:schemeClr val="bg1"/>
                </a:solidFill>
                <a:latin typeface="Arial"/>
                <a:cs typeface="Arial"/>
              </a:rPr>
              <a:t>Put prompt into the chatbot</a:t>
            </a:r>
            <a:endParaRPr lang="en-US" sz="2000" dirty="0">
              <a:solidFill>
                <a:schemeClr val="bg1"/>
              </a:solidFill>
              <a:latin typeface="Arial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sz="2000">
                <a:solidFill>
                  <a:schemeClr val="bg1"/>
                </a:solidFill>
                <a:latin typeface="Arial"/>
                <a:cs typeface="Arial"/>
              </a:rPr>
              <a:t>Get response</a:t>
            </a:r>
            <a:endParaRPr lang="en-US" sz="2000" dirty="0">
              <a:solidFill>
                <a:schemeClr val="bg1"/>
              </a:solidFill>
              <a:latin typeface="Arial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sz="2000">
                <a:solidFill>
                  <a:schemeClr val="bg1"/>
                </a:solidFill>
                <a:latin typeface="Arial"/>
                <a:cs typeface="Arial"/>
              </a:rPr>
              <a:t>Test response by the Mistral LLM</a:t>
            </a:r>
          </a:p>
          <a:p>
            <a:pPr marL="285750" indent="-285750">
              <a:buFont typeface="Arial"/>
              <a:buChar char="•"/>
            </a:pPr>
            <a:r>
              <a:rPr lang="en-US" sz="2000" dirty="0">
                <a:solidFill>
                  <a:schemeClr val="bg1"/>
                </a:solidFill>
                <a:latin typeface="Arial"/>
                <a:cs typeface="Arial"/>
              </a:rPr>
              <a:t>Same test </a:t>
            </a:r>
            <a:r>
              <a:rPr lang="en-US" sz="2000">
                <a:solidFill>
                  <a:schemeClr val="bg1"/>
                </a:solidFill>
                <a:latin typeface="Arial"/>
                <a:cs typeface="Arial"/>
              </a:rPr>
              <a:t>result</a:t>
            </a:r>
            <a:endParaRPr lang="en-US" sz="20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68444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D7FB9C-35FF-C347-C093-ACF27818E4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21DA9E3-6346-1581-CE2B-F430ADA50F8D}"/>
              </a:ext>
            </a:extLst>
          </p:cNvPr>
          <p:cNvSpPr/>
          <p:nvPr/>
        </p:nvSpPr>
        <p:spPr>
          <a:xfrm>
            <a:off x="0" y="0"/>
            <a:ext cx="12192000" cy="12192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6EBBFFF-A364-ECC5-0099-F6504A35F824}"/>
              </a:ext>
            </a:extLst>
          </p:cNvPr>
          <p:cNvSpPr/>
          <p:nvPr/>
        </p:nvSpPr>
        <p:spPr>
          <a:xfrm>
            <a:off x="243840" y="121920"/>
            <a:ext cx="109728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650" b="1" dirty="0">
              <a:solidFill>
                <a:srgbClr val="0E9F8E"/>
              </a:solidFill>
              <a:latin typeface="Arial Black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638EF46-CEB0-E1BE-D06D-87BB22B99E70}"/>
              </a:ext>
            </a:extLst>
          </p:cNvPr>
          <p:cNvSpPr/>
          <p:nvPr/>
        </p:nvSpPr>
        <p:spPr>
          <a:xfrm>
            <a:off x="1341120" y="146304"/>
            <a:ext cx="85344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450" b="1" dirty="0">
                <a:solidFill>
                  <a:srgbClr val="FFFFFF"/>
                </a:solidFill>
                <a:latin typeface="Arial Black"/>
                <a:cs typeface="Arial"/>
              </a:rPr>
              <a:t>Pre-</a:t>
            </a:r>
            <a:r>
              <a:rPr lang="en-US" sz="3450" b="1">
                <a:solidFill>
                  <a:srgbClr val="FFFFFF"/>
                </a:solidFill>
                <a:latin typeface="Arial Black"/>
                <a:cs typeface="Arial"/>
              </a:rPr>
              <a:t>Requisites</a:t>
            </a:r>
            <a:endParaRPr lang="en-US" sz="3450" b="1" dirty="0">
              <a:solidFill>
                <a:srgbClr val="FFFFFF"/>
              </a:solidFill>
              <a:latin typeface="Arial Black"/>
              <a:cs typeface="Arial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D392B568-D39A-BA86-C77D-C9C7610A8F90}"/>
              </a:ext>
            </a:extLst>
          </p:cNvPr>
          <p:cNvSpPr/>
          <p:nvPr/>
        </p:nvSpPr>
        <p:spPr>
          <a:xfrm>
            <a:off x="365760" y="1431387"/>
            <a:ext cx="5427785" cy="4720493"/>
          </a:xfrm>
          <a:prstGeom prst="rect">
            <a:avLst/>
          </a:prstGeom>
          <a:solidFill>
            <a:srgbClr val="1B3A5C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D4AF4659-6FDC-0498-A623-07663B9014A3}"/>
              </a:ext>
            </a:extLst>
          </p:cNvPr>
          <p:cNvSpPr/>
          <p:nvPr/>
        </p:nvSpPr>
        <p:spPr>
          <a:xfrm>
            <a:off x="6217920" y="1402080"/>
            <a:ext cx="560832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133" b="1" dirty="0">
                <a:solidFill>
                  <a:srgbClr val="0E9F8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Features</a:t>
            </a:r>
            <a:endParaRPr lang="en-US" sz="2133" dirty="0"/>
          </a:p>
        </p:txBody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D30F7929-9819-B77C-F82D-56F18CBCCC53}"/>
              </a:ext>
            </a:extLst>
          </p:cNvPr>
          <p:cNvSpPr/>
          <p:nvPr/>
        </p:nvSpPr>
        <p:spPr>
          <a:xfrm>
            <a:off x="6217920" y="2072640"/>
            <a:ext cx="5608320" cy="914400"/>
          </a:xfrm>
          <a:prstGeom prst="rect">
            <a:avLst/>
          </a:prstGeom>
          <a:solidFill>
            <a:srgbClr val="1B3A5C"/>
          </a:solidFill>
          <a:ln/>
          <a:effectLst>
            <a:outerShdw blurRad="63500" dist="254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18" name="Image 1" descr="preencoded.png">
            <a:extLst>
              <a:ext uri="{FF2B5EF4-FFF2-40B4-BE49-F238E27FC236}">
                <a16:creationId xmlns:a16="http://schemas.microsoft.com/office/drawing/2014/main" id="{AC64393A-F005-5CB7-1F41-C59C3E462A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255520"/>
            <a:ext cx="548640" cy="548640"/>
          </a:xfrm>
          <a:prstGeom prst="rect">
            <a:avLst/>
          </a:prstGeom>
        </p:spPr>
      </p:pic>
      <p:sp>
        <p:nvSpPr>
          <p:cNvPr id="19" name="Text 15">
            <a:extLst>
              <a:ext uri="{FF2B5EF4-FFF2-40B4-BE49-F238E27FC236}">
                <a16:creationId xmlns:a16="http://schemas.microsoft.com/office/drawing/2014/main" id="{D9790591-5E3E-CF51-AB21-85A951BD6ECD}"/>
              </a:ext>
            </a:extLst>
          </p:cNvPr>
          <p:cNvSpPr/>
          <p:nvPr/>
        </p:nvSpPr>
        <p:spPr>
          <a:xfrm>
            <a:off x="7132320" y="2250831"/>
            <a:ext cx="451104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>
                <a:solidFill>
                  <a:schemeClr val="bg1"/>
                </a:solidFill>
                <a:latin typeface="Times New Roman"/>
                <a:cs typeface="Times New Roman"/>
              </a:rPr>
              <a:t>Ollama</a:t>
            </a:r>
            <a:r>
              <a:rPr lang="en-US" dirty="0">
                <a:solidFill>
                  <a:schemeClr val="bg1"/>
                </a:solidFill>
                <a:latin typeface="Times New Roman"/>
                <a:cs typeface="Times New Roman"/>
              </a:rPr>
              <a:t> install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1" name="Shape 17">
            <a:extLst>
              <a:ext uri="{FF2B5EF4-FFF2-40B4-BE49-F238E27FC236}">
                <a16:creationId xmlns:a16="http://schemas.microsoft.com/office/drawing/2014/main" id="{78FA6027-C51B-F2AC-AA98-3B77AEEB6494}"/>
              </a:ext>
            </a:extLst>
          </p:cNvPr>
          <p:cNvSpPr/>
          <p:nvPr/>
        </p:nvSpPr>
        <p:spPr>
          <a:xfrm>
            <a:off x="6217920" y="3145536"/>
            <a:ext cx="5608320" cy="914400"/>
          </a:xfrm>
          <a:prstGeom prst="rect">
            <a:avLst/>
          </a:prstGeom>
          <a:solidFill>
            <a:srgbClr val="1B3A5C"/>
          </a:solidFill>
          <a:ln/>
          <a:effectLst>
            <a:outerShdw blurRad="63500" dist="254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22" name="Image 2" descr="preencoded.png">
            <a:extLst>
              <a:ext uri="{FF2B5EF4-FFF2-40B4-BE49-F238E27FC236}">
                <a16:creationId xmlns:a16="http://schemas.microsoft.com/office/drawing/2014/main" id="{3067CE15-9193-CF3C-2DEB-F28A145E78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3328416"/>
            <a:ext cx="548640" cy="548640"/>
          </a:xfrm>
          <a:prstGeom prst="rect">
            <a:avLst/>
          </a:prstGeom>
        </p:spPr>
      </p:pic>
      <p:sp>
        <p:nvSpPr>
          <p:cNvPr id="23" name="Text 18">
            <a:extLst>
              <a:ext uri="{FF2B5EF4-FFF2-40B4-BE49-F238E27FC236}">
                <a16:creationId xmlns:a16="http://schemas.microsoft.com/office/drawing/2014/main" id="{692ADA18-B8D4-51C7-E920-A8E65E7DC024}"/>
              </a:ext>
            </a:extLst>
          </p:cNvPr>
          <p:cNvSpPr/>
          <p:nvPr/>
        </p:nvSpPr>
        <p:spPr>
          <a:xfrm>
            <a:off x="7132320" y="3323727"/>
            <a:ext cx="451104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>
                <a:solidFill>
                  <a:srgbClr val="FFFFFF"/>
                </a:solidFill>
                <a:latin typeface="Arial"/>
                <a:cs typeface="Arial"/>
              </a:rPr>
              <a:t>Chrome</a:t>
            </a:r>
            <a:r>
              <a:rPr lang="en-US" dirty="0">
                <a:solidFill>
                  <a:srgbClr val="FFFFFF"/>
                </a:solidFill>
                <a:latin typeface="Arial"/>
                <a:cs typeface="Arial"/>
              </a:rPr>
              <a:t>-browser</a:t>
            </a:r>
            <a:endParaRPr lang="en-US">
              <a:cs typeface="Arial"/>
            </a:endParaRPr>
          </a:p>
        </p:txBody>
      </p:sp>
      <p:sp>
        <p:nvSpPr>
          <p:cNvPr id="25" name="Shape 20">
            <a:extLst>
              <a:ext uri="{FF2B5EF4-FFF2-40B4-BE49-F238E27FC236}">
                <a16:creationId xmlns:a16="http://schemas.microsoft.com/office/drawing/2014/main" id="{2F01B905-8812-AB0B-13FA-2D8F7E00D7B5}"/>
              </a:ext>
            </a:extLst>
          </p:cNvPr>
          <p:cNvSpPr/>
          <p:nvPr/>
        </p:nvSpPr>
        <p:spPr>
          <a:xfrm>
            <a:off x="6217920" y="4218432"/>
            <a:ext cx="5608320" cy="914400"/>
          </a:xfrm>
          <a:prstGeom prst="rect">
            <a:avLst/>
          </a:prstGeom>
          <a:solidFill>
            <a:srgbClr val="1B3A5C"/>
          </a:solidFill>
          <a:ln/>
          <a:effectLst>
            <a:outerShdw blurRad="63500" dist="254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26" name="Image 3" descr="preencoded.png">
            <a:extLst>
              <a:ext uri="{FF2B5EF4-FFF2-40B4-BE49-F238E27FC236}">
                <a16:creationId xmlns:a16="http://schemas.microsoft.com/office/drawing/2014/main" id="{1873CE3F-6324-A274-52EB-B0A3A9DCDC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4401312"/>
            <a:ext cx="548640" cy="548640"/>
          </a:xfrm>
          <a:prstGeom prst="rect">
            <a:avLst/>
          </a:prstGeom>
        </p:spPr>
      </p:pic>
      <p:sp>
        <p:nvSpPr>
          <p:cNvPr id="27" name="Text 21">
            <a:extLst>
              <a:ext uri="{FF2B5EF4-FFF2-40B4-BE49-F238E27FC236}">
                <a16:creationId xmlns:a16="http://schemas.microsoft.com/office/drawing/2014/main" id="{127AF279-6601-39C5-2EC4-3E6A4B074928}"/>
              </a:ext>
            </a:extLst>
          </p:cNvPr>
          <p:cNvSpPr/>
          <p:nvPr/>
        </p:nvSpPr>
        <p:spPr>
          <a:xfrm>
            <a:off x="7132320" y="4279392"/>
            <a:ext cx="451104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>
                <a:solidFill>
                  <a:schemeClr val="bg1"/>
                </a:solidFill>
                <a:latin typeface="Times New Roman"/>
                <a:cs typeface="Times New Roman"/>
              </a:rPr>
              <a:t>Llama3.2:1b</a:t>
            </a:r>
            <a:endParaRPr lang="en-US">
              <a:solidFill>
                <a:schemeClr val="bg1"/>
              </a:solidFill>
              <a:cs typeface="Arial"/>
            </a:endParaRPr>
          </a:p>
        </p:txBody>
      </p:sp>
      <p:sp>
        <p:nvSpPr>
          <p:cNvPr id="29" name="Shape 23">
            <a:extLst>
              <a:ext uri="{FF2B5EF4-FFF2-40B4-BE49-F238E27FC236}">
                <a16:creationId xmlns:a16="http://schemas.microsoft.com/office/drawing/2014/main" id="{FBECDCB8-9D58-3900-71C8-F261A1497DFE}"/>
              </a:ext>
            </a:extLst>
          </p:cNvPr>
          <p:cNvSpPr/>
          <p:nvPr/>
        </p:nvSpPr>
        <p:spPr>
          <a:xfrm>
            <a:off x="6217920" y="5203405"/>
            <a:ext cx="5608320" cy="914400"/>
          </a:xfrm>
          <a:prstGeom prst="rect">
            <a:avLst/>
          </a:prstGeom>
          <a:solidFill>
            <a:srgbClr val="1B3A5C"/>
          </a:solidFill>
          <a:ln/>
          <a:effectLst>
            <a:outerShdw blurRad="63500" dist="254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30" name="Image 4" descr="preencoded.png">
            <a:extLst>
              <a:ext uri="{FF2B5EF4-FFF2-40B4-BE49-F238E27FC236}">
                <a16:creationId xmlns:a16="http://schemas.microsoft.com/office/drawing/2014/main" id="{D155163D-22AA-E35C-AA1A-26CC782F029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0" y="5474208"/>
            <a:ext cx="548640" cy="548640"/>
          </a:xfrm>
          <a:prstGeom prst="rect">
            <a:avLst/>
          </a:prstGeom>
        </p:spPr>
      </p:pic>
      <p:sp>
        <p:nvSpPr>
          <p:cNvPr id="31" name="Text 24">
            <a:extLst>
              <a:ext uri="{FF2B5EF4-FFF2-40B4-BE49-F238E27FC236}">
                <a16:creationId xmlns:a16="http://schemas.microsoft.com/office/drawing/2014/main" id="{7CC024EF-745F-A094-F980-ACE5807528A1}"/>
              </a:ext>
            </a:extLst>
          </p:cNvPr>
          <p:cNvSpPr/>
          <p:nvPr/>
        </p:nvSpPr>
        <p:spPr>
          <a:xfrm>
            <a:off x="7132320" y="5352288"/>
            <a:ext cx="451104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>
                <a:solidFill>
                  <a:schemeClr val="bg1"/>
                </a:solidFill>
                <a:latin typeface="Times New Roman"/>
                <a:cs typeface="Times New Roman"/>
              </a:rPr>
              <a:t>Nomic-embed-text</a:t>
            </a:r>
            <a:endParaRPr lang="en-US">
              <a:solidFill>
                <a:schemeClr val="bg1"/>
              </a:solidFill>
              <a:cs typeface="Arial"/>
            </a:endParaRPr>
          </a:p>
        </p:txBody>
      </p:sp>
      <p:pic>
        <p:nvPicPr>
          <p:cNvPr id="36" name="Picture 35" descr="A computer screen with white text&#10;&#10;AI-generated content may be incorrect.">
            <a:extLst>
              <a:ext uri="{FF2B5EF4-FFF2-40B4-BE49-F238E27FC236}">
                <a16:creationId xmlns:a16="http://schemas.microsoft.com/office/drawing/2014/main" id="{EC359689-643E-DABA-15CA-C14496B263F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3414" y="2067414"/>
            <a:ext cx="4980597" cy="2889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27713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319832-0894-C0A2-CC14-8B1D4F5530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1F57C28-8BD7-C0CD-95EF-741A242C6BC4}"/>
              </a:ext>
            </a:extLst>
          </p:cNvPr>
          <p:cNvSpPr/>
          <p:nvPr/>
        </p:nvSpPr>
        <p:spPr>
          <a:xfrm>
            <a:off x="0" y="0"/>
            <a:ext cx="12192000" cy="12192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A304380-DECA-FD38-F92E-81ACB74B08FF}"/>
              </a:ext>
            </a:extLst>
          </p:cNvPr>
          <p:cNvSpPr/>
          <p:nvPr/>
        </p:nvSpPr>
        <p:spPr>
          <a:xfrm>
            <a:off x="243840" y="121920"/>
            <a:ext cx="109728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650" b="1" dirty="0">
              <a:solidFill>
                <a:srgbClr val="0E9F8E"/>
              </a:solidFill>
              <a:latin typeface="Arial Black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03DBC439-92F0-F30B-1791-69A0BC6826AC}"/>
              </a:ext>
            </a:extLst>
          </p:cNvPr>
          <p:cNvSpPr/>
          <p:nvPr/>
        </p:nvSpPr>
        <p:spPr>
          <a:xfrm>
            <a:off x="246966" y="126766"/>
            <a:ext cx="9061938" cy="970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450" b="1">
                <a:solidFill>
                  <a:srgbClr val="FFFFFF"/>
                </a:solidFill>
                <a:latin typeface="Arial Black"/>
                <a:ea typeface="Arial Black" pitchFamily="34" charset="-122"/>
                <a:cs typeface="Arial Black" pitchFamily="34" charset="-120"/>
              </a:rPr>
              <a:t>Environment Setup For EDEG Chatbot</a:t>
            </a:r>
            <a:endParaRPr lang="en-US" sz="3467" dirty="0"/>
          </a:p>
        </p:txBody>
      </p:sp>
      <p:pic>
        <p:nvPicPr>
          <p:cNvPr id="6" name="Image 0" descr="preencoded.png">
            <a:extLst>
              <a:ext uri="{FF2B5EF4-FFF2-40B4-BE49-F238E27FC236}">
                <a16:creationId xmlns:a16="http://schemas.microsoft.com/office/drawing/2014/main" id="{43AC9FDC-5936-A9FB-6B93-E684E41BDE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3200" y="182880"/>
            <a:ext cx="853440" cy="853440"/>
          </a:xfrm>
          <a:prstGeom prst="rect">
            <a:avLst/>
          </a:prstGeom>
        </p:spPr>
      </p:pic>
      <p:sp>
        <p:nvSpPr>
          <p:cNvPr id="7" name="Shape 4">
            <a:extLst>
              <a:ext uri="{FF2B5EF4-FFF2-40B4-BE49-F238E27FC236}">
                <a16:creationId xmlns:a16="http://schemas.microsoft.com/office/drawing/2014/main" id="{677CFE6F-31C5-F675-82ED-C474F984D80F}"/>
              </a:ext>
            </a:extLst>
          </p:cNvPr>
          <p:cNvSpPr/>
          <p:nvPr/>
        </p:nvSpPr>
        <p:spPr>
          <a:xfrm>
            <a:off x="365760" y="1341120"/>
            <a:ext cx="5608320" cy="2316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5120DF90-25FF-96FF-C96C-F756E34EAD3A}"/>
              </a:ext>
            </a:extLst>
          </p:cNvPr>
          <p:cNvSpPr/>
          <p:nvPr/>
        </p:nvSpPr>
        <p:spPr>
          <a:xfrm>
            <a:off x="365760" y="1341120"/>
            <a:ext cx="85344" cy="2316480"/>
          </a:xfrm>
          <a:prstGeom prst="rect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6AD906F5-1C35-CA82-936C-5864EE498A95}"/>
              </a:ext>
            </a:extLst>
          </p:cNvPr>
          <p:cNvSpPr/>
          <p:nvPr/>
        </p:nvSpPr>
        <p:spPr>
          <a:xfrm>
            <a:off x="585216" y="1560576"/>
            <a:ext cx="609600" cy="60960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E28AC285-BB1F-6953-18E1-09323160DDB5}"/>
              </a:ext>
            </a:extLst>
          </p:cNvPr>
          <p:cNvSpPr/>
          <p:nvPr/>
        </p:nvSpPr>
        <p:spPr>
          <a:xfrm>
            <a:off x="585216" y="1560576"/>
            <a:ext cx="609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67" b="1" dirty="0">
                <a:solidFill>
                  <a:srgbClr val="0E9F8E"/>
                </a:solidFill>
              </a:rPr>
              <a:t>1</a:t>
            </a:r>
            <a:endParaRPr lang="en-US" sz="1867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CBDE1F14-4FC6-2278-19EE-A57F566FB83C}"/>
              </a:ext>
            </a:extLst>
          </p:cNvPr>
          <p:cNvSpPr/>
          <p:nvPr/>
        </p:nvSpPr>
        <p:spPr>
          <a:xfrm>
            <a:off x="1365504" y="1560576"/>
            <a:ext cx="438912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700" b="1" dirty="0">
                <a:solidFill>
                  <a:srgbClr val="1A202C"/>
                </a:solidFill>
                <a:cs typeface="Arial"/>
              </a:rPr>
              <a:t>Create Virtual </a:t>
            </a:r>
            <a:r>
              <a:rPr lang="en-US" sz="1700" b="1">
                <a:solidFill>
                  <a:srgbClr val="1A202C"/>
                </a:solidFill>
                <a:cs typeface="Arial"/>
              </a:rPr>
              <a:t>Environment &amp; Active</a:t>
            </a:r>
            <a:endParaRPr lang="en-US" sz="1700" b="1" dirty="0">
              <a:solidFill>
                <a:srgbClr val="1A202C"/>
              </a:solidFill>
              <a:cs typeface="Arial"/>
            </a:endParaRPr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906AB8E5-68A9-07CC-4995-553161CC5F76}"/>
              </a:ext>
            </a:extLst>
          </p:cNvPr>
          <p:cNvSpPr/>
          <p:nvPr/>
        </p:nvSpPr>
        <p:spPr>
          <a:xfrm>
            <a:off x="609600" y="2097024"/>
            <a:ext cx="5120640" cy="792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27B4A6C7-4D7A-D3ED-A239-B1411A211443}"/>
              </a:ext>
            </a:extLst>
          </p:cNvPr>
          <p:cNvSpPr/>
          <p:nvPr/>
        </p:nvSpPr>
        <p:spPr>
          <a:xfrm>
            <a:off x="731520" y="2097024"/>
            <a:ext cx="487680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50" dirty="0">
                <a:solidFill>
                  <a:srgbClr val="14C4B0"/>
                </a:solidFill>
                <a:latin typeface="Consolas"/>
                <a:ea typeface="Consolas" pitchFamily="34" charset="-122"/>
                <a:cs typeface="Consolas" pitchFamily="34" charset="-120"/>
              </a:rPr>
              <a:t>python –m </a:t>
            </a:r>
            <a:r>
              <a:rPr lang="en-US" sz="1250" dirty="0" err="1">
                <a:solidFill>
                  <a:srgbClr val="14C4B0"/>
                </a:solidFill>
                <a:latin typeface="Consolas"/>
                <a:ea typeface="Consolas" pitchFamily="34" charset="-122"/>
                <a:cs typeface="Consolas" pitchFamily="34" charset="-120"/>
              </a:rPr>
              <a:t>venv</a:t>
            </a:r>
            <a:r>
              <a:rPr lang="en-US" sz="1250" dirty="0">
                <a:solidFill>
                  <a:srgbClr val="14C4B0"/>
                </a:solidFill>
                <a:latin typeface="Consolas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50" dirty="0" err="1">
                <a:solidFill>
                  <a:srgbClr val="14C4B0"/>
                </a:solidFill>
                <a:latin typeface="Consolas"/>
                <a:ea typeface="Consolas" pitchFamily="34" charset="-122"/>
                <a:cs typeface="Consolas" pitchFamily="34" charset="-120"/>
              </a:rPr>
              <a:t>venv</a:t>
            </a:r>
            <a:endParaRPr lang="en-US" sz="1267" dirty="0" err="1"/>
          </a:p>
          <a:p>
            <a:pPr marL="0" indent="0">
              <a:buNone/>
            </a:pPr>
            <a:r>
              <a:rPr lang="en-US" sz="1250" dirty="0" err="1">
                <a:solidFill>
                  <a:srgbClr val="14C4B0"/>
                </a:solidFill>
                <a:ea typeface="+mn-lt"/>
                <a:cs typeface="+mn-lt"/>
              </a:rPr>
              <a:t>venv</a:t>
            </a:r>
            <a:r>
              <a:rPr lang="en-US" sz="1250" dirty="0">
                <a:solidFill>
                  <a:srgbClr val="14C4B0"/>
                </a:solidFill>
                <a:ea typeface="+mn-lt"/>
                <a:cs typeface="+mn-lt"/>
              </a:rPr>
              <a:t>\Scripts\activate</a:t>
            </a:r>
            <a:endParaRPr lang="en-US" dirty="0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479D2A0C-3665-0AE6-1F73-86961F290484}"/>
              </a:ext>
            </a:extLst>
          </p:cNvPr>
          <p:cNvSpPr/>
          <p:nvPr/>
        </p:nvSpPr>
        <p:spPr>
          <a:xfrm>
            <a:off x="609600" y="2962656"/>
            <a:ext cx="499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Download the </a:t>
            </a:r>
            <a:r>
              <a:rPr lang="en-US" sz="1400" dirty="0">
                <a:solidFill>
                  <a:srgbClr val="64748B"/>
                </a:solidFill>
                <a:latin typeface="Calibri"/>
                <a:ea typeface="Calibri"/>
                <a:cs typeface="Calibri"/>
                <a:hlinkClick r:id="rId4"/>
              </a:rPr>
              <a:t>EDEG Chatbot</a:t>
            </a:r>
            <a:r>
              <a:rPr lang="en-US" sz="1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first</a:t>
            </a:r>
            <a:endParaRPr lang="en-US" sz="1400">
              <a:latin typeface="Calibri"/>
              <a:ea typeface="Calibri"/>
              <a:cs typeface="Calibri"/>
            </a:endParaRPr>
          </a:p>
        </p:txBody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5AF72C83-1DB0-6457-61A6-B4FC0122B249}"/>
              </a:ext>
            </a:extLst>
          </p:cNvPr>
          <p:cNvSpPr/>
          <p:nvPr/>
        </p:nvSpPr>
        <p:spPr>
          <a:xfrm>
            <a:off x="6278880" y="1341120"/>
            <a:ext cx="5608320" cy="2316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3">
            <a:extLst>
              <a:ext uri="{FF2B5EF4-FFF2-40B4-BE49-F238E27FC236}">
                <a16:creationId xmlns:a16="http://schemas.microsoft.com/office/drawing/2014/main" id="{3760C2F2-CD5E-7661-CBCE-70C873486C3B}"/>
              </a:ext>
            </a:extLst>
          </p:cNvPr>
          <p:cNvSpPr/>
          <p:nvPr/>
        </p:nvSpPr>
        <p:spPr>
          <a:xfrm>
            <a:off x="6278880" y="1341120"/>
            <a:ext cx="85344" cy="2316480"/>
          </a:xfrm>
          <a:prstGeom prst="rect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1049652E-3A18-F494-9AC2-D7523E274D2E}"/>
              </a:ext>
            </a:extLst>
          </p:cNvPr>
          <p:cNvSpPr/>
          <p:nvPr/>
        </p:nvSpPr>
        <p:spPr>
          <a:xfrm>
            <a:off x="6498336" y="1560576"/>
            <a:ext cx="609600" cy="60960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AD3EAE22-4772-A05E-AD5A-6203218D4349}"/>
              </a:ext>
            </a:extLst>
          </p:cNvPr>
          <p:cNvSpPr/>
          <p:nvPr/>
        </p:nvSpPr>
        <p:spPr>
          <a:xfrm>
            <a:off x="6498336" y="1560576"/>
            <a:ext cx="609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67" b="1" dirty="0">
                <a:solidFill>
                  <a:srgbClr val="0E9F8E"/>
                </a:solidFill>
              </a:rPr>
              <a:t>2</a:t>
            </a:r>
            <a:endParaRPr lang="en-US" sz="1867" dirty="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35A748E0-90D3-9408-68B2-57E126616246}"/>
              </a:ext>
            </a:extLst>
          </p:cNvPr>
          <p:cNvSpPr/>
          <p:nvPr/>
        </p:nvSpPr>
        <p:spPr>
          <a:xfrm>
            <a:off x="7278624" y="1560576"/>
            <a:ext cx="438912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00" b="1">
                <a:solidFill>
                  <a:srgbClr val="1A202C"/>
                </a:solidFill>
                <a:latin typeface="Arial"/>
                <a:ea typeface="Arial" pitchFamily="34" charset="-122"/>
                <a:cs typeface="Arial"/>
              </a:rPr>
              <a:t>Install Requirements</a:t>
            </a:r>
            <a:endParaRPr lang="en-US" sz="1700" b="1">
              <a:solidFill>
                <a:srgbClr val="1A202C"/>
              </a:solidFill>
              <a:latin typeface="Arial"/>
              <a:cs typeface="Arial"/>
            </a:endParaRPr>
          </a:p>
        </p:txBody>
      </p:sp>
      <p:sp>
        <p:nvSpPr>
          <p:cNvPr id="20" name="Shape 17">
            <a:extLst>
              <a:ext uri="{FF2B5EF4-FFF2-40B4-BE49-F238E27FC236}">
                <a16:creationId xmlns:a16="http://schemas.microsoft.com/office/drawing/2014/main" id="{C9F72451-787D-E05C-1A88-178246AD5E12}"/>
              </a:ext>
            </a:extLst>
          </p:cNvPr>
          <p:cNvSpPr/>
          <p:nvPr/>
        </p:nvSpPr>
        <p:spPr>
          <a:xfrm>
            <a:off x="6522720" y="2097024"/>
            <a:ext cx="5120640" cy="792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F7EEE96A-2A86-52C1-E2C7-78F31DB2BE2D}"/>
              </a:ext>
            </a:extLst>
          </p:cNvPr>
          <p:cNvSpPr/>
          <p:nvPr/>
        </p:nvSpPr>
        <p:spPr>
          <a:xfrm>
            <a:off x="6644640" y="2097024"/>
            <a:ext cx="487680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50" dirty="0">
                <a:solidFill>
                  <a:srgbClr val="14C4B0"/>
                </a:solidFill>
                <a:latin typeface="Consolas"/>
                <a:ea typeface="Consolas" pitchFamily="34" charset="-122"/>
                <a:cs typeface="Consolas" pitchFamily="34" charset="-120"/>
              </a:rPr>
              <a:t>pip install –r </a:t>
            </a:r>
            <a:r>
              <a:rPr lang="en-US" sz="1250">
                <a:solidFill>
                  <a:srgbClr val="14C4B0"/>
                </a:solidFill>
                <a:latin typeface="Consolas"/>
                <a:ea typeface="Consolas" pitchFamily="34" charset="-122"/>
                <a:cs typeface="Consolas" pitchFamily="34" charset="-120"/>
              </a:rPr>
              <a:t>requirements.txt</a:t>
            </a:r>
            <a:endParaRPr lang="en-US" sz="1250">
              <a:latin typeface="Consolas"/>
            </a:endParaRPr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50E5677E-17B2-2C7D-818A-DACA294BCA9F}"/>
              </a:ext>
            </a:extLst>
          </p:cNvPr>
          <p:cNvSpPr/>
          <p:nvPr/>
        </p:nvSpPr>
        <p:spPr>
          <a:xfrm>
            <a:off x="6522720" y="2962656"/>
            <a:ext cx="499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Install the Python packages.</a:t>
            </a:r>
            <a:endParaRPr lang="en-US" sz="1400">
              <a:latin typeface="Calibri"/>
              <a:ea typeface="Calibri"/>
              <a:cs typeface="Calibri"/>
            </a:endParaRPr>
          </a:p>
        </p:txBody>
      </p:sp>
      <p:sp>
        <p:nvSpPr>
          <p:cNvPr id="23" name="Shape 20">
            <a:extLst>
              <a:ext uri="{FF2B5EF4-FFF2-40B4-BE49-F238E27FC236}">
                <a16:creationId xmlns:a16="http://schemas.microsoft.com/office/drawing/2014/main" id="{6129B378-4FCA-CE2C-2D24-F886B3483C02}"/>
              </a:ext>
            </a:extLst>
          </p:cNvPr>
          <p:cNvSpPr/>
          <p:nvPr/>
        </p:nvSpPr>
        <p:spPr>
          <a:xfrm>
            <a:off x="404836" y="3901440"/>
            <a:ext cx="5569244" cy="2179711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1">
            <a:extLst>
              <a:ext uri="{FF2B5EF4-FFF2-40B4-BE49-F238E27FC236}">
                <a16:creationId xmlns:a16="http://schemas.microsoft.com/office/drawing/2014/main" id="{5E42A0EF-4BD7-AC52-BBA3-0366C84DDBF0}"/>
              </a:ext>
            </a:extLst>
          </p:cNvPr>
          <p:cNvSpPr/>
          <p:nvPr/>
        </p:nvSpPr>
        <p:spPr>
          <a:xfrm>
            <a:off x="365760" y="3901440"/>
            <a:ext cx="85344" cy="2316480"/>
          </a:xfrm>
          <a:prstGeom prst="rect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25" name="Shape 22">
            <a:extLst>
              <a:ext uri="{FF2B5EF4-FFF2-40B4-BE49-F238E27FC236}">
                <a16:creationId xmlns:a16="http://schemas.microsoft.com/office/drawing/2014/main" id="{D4469F6A-2BA4-76E8-9D98-CBA686B35EE3}"/>
              </a:ext>
            </a:extLst>
          </p:cNvPr>
          <p:cNvSpPr/>
          <p:nvPr/>
        </p:nvSpPr>
        <p:spPr>
          <a:xfrm>
            <a:off x="585216" y="4120896"/>
            <a:ext cx="609600" cy="60960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6" name="Text 23">
            <a:extLst>
              <a:ext uri="{FF2B5EF4-FFF2-40B4-BE49-F238E27FC236}">
                <a16:creationId xmlns:a16="http://schemas.microsoft.com/office/drawing/2014/main" id="{402B1E92-645F-E23A-A272-3F835235AAC3}"/>
              </a:ext>
            </a:extLst>
          </p:cNvPr>
          <p:cNvSpPr/>
          <p:nvPr/>
        </p:nvSpPr>
        <p:spPr>
          <a:xfrm>
            <a:off x="585216" y="4120896"/>
            <a:ext cx="609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67" b="1" dirty="0">
                <a:solidFill>
                  <a:srgbClr val="0E9F8E"/>
                </a:solidFill>
              </a:rPr>
              <a:t>3</a:t>
            </a:r>
            <a:endParaRPr lang="en-US" sz="1867" dirty="0"/>
          </a:p>
        </p:txBody>
      </p:sp>
      <p:sp>
        <p:nvSpPr>
          <p:cNvPr id="27" name="Text 24">
            <a:extLst>
              <a:ext uri="{FF2B5EF4-FFF2-40B4-BE49-F238E27FC236}">
                <a16:creationId xmlns:a16="http://schemas.microsoft.com/office/drawing/2014/main" id="{D4F6D143-F737-A457-B4C5-B08007D3F9C9}"/>
              </a:ext>
            </a:extLst>
          </p:cNvPr>
          <p:cNvSpPr/>
          <p:nvPr/>
        </p:nvSpPr>
        <p:spPr>
          <a:xfrm>
            <a:off x="1365504" y="4120896"/>
            <a:ext cx="438912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700" b="1">
                <a:solidFill>
                  <a:srgbClr val="1A202C"/>
                </a:solidFill>
                <a:cs typeface="Arial"/>
              </a:rPr>
              <a:t>Run the Chatbot</a:t>
            </a:r>
            <a:endParaRPr lang="en-US" sz="1700" b="1" dirty="0">
              <a:solidFill>
                <a:srgbClr val="1A202C"/>
              </a:solidFill>
              <a:cs typeface="Arial"/>
            </a:endParaRPr>
          </a:p>
        </p:txBody>
      </p:sp>
      <p:sp>
        <p:nvSpPr>
          <p:cNvPr id="28" name="Shape 25">
            <a:extLst>
              <a:ext uri="{FF2B5EF4-FFF2-40B4-BE49-F238E27FC236}">
                <a16:creationId xmlns:a16="http://schemas.microsoft.com/office/drawing/2014/main" id="{F723A71F-5920-D796-F2A0-7AC4F9632E8D}"/>
              </a:ext>
            </a:extLst>
          </p:cNvPr>
          <p:cNvSpPr/>
          <p:nvPr/>
        </p:nvSpPr>
        <p:spPr>
          <a:xfrm>
            <a:off x="609600" y="4657344"/>
            <a:ext cx="5120640" cy="792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9" name="Text 26">
            <a:extLst>
              <a:ext uri="{FF2B5EF4-FFF2-40B4-BE49-F238E27FC236}">
                <a16:creationId xmlns:a16="http://schemas.microsoft.com/office/drawing/2014/main" id="{A063ED2A-1D34-2C24-5D22-376635734A4C}"/>
              </a:ext>
            </a:extLst>
          </p:cNvPr>
          <p:cNvSpPr/>
          <p:nvPr/>
        </p:nvSpPr>
        <p:spPr>
          <a:xfrm>
            <a:off x="731520" y="4657344"/>
            <a:ext cx="487680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50" dirty="0" err="1">
                <a:solidFill>
                  <a:srgbClr val="14C4B0"/>
                </a:solidFill>
                <a:ea typeface="+mn-lt"/>
                <a:cs typeface="+mn-lt"/>
              </a:rPr>
              <a:t>streamlit</a:t>
            </a:r>
            <a:r>
              <a:rPr lang="en-US" sz="1250" dirty="0">
                <a:solidFill>
                  <a:srgbClr val="14C4B0"/>
                </a:solidFill>
                <a:ea typeface="+mn-lt"/>
                <a:cs typeface="+mn-lt"/>
              </a:rPr>
              <a:t> run app.py</a:t>
            </a:r>
            <a:endParaRPr lang="en-US">
              <a:ea typeface="+mn-lt"/>
              <a:cs typeface="+mn-lt"/>
            </a:endParaRPr>
          </a:p>
        </p:txBody>
      </p:sp>
      <p:sp>
        <p:nvSpPr>
          <p:cNvPr id="30" name="Text 27">
            <a:extLst>
              <a:ext uri="{FF2B5EF4-FFF2-40B4-BE49-F238E27FC236}">
                <a16:creationId xmlns:a16="http://schemas.microsoft.com/office/drawing/2014/main" id="{F0E8EC31-7868-D13C-BA0D-68DC9CBAFB71}"/>
              </a:ext>
            </a:extLst>
          </p:cNvPr>
          <p:cNvSpPr/>
          <p:nvPr/>
        </p:nvSpPr>
        <p:spPr>
          <a:xfrm>
            <a:off x="609600" y="5522976"/>
            <a:ext cx="499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Navigate: </a:t>
            </a:r>
            <a:r>
              <a:rPr lang="en-US" sz="1400" dirty="0">
                <a:solidFill>
                  <a:srgbClr val="64748B"/>
                </a:solidFill>
                <a:ea typeface="+mn-lt"/>
                <a:cs typeface="+mn-lt"/>
              </a:rPr>
              <a:t>http://localhost:8501/</a:t>
            </a:r>
            <a:endParaRPr lang="en-US" sz="1400" dirty="0">
              <a:solidFill>
                <a:srgbClr val="64748B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1" name="Shape 28">
            <a:extLst>
              <a:ext uri="{FF2B5EF4-FFF2-40B4-BE49-F238E27FC236}">
                <a16:creationId xmlns:a16="http://schemas.microsoft.com/office/drawing/2014/main" id="{A5BC6527-29C4-FA8B-F397-7A02F1FB7E51}"/>
              </a:ext>
            </a:extLst>
          </p:cNvPr>
          <p:cNvSpPr/>
          <p:nvPr/>
        </p:nvSpPr>
        <p:spPr>
          <a:xfrm>
            <a:off x="6317956" y="3901440"/>
            <a:ext cx="5569244" cy="2179711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Shape 29">
            <a:extLst>
              <a:ext uri="{FF2B5EF4-FFF2-40B4-BE49-F238E27FC236}">
                <a16:creationId xmlns:a16="http://schemas.microsoft.com/office/drawing/2014/main" id="{819EBD98-B44C-AF3E-E146-7954513B2101}"/>
              </a:ext>
            </a:extLst>
          </p:cNvPr>
          <p:cNvSpPr/>
          <p:nvPr/>
        </p:nvSpPr>
        <p:spPr>
          <a:xfrm>
            <a:off x="6210495" y="3901440"/>
            <a:ext cx="114653" cy="2179711"/>
          </a:xfrm>
          <a:prstGeom prst="rect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33" name="Shape 30">
            <a:extLst>
              <a:ext uri="{FF2B5EF4-FFF2-40B4-BE49-F238E27FC236}">
                <a16:creationId xmlns:a16="http://schemas.microsoft.com/office/drawing/2014/main" id="{7FDE688B-674D-A71F-F955-C9D250A718DB}"/>
              </a:ext>
            </a:extLst>
          </p:cNvPr>
          <p:cNvSpPr/>
          <p:nvPr/>
        </p:nvSpPr>
        <p:spPr>
          <a:xfrm>
            <a:off x="6498336" y="4120896"/>
            <a:ext cx="609600" cy="60960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4" name="Text 31">
            <a:extLst>
              <a:ext uri="{FF2B5EF4-FFF2-40B4-BE49-F238E27FC236}">
                <a16:creationId xmlns:a16="http://schemas.microsoft.com/office/drawing/2014/main" id="{BC44ED6E-63D9-387A-F617-486F049B03EB}"/>
              </a:ext>
            </a:extLst>
          </p:cNvPr>
          <p:cNvSpPr/>
          <p:nvPr/>
        </p:nvSpPr>
        <p:spPr>
          <a:xfrm>
            <a:off x="6498336" y="4120896"/>
            <a:ext cx="609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67" b="1" dirty="0">
                <a:solidFill>
                  <a:srgbClr val="0E9F8E"/>
                </a:solidFill>
              </a:rPr>
              <a:t>4</a:t>
            </a:r>
            <a:endParaRPr lang="en-US" sz="1867" dirty="0"/>
          </a:p>
        </p:txBody>
      </p:sp>
      <p:sp>
        <p:nvSpPr>
          <p:cNvPr id="35" name="Text 32">
            <a:extLst>
              <a:ext uri="{FF2B5EF4-FFF2-40B4-BE49-F238E27FC236}">
                <a16:creationId xmlns:a16="http://schemas.microsoft.com/office/drawing/2014/main" id="{5381CB72-32BB-648F-9A92-9571F9C37362}"/>
              </a:ext>
            </a:extLst>
          </p:cNvPr>
          <p:cNvSpPr/>
          <p:nvPr/>
        </p:nvSpPr>
        <p:spPr>
          <a:xfrm>
            <a:off x="7278624" y="4120896"/>
            <a:ext cx="438912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700" b="1">
                <a:solidFill>
                  <a:srgbClr val="1A202C"/>
                </a:solidFill>
                <a:cs typeface="Arial"/>
              </a:rPr>
              <a:t>Test the </a:t>
            </a:r>
            <a:r>
              <a:rPr lang="en-US" sz="1700" b="1" err="1">
                <a:solidFill>
                  <a:srgbClr val="1A202C"/>
                </a:solidFill>
                <a:cs typeface="Arial"/>
              </a:rPr>
              <a:t>Chatbo</a:t>
            </a:r>
            <a:r>
              <a:rPr lang="en-US" sz="1700" b="1">
                <a:solidFill>
                  <a:srgbClr val="1A202C"/>
                </a:solidFill>
                <a:cs typeface="Arial"/>
              </a:rPr>
              <a:t>t</a:t>
            </a:r>
            <a:endParaRPr lang="en-US" sz="1700" b="1" dirty="0">
              <a:solidFill>
                <a:srgbClr val="1A202C"/>
              </a:solidFill>
              <a:cs typeface="Arial"/>
            </a:endParaRPr>
          </a:p>
        </p:txBody>
      </p:sp>
      <p:sp>
        <p:nvSpPr>
          <p:cNvPr id="36" name="Shape 33">
            <a:extLst>
              <a:ext uri="{FF2B5EF4-FFF2-40B4-BE49-F238E27FC236}">
                <a16:creationId xmlns:a16="http://schemas.microsoft.com/office/drawing/2014/main" id="{7C2DE416-1734-A5AC-8D69-232878224BA1}"/>
              </a:ext>
            </a:extLst>
          </p:cNvPr>
          <p:cNvSpPr/>
          <p:nvPr/>
        </p:nvSpPr>
        <p:spPr>
          <a:xfrm>
            <a:off x="6522720" y="4657344"/>
            <a:ext cx="5120640" cy="792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7" name="Text 34">
            <a:extLst>
              <a:ext uri="{FF2B5EF4-FFF2-40B4-BE49-F238E27FC236}">
                <a16:creationId xmlns:a16="http://schemas.microsoft.com/office/drawing/2014/main" id="{48AC0A46-15E0-1510-E5CC-5B58EFC352C2}"/>
              </a:ext>
            </a:extLst>
          </p:cNvPr>
          <p:cNvSpPr/>
          <p:nvPr/>
        </p:nvSpPr>
        <p:spPr>
          <a:xfrm>
            <a:off x="6644640" y="4657344"/>
            <a:ext cx="487680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50" dirty="0" err="1">
                <a:solidFill>
                  <a:srgbClr val="14C4B0"/>
                </a:solidFill>
                <a:ea typeface="+mn-lt"/>
                <a:cs typeface="+mn-lt"/>
              </a:rPr>
              <a:t>venv</a:t>
            </a:r>
            <a:r>
              <a:rPr lang="en-US" sz="1250" dirty="0">
                <a:solidFill>
                  <a:srgbClr val="14C4B0"/>
                </a:solidFill>
                <a:ea typeface="+mn-lt"/>
                <a:cs typeface="+mn-lt"/>
              </a:rPr>
              <a:t>\Scripts\activate</a:t>
            </a:r>
            <a:endParaRPr lang="en-US" dirty="0"/>
          </a:p>
          <a:p>
            <a:r>
              <a:rPr lang="en-US" sz="1250">
                <a:solidFill>
                  <a:srgbClr val="14C4B0"/>
                </a:solidFill>
                <a:latin typeface="Consolas"/>
              </a:rPr>
              <a:t>python </a:t>
            </a:r>
            <a:r>
              <a:rPr lang="en-US" sz="1250">
                <a:solidFill>
                  <a:srgbClr val="14C4B0"/>
                </a:solidFill>
                <a:ea typeface="+mn-lt"/>
                <a:cs typeface="+mn-lt"/>
              </a:rPr>
              <a:t>fill_test_sheet.py</a:t>
            </a:r>
            <a:endParaRPr lang="en-US" sz="1250" dirty="0">
              <a:solidFill>
                <a:srgbClr val="14C4B0"/>
              </a:solidFill>
              <a:latin typeface="Consolas"/>
            </a:endParaRPr>
          </a:p>
        </p:txBody>
      </p:sp>
      <p:sp>
        <p:nvSpPr>
          <p:cNvPr id="38" name="Text 35">
            <a:extLst>
              <a:ext uri="{FF2B5EF4-FFF2-40B4-BE49-F238E27FC236}">
                <a16:creationId xmlns:a16="http://schemas.microsoft.com/office/drawing/2014/main" id="{AEBE0C89-1A2D-10F0-2803-FF97694CBADE}"/>
              </a:ext>
            </a:extLst>
          </p:cNvPr>
          <p:cNvSpPr/>
          <p:nvPr/>
        </p:nvSpPr>
        <p:spPr>
          <a:xfrm>
            <a:off x="6522720" y="5522976"/>
            <a:ext cx="499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Run the test.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0398489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2192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43840" y="121920"/>
            <a:ext cx="109728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650" b="1" dirty="0">
              <a:solidFill>
                <a:srgbClr val="0E9F8E"/>
              </a:solidFill>
              <a:latin typeface="Arial Black"/>
            </a:endParaRPr>
          </a:p>
        </p:txBody>
      </p:sp>
      <p:sp>
        <p:nvSpPr>
          <p:cNvPr id="5" name="Text 3"/>
          <p:cNvSpPr/>
          <p:nvPr/>
        </p:nvSpPr>
        <p:spPr>
          <a:xfrm>
            <a:off x="1341120" y="146304"/>
            <a:ext cx="97536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Test EDGE Chatbot Automatically</a:t>
            </a:r>
            <a:endParaRPr lang="en-US" sz="3200" dirty="0"/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55CAAA9-E2F5-D7A2-E0D6-49CB47C2D5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8529" y="1571625"/>
            <a:ext cx="9657818" cy="397192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Q&amp;A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CAD2D6BD-DE1B-4B5F-8B41-2702339687B9}" type="slidenum">
              <a:rPr lang="en-US" altLang="zh-CN" smtClean="0">
                <a:solidFill>
                  <a:srgbClr val="888888"/>
                </a:solidFill>
                <a:ea typeface="Calibri" charset="0"/>
                <a:sym typeface="Calibri" charset="0"/>
              </a:rPr>
              <a:pPr algn="r"/>
              <a:t>16</a:t>
            </a:fld>
            <a:endParaRPr lang="zh-CN" altLang="en-US">
              <a:solidFill>
                <a:srgbClr val="888888"/>
              </a:solidFill>
              <a:ea typeface="Calibri" charset="0"/>
              <a:sym typeface="Calibri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Any Questions?</a:t>
            </a:r>
          </a:p>
        </p:txBody>
      </p:sp>
    </p:spTree>
    <p:extLst>
      <p:ext uri="{BB962C8B-B14F-4D97-AF65-F5344CB8AC3E}">
        <p14:creationId xmlns:p14="http://schemas.microsoft.com/office/powerpoint/2010/main" val="154861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A92E51-2BEF-E3AA-0723-CF4C9AC470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4C7946E-6137-2589-72B1-79D5513D44D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CAD2D6BD-DE1B-4B5F-8B41-2702339687B9}" type="slidenum">
              <a:rPr lang="en-US" altLang="zh-CN" smtClean="0">
                <a:solidFill>
                  <a:srgbClr val="888888"/>
                </a:solidFill>
                <a:ea typeface="Calibri" charset="0"/>
                <a:sym typeface="Calibri" charset="0"/>
              </a:rPr>
              <a:pPr algn="r"/>
              <a:t>17</a:t>
            </a:fld>
            <a:endParaRPr lang="zh-CN" altLang="en-US">
              <a:solidFill>
                <a:srgbClr val="888888"/>
              </a:solidFill>
              <a:ea typeface="Calibri" charset="0"/>
              <a:sym typeface="Calibri" charset="0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8F3EE4C-A74C-F34B-641E-DAB8BE67FB3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BC0464D9-BE4F-25E3-3C97-C786F04974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200">
                <a:solidFill>
                  <a:schemeClr val="tx1"/>
                </a:solidFill>
              </a:rPr>
              <a:t>Thanks</a:t>
            </a:r>
            <a:endParaRPr lang="en-US" sz="5200"/>
          </a:p>
          <a:p>
            <a:endParaRPr lang="en-US"/>
          </a:p>
        </p:txBody>
      </p:sp>
      <p:graphicFrame>
        <p:nvGraphicFramePr>
          <p:cNvPr id="19" name="Text Placeholder 3">
            <a:extLst>
              <a:ext uri="{FF2B5EF4-FFF2-40B4-BE49-F238E27FC236}">
                <a16:creationId xmlns:a16="http://schemas.microsoft.com/office/drawing/2014/main" id="{D3BBEF13-E0C8-2D36-EBA1-56DA2EB871C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77019769"/>
              </p:ext>
            </p:extLst>
          </p:nvPr>
        </p:nvGraphicFramePr>
        <p:xfrm>
          <a:off x="827903" y="1949192"/>
          <a:ext cx="10525897" cy="42277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604107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E7E6E6"/>
      </a:dk2>
      <a:lt2>
        <a:srgbClr val="44546A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notesMaster1">
  <a:themeElements>
    <a:clrScheme name="notesMaster1">
      <a:dk1>
        <a:srgbClr val="000000"/>
      </a:dk1>
      <a:lt1>
        <a:srgbClr val="FFFFFF"/>
      </a:lt1>
      <a:dk2>
        <a:srgbClr val="E7E6E6"/>
      </a:dk2>
      <a:lt2>
        <a:srgbClr val="44546A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notesMaster1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notesMaster1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handoutMaster1">
  <a:themeElements>
    <a:clrScheme name="handoutMaster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handoutMaster1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handoutMaster1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1680F2E875A6F4C8A5AC31823EE5322" ma:contentTypeVersion="3" ma:contentTypeDescription="Create a new document." ma:contentTypeScope="" ma:versionID="7299fbc07b3282582e917d0409e758c5">
  <xsd:schema xmlns:xsd="http://www.w3.org/2001/XMLSchema" xmlns:xs="http://www.w3.org/2001/XMLSchema" xmlns:p="http://schemas.microsoft.com/office/2006/metadata/properties" xmlns:ns2="ae17ed94-213e-4d33-81db-1e7f92ff4ebb" targetNamespace="http://schemas.microsoft.com/office/2006/metadata/properties" ma:root="true" ma:fieldsID="f1f32ed49b25ec90362555824d00dbce" ns2:_="">
    <xsd:import namespace="ae17ed94-213e-4d33-81db-1e7f92ff4eb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e17ed94-213e-4d33-81db-1e7f92ff4eb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80A8CC9-6CB9-4442-A4A0-CCC1121C5A8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561DBE2-C7D3-4BB5-AC84-2E5A62EC767F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D8080C8A-B964-45FE-A694-C5A6190098F1}">
  <ds:schemaRefs>
    <ds:schemaRef ds:uri="ae17ed94-213e-4d33-81db-1e7f92ff4eb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Application>Microsoft Office PowerPoint</Application>
  <PresentationFormat>Widescreen</PresentationFormat>
  <Slides>17</Slides>
  <Notes>14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Office Theme</vt:lpstr>
      <vt:lpstr>PowerPoint Presentation</vt:lpstr>
      <vt:lpstr>Outline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Q&amp;A</vt:lpstr>
      <vt:lpstr>Thanks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Muhammad Golam Soroar</dc:creator>
  <cp:revision>471</cp:revision>
  <cp:lastPrinted>2025-04-26T15:15:36Z</cp:lastPrinted>
  <dcterms:created xsi:type="dcterms:W3CDTF">2024-06-24T19:24:23Z</dcterms:created>
  <dcterms:modified xsi:type="dcterms:W3CDTF">2026-05-09T16:41:07Z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0x010100C1680F2E875A6F4C8A5AC31823EE5322</vt:lpwstr>
  </property>
</Properties>
</file>