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6" r:id="rId5"/>
    <p:sldId id="282" r:id="rId6"/>
    <p:sldId id="286" r:id="rId7"/>
    <p:sldId id="257" r:id="rId8"/>
    <p:sldId id="287" r:id="rId9"/>
    <p:sldId id="285" r:id="rId10"/>
    <p:sldId id="284" r:id="rId11"/>
    <p:sldId id="283" r:id="rId12"/>
    <p:sldId id="260" r:id="rId13"/>
    <p:sldId id="270" r:id="rId14"/>
    <p:sldId id="281" r:id="rId15"/>
  </p:sldIdLst>
  <p:sldSz cx="12192000" cy="6858000"/>
  <p:notesSz cx="9144000" cy="6858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754644-0CEF-3BEE-6176-4D83F9776514}" v="88" dt="2026-05-07T06:35:53.963"/>
    <p1510:client id="{95671060-86CF-097D-3B32-E52FCEE5E2B9}" v="211" dt="2026-05-07T07:09:33.477"/>
    <p1510:client id="{C31A32F6-7D94-D00B-C00D-973E044BE408}" v="20" dt="2026-05-07T07:40:35.687"/>
    <p1510:client id="{D4AD6D34-550B-AE94-1998-3C1B178D7F57}" v="708" dt="2026-05-05T16:22:00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B4E3A-62AB-47AB-B20B-D859638A63D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34C5B9F-75B1-4FE0-945D-A340F2C560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>
              <a:latin typeface="Arial"/>
              <a:cs typeface="Arial"/>
            </a:rPr>
            <a:t>Md. Golam </a:t>
          </a:r>
          <a:r>
            <a:rPr lang="en-US" b="0" i="0" err="1">
              <a:latin typeface="Arial"/>
              <a:cs typeface="Arial"/>
            </a:rPr>
            <a:t>Mostofa</a:t>
          </a:r>
          <a:endParaRPr lang="en-US">
            <a:latin typeface="Arial"/>
            <a:cs typeface="Arial"/>
          </a:endParaRPr>
        </a:p>
      </dgm:t>
    </dgm:pt>
    <dgm:pt modelId="{E287CCD7-21BC-4BF5-890C-89A1712065F4}" type="parTrans" cxnId="{BC3DF74D-5B4E-4CCB-A6DB-5BF48112732A}">
      <dgm:prSet/>
      <dgm:spPr/>
      <dgm:t>
        <a:bodyPr/>
        <a:lstStyle/>
        <a:p>
          <a:endParaRPr lang="en-US"/>
        </a:p>
      </dgm:t>
    </dgm:pt>
    <dgm:pt modelId="{80B600AD-880D-46F0-BADE-FCF208A5E615}" type="sibTrans" cxnId="{BC3DF74D-5B4E-4CCB-A6DB-5BF48112732A}">
      <dgm:prSet/>
      <dgm:spPr/>
      <dgm:t>
        <a:bodyPr/>
        <a:lstStyle/>
        <a:p>
          <a:endParaRPr lang="en-US"/>
        </a:p>
      </dgm:t>
    </dgm:pt>
    <dgm:pt modelId="{29780693-460C-4711-AB25-345984E199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cap="none"/>
            <a:t>golam.mostofa@bizzntek.com</a:t>
          </a:r>
          <a:endParaRPr lang="en-US" cap="none"/>
        </a:p>
      </dgm:t>
    </dgm:pt>
    <dgm:pt modelId="{D6507A44-C958-4E78-875F-AEB81F4CCBB0}" type="parTrans" cxnId="{813304BA-7F23-404A-951C-40EAB56ABAD3}">
      <dgm:prSet/>
      <dgm:spPr/>
      <dgm:t>
        <a:bodyPr/>
        <a:lstStyle/>
        <a:p>
          <a:endParaRPr lang="en-US"/>
        </a:p>
      </dgm:t>
    </dgm:pt>
    <dgm:pt modelId="{6A2BE5BA-A623-456A-8804-388AAB892599}" type="sibTrans" cxnId="{813304BA-7F23-404A-951C-40EAB56ABAD3}">
      <dgm:prSet/>
      <dgm:spPr/>
      <dgm:t>
        <a:bodyPr/>
        <a:lstStyle/>
        <a:p>
          <a:endParaRPr lang="en-US"/>
        </a:p>
      </dgm:t>
    </dgm:pt>
    <dgm:pt modelId="{6A224A11-3F19-4EF8-BB40-B20015FE2037}" type="pres">
      <dgm:prSet presAssocID="{71CB4E3A-62AB-47AB-B20B-D859638A63D5}" presName="root" presStyleCnt="0">
        <dgm:presLayoutVars>
          <dgm:dir/>
          <dgm:resizeHandles val="exact"/>
        </dgm:presLayoutVars>
      </dgm:prSet>
      <dgm:spPr/>
    </dgm:pt>
    <dgm:pt modelId="{B44094F6-0140-460D-AABE-E4F39168016D}" type="pres">
      <dgm:prSet presAssocID="{C34C5B9F-75B1-4FE0-945D-A340F2C560AC}" presName="compNode" presStyleCnt="0"/>
      <dgm:spPr/>
    </dgm:pt>
    <dgm:pt modelId="{7E3D7DBC-AE01-4F56-BA02-08F174EA30D5}" type="pres">
      <dgm:prSet presAssocID="{C34C5B9F-75B1-4FE0-945D-A340F2C560A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B9CAAD2-8EB4-44F9-9703-A3021467F4F5}" type="pres">
      <dgm:prSet presAssocID="{C34C5B9F-75B1-4FE0-945D-A340F2C560A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</dgm:pt>
    <dgm:pt modelId="{D43D5112-3EE7-46CF-A020-32F2ED542861}" type="pres">
      <dgm:prSet presAssocID="{C34C5B9F-75B1-4FE0-945D-A340F2C560AC}" presName="spaceRect" presStyleCnt="0"/>
      <dgm:spPr/>
    </dgm:pt>
    <dgm:pt modelId="{43E16532-A1A6-4909-8439-A51889B6B6C8}" type="pres">
      <dgm:prSet presAssocID="{C34C5B9F-75B1-4FE0-945D-A340F2C560AC}" presName="textRect" presStyleLbl="revTx" presStyleIdx="0" presStyleCnt="2">
        <dgm:presLayoutVars>
          <dgm:chMax val="1"/>
          <dgm:chPref val="1"/>
        </dgm:presLayoutVars>
      </dgm:prSet>
      <dgm:spPr/>
    </dgm:pt>
    <dgm:pt modelId="{F008E458-E638-46C1-832E-6505CA4BA4C9}" type="pres">
      <dgm:prSet presAssocID="{80B600AD-880D-46F0-BADE-FCF208A5E615}" presName="sibTrans" presStyleCnt="0"/>
      <dgm:spPr/>
    </dgm:pt>
    <dgm:pt modelId="{45879739-AF6D-4E84-A821-5040EDA923D1}" type="pres">
      <dgm:prSet presAssocID="{29780693-460C-4711-AB25-345984E1997A}" presName="compNode" presStyleCnt="0"/>
      <dgm:spPr/>
    </dgm:pt>
    <dgm:pt modelId="{53A473AA-2D47-4001-88EC-BBC7E7523C58}" type="pres">
      <dgm:prSet presAssocID="{29780693-460C-4711-AB25-345984E1997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19002C0-3907-4944-A085-0062B2B4063A}" type="pres">
      <dgm:prSet presAssocID="{29780693-460C-4711-AB25-345984E1997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46EED30-1B26-484D-B67A-18D247CAB26C}" type="pres">
      <dgm:prSet presAssocID="{29780693-460C-4711-AB25-345984E1997A}" presName="spaceRect" presStyleCnt="0"/>
      <dgm:spPr/>
    </dgm:pt>
    <dgm:pt modelId="{1AF53B96-4F0A-4B87-96A2-FCFF3DBD857B}" type="pres">
      <dgm:prSet presAssocID="{29780693-460C-4711-AB25-345984E1997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2DC1713-DFD1-4CB8-B9C7-64C25CD6EE56}" type="presOf" srcId="{71CB4E3A-62AB-47AB-B20B-D859638A63D5}" destId="{6A224A11-3F19-4EF8-BB40-B20015FE2037}" srcOrd="0" destOrd="0" presId="urn:microsoft.com/office/officeart/2018/5/layout/IconLeafLabelList"/>
    <dgm:cxn modelId="{824D683E-B930-4D0E-AE6F-FCE499697379}" type="presOf" srcId="{C34C5B9F-75B1-4FE0-945D-A340F2C560AC}" destId="{43E16532-A1A6-4909-8439-A51889B6B6C8}" srcOrd="0" destOrd="0" presId="urn:microsoft.com/office/officeart/2018/5/layout/IconLeafLabelList"/>
    <dgm:cxn modelId="{BC3DF74D-5B4E-4CCB-A6DB-5BF48112732A}" srcId="{71CB4E3A-62AB-47AB-B20B-D859638A63D5}" destId="{C34C5B9F-75B1-4FE0-945D-A340F2C560AC}" srcOrd="0" destOrd="0" parTransId="{E287CCD7-21BC-4BF5-890C-89A1712065F4}" sibTransId="{80B600AD-880D-46F0-BADE-FCF208A5E615}"/>
    <dgm:cxn modelId="{813304BA-7F23-404A-951C-40EAB56ABAD3}" srcId="{71CB4E3A-62AB-47AB-B20B-D859638A63D5}" destId="{29780693-460C-4711-AB25-345984E1997A}" srcOrd="1" destOrd="0" parTransId="{D6507A44-C958-4E78-875F-AEB81F4CCBB0}" sibTransId="{6A2BE5BA-A623-456A-8804-388AAB892599}"/>
    <dgm:cxn modelId="{7894E7BE-F1A2-459F-BC5B-D849874748F6}" type="presOf" srcId="{29780693-460C-4711-AB25-345984E1997A}" destId="{1AF53B96-4F0A-4B87-96A2-FCFF3DBD857B}" srcOrd="0" destOrd="0" presId="urn:microsoft.com/office/officeart/2018/5/layout/IconLeafLabelList"/>
    <dgm:cxn modelId="{354D9379-EDFA-432A-A362-3888E71AD8BC}" type="presParOf" srcId="{6A224A11-3F19-4EF8-BB40-B20015FE2037}" destId="{B44094F6-0140-460D-AABE-E4F39168016D}" srcOrd="0" destOrd="0" presId="urn:microsoft.com/office/officeart/2018/5/layout/IconLeafLabelList"/>
    <dgm:cxn modelId="{F2BD6D16-4BC5-4F26-BC6C-4099E6162490}" type="presParOf" srcId="{B44094F6-0140-460D-AABE-E4F39168016D}" destId="{7E3D7DBC-AE01-4F56-BA02-08F174EA30D5}" srcOrd="0" destOrd="0" presId="urn:microsoft.com/office/officeart/2018/5/layout/IconLeafLabelList"/>
    <dgm:cxn modelId="{3AB18AEE-AFCF-4D8A-A853-36062C847F32}" type="presParOf" srcId="{B44094F6-0140-460D-AABE-E4F39168016D}" destId="{CB9CAAD2-8EB4-44F9-9703-A3021467F4F5}" srcOrd="1" destOrd="0" presId="urn:microsoft.com/office/officeart/2018/5/layout/IconLeafLabelList"/>
    <dgm:cxn modelId="{1FFEE408-341A-49CA-BABE-AD833860443B}" type="presParOf" srcId="{B44094F6-0140-460D-AABE-E4F39168016D}" destId="{D43D5112-3EE7-46CF-A020-32F2ED542861}" srcOrd="2" destOrd="0" presId="urn:microsoft.com/office/officeart/2018/5/layout/IconLeafLabelList"/>
    <dgm:cxn modelId="{EE7AB2C9-8DD1-4EC1-9FE8-34A4FE1DD4FC}" type="presParOf" srcId="{B44094F6-0140-460D-AABE-E4F39168016D}" destId="{43E16532-A1A6-4909-8439-A51889B6B6C8}" srcOrd="3" destOrd="0" presId="urn:microsoft.com/office/officeart/2018/5/layout/IconLeafLabelList"/>
    <dgm:cxn modelId="{A6FB0B3A-B75A-4406-AFC2-247EA1C76743}" type="presParOf" srcId="{6A224A11-3F19-4EF8-BB40-B20015FE2037}" destId="{F008E458-E638-46C1-832E-6505CA4BA4C9}" srcOrd="1" destOrd="0" presId="urn:microsoft.com/office/officeart/2018/5/layout/IconLeafLabelList"/>
    <dgm:cxn modelId="{6978E7F9-AD9B-44DC-A4F4-128878F92D64}" type="presParOf" srcId="{6A224A11-3F19-4EF8-BB40-B20015FE2037}" destId="{45879739-AF6D-4E84-A821-5040EDA923D1}" srcOrd="2" destOrd="0" presId="urn:microsoft.com/office/officeart/2018/5/layout/IconLeafLabelList"/>
    <dgm:cxn modelId="{FF1F593F-CBC1-4CE2-9D01-34CFFBF6A889}" type="presParOf" srcId="{45879739-AF6D-4E84-A821-5040EDA923D1}" destId="{53A473AA-2D47-4001-88EC-BBC7E7523C58}" srcOrd="0" destOrd="0" presId="urn:microsoft.com/office/officeart/2018/5/layout/IconLeafLabelList"/>
    <dgm:cxn modelId="{160FFA6F-58C7-4BC6-BC6E-97E1EEA69D24}" type="presParOf" srcId="{45879739-AF6D-4E84-A821-5040EDA923D1}" destId="{C19002C0-3907-4944-A085-0062B2B4063A}" srcOrd="1" destOrd="0" presId="urn:microsoft.com/office/officeart/2018/5/layout/IconLeafLabelList"/>
    <dgm:cxn modelId="{F2C20CFB-E343-4762-97D1-F844D05116F5}" type="presParOf" srcId="{45879739-AF6D-4E84-A821-5040EDA923D1}" destId="{146EED30-1B26-484D-B67A-18D247CAB26C}" srcOrd="2" destOrd="0" presId="urn:microsoft.com/office/officeart/2018/5/layout/IconLeafLabelList"/>
    <dgm:cxn modelId="{AC42820C-C8A9-4A56-870E-9A795931D459}" type="presParOf" srcId="{45879739-AF6D-4E84-A821-5040EDA923D1}" destId="{1AF53B96-4F0A-4B87-96A2-FCFF3DBD857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D7DBC-AE01-4F56-BA02-08F174EA30D5}">
      <dsp:nvSpPr>
        <dsp:cNvPr id="0" name=""/>
        <dsp:cNvSpPr/>
      </dsp:nvSpPr>
      <dsp:spPr>
        <a:xfrm>
          <a:off x="2049948" y="313885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CAAD2-8EB4-44F9-9703-A3021467F4F5}">
      <dsp:nvSpPr>
        <dsp:cNvPr id="0" name=""/>
        <dsp:cNvSpPr/>
      </dsp:nvSpPr>
      <dsp:spPr>
        <a:xfrm>
          <a:off x="2517948" y="781885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16532-A1A6-4909-8439-A51889B6B6C8}">
      <dsp:nvSpPr>
        <dsp:cNvPr id="0" name=""/>
        <dsp:cNvSpPr/>
      </dsp:nvSpPr>
      <dsp:spPr>
        <a:xfrm>
          <a:off x="1347948" y="319388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0" i="0" kern="1200">
              <a:latin typeface="Arial"/>
              <a:cs typeface="Arial"/>
            </a:rPr>
            <a:t>Md. Golam </a:t>
          </a:r>
          <a:r>
            <a:rPr lang="en-US" sz="2100" b="0" i="0" kern="1200" err="1">
              <a:latin typeface="Arial"/>
              <a:cs typeface="Arial"/>
            </a:rPr>
            <a:t>Mostofa</a:t>
          </a:r>
          <a:endParaRPr lang="en-US" sz="2100" kern="1200">
            <a:latin typeface="Arial"/>
            <a:cs typeface="Arial"/>
          </a:endParaRPr>
        </a:p>
      </dsp:txBody>
      <dsp:txXfrm>
        <a:off x="1347948" y="3193885"/>
        <a:ext cx="3600000" cy="720000"/>
      </dsp:txXfrm>
    </dsp:sp>
    <dsp:sp modelId="{53A473AA-2D47-4001-88EC-BBC7E7523C58}">
      <dsp:nvSpPr>
        <dsp:cNvPr id="0" name=""/>
        <dsp:cNvSpPr/>
      </dsp:nvSpPr>
      <dsp:spPr>
        <a:xfrm>
          <a:off x="6279948" y="313885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002C0-3907-4944-A085-0062B2B4063A}">
      <dsp:nvSpPr>
        <dsp:cNvPr id="0" name=""/>
        <dsp:cNvSpPr/>
      </dsp:nvSpPr>
      <dsp:spPr>
        <a:xfrm>
          <a:off x="6747948" y="781885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53B96-4F0A-4B87-96A2-FCFF3DBD857B}">
      <dsp:nvSpPr>
        <dsp:cNvPr id="0" name=""/>
        <dsp:cNvSpPr/>
      </dsp:nvSpPr>
      <dsp:spPr>
        <a:xfrm>
          <a:off x="5577948" y="319388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0" i="0" kern="1200" cap="none"/>
            <a:t>golam.mostofa@bizzntek.com</a:t>
          </a:r>
          <a:endParaRPr lang="en-US" sz="2100" kern="1200" cap="none"/>
        </a:p>
      </dsp:txBody>
      <dsp:txXfrm>
        <a:off x="5577948" y="319388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"/>
          <p:cNvSpPr>
            <a:spLocks noGrp="1"/>
          </p:cNvSpPr>
          <p:nvPr>
            <p:ph type="hdr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t" anchorCtr="0">
            <a:prstTxWarp prst="textNoShape">
              <a:avLst/>
            </a:prstTxWarp>
          </a:bodyPr>
          <a:lstStyle/>
          <a:p>
            <a:pPr algn="l"/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4" name="Text box"/>
          <p:cNvSpPr>
            <a:spLocks noGrp="1"/>
          </p:cNvSpPr>
          <p:nvPr>
            <p:ph type="dt" idx="1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300">
                <a:latin typeface="Arial" charset="0"/>
                <a:ea typeface="Arial" charset="0"/>
                <a:cs typeface="Arial" charset="0"/>
                <a:sym typeface="Arial" charset="0"/>
              </a:rPr>
              <a:t>5/7/2026</a:t>
            </a:fld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5" name="Text box"/>
          <p:cNvSpPr>
            <a:spLocks noGrp="1"/>
          </p:cNvSpPr>
          <p:nvPr>
            <p:ph type="ftr" idx="2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b" anchorCtr="0">
            <a:prstTxWarp prst="textNoShape">
              <a:avLst/>
            </a:prstTxWarp>
          </a:bodyPr>
          <a:lstStyle/>
          <a:p>
            <a:pPr algn="l"/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6" name="Text box"/>
          <p:cNvSpPr>
            <a:spLocks noGrp="1"/>
          </p:cNvSpPr>
          <p:nvPr>
            <p:ph type="sldNum" idx="3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‹#›</a:t>
            </a:fld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21148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‹#›</a:t>
            </a:fld>
            <a:endParaRPr lang="zh-CN" altLang="en-US" sz="130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hdr" idx="2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dt" idx="10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cap="none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9" name="Object"/>
          <p:cNvSpPr>
            <a:spLocks noGrp="1" noRot="1" noChangeAspect="1"/>
          </p:cNvSpPr>
          <p:nvPr>
            <p:ph type="sldImg" idx="3"/>
          </p:nvPr>
        </p:nvSpPr>
        <p:spPr>
          <a:xfrm>
            <a:off x="3978275" y="914400"/>
            <a:ext cx="4387850" cy="2468562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Text box"/>
          <p:cNvSpPr>
            <a:spLocks noGrp="1"/>
          </p:cNvSpPr>
          <p:nvPr>
            <p:ph type="body" idx="1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marL="457200" indent="-228600"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11" name="Text box"/>
          <p:cNvSpPr>
            <a:spLocks noGrp="1"/>
          </p:cNvSpPr>
          <p:nvPr>
            <p:ph type="ftr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191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</a:t>
            </a:fld>
            <a:endParaRPr lang="zh-CN" altLang="en-US" sz="130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9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978275" y="914400"/>
            <a:ext cx="4387850" cy="2468563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0" name="Text box"/>
          <p:cNvSpPr>
            <a:spLocks noGrp="1"/>
          </p:cNvSpPr>
          <p:nvPr>
            <p:ph type="body" idx="1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Rectangles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90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9BD3-D82A-84A9-A47C-F08B04AD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F8ED7-191D-4219-02FD-A9FD54734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9D77C-4503-7A87-B2BD-0A5CD963C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AED6E-D519-389F-F9CC-A69018EAA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54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1169-C454-D690-BF04-9861D89E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94915-BDD4-FC66-D5FF-92F80EC96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BBF14-0D78-34B7-CB42-27965796E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1974A-62D9-4756-574D-9361AE642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87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86622-978D-D5EE-2CA6-000B6F1D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83503-B7B0-4921-812D-5E8F719D9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88E73-CA41-4172-3688-6256910EF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A8E48-5FB2-5B9D-7641-749F8C2F7D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83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22" name="Rectangles"/>
            <p:cNvSpPr>
              <a:spLocks/>
            </p:cNvSpPr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 w="12700" cap="flat" cmpd="sng">
              <a:noFill/>
              <a:prstDash val="solid"/>
              <a:round/>
            </a:ln>
          </p:spPr>
        </p:sp>
        <p:grpSp>
          <p:nvGrpSpPr>
            <p:cNvPr id="5" name="Group 4"/>
            <p:cNvGrpSpPr/>
            <p:nvPr userDrawn="1"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id="24" name="Images" descr="DUET"/>
              <p:cNvPicPr>
                <a:picLocks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</p:pic>
          <p:pic>
            <p:nvPicPr>
              <p:cNvPr id="2050" name="Picture 2" descr="EDGE Bangladesh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8" name="Picture 10" descr="BCCTMS - Login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" name="Text box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6000">
                <a:latin typeface="+mj-lt"/>
                <a:cs typeface="Times New Roman" panose="02020603050405020304" pitchFamily="18" charset="0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60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/>
            </a:endParaRPr>
          </a:p>
        </p:txBody>
      </p:sp>
      <p:sp>
        <p:nvSpPr>
          <p:cNvPr id="18" name="Text box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/>
            </a:endParaRPr>
          </a:p>
        </p:txBody>
      </p:sp>
      <p:sp>
        <p:nvSpPr>
          <p:cNvPr id="19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0" name="Text box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1" name="Text box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algn="r"/>
            <a:fld id="{CAD2D6BD-DE1B-4B5F-8B41-2702339687B9}" type="slidenum">
              <a:rPr lang="en-US" altLang="zh-CN" b="0" smtClean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pPr algn="r"/>
              <a:t>‹#›</a:t>
            </a:fld>
            <a:endParaRPr lang="zh-CN" altLang="en-US" b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>
            <a:off x="493487" y="391886"/>
            <a:ext cx="11219542" cy="5584507"/>
            <a:chOff x="1028700" y="1028700"/>
            <a:chExt cx="16230600" cy="8229600"/>
          </a:xfrm>
        </p:grpSpPr>
        <p:sp>
          <p:nvSpPr>
            <p:cNvPr id="37" name="Freeform 2"/>
            <p:cNvSpPr/>
            <p:nvPr/>
          </p:nvSpPr>
          <p:spPr>
            <a:xfrm>
              <a:off x="1028700" y="1028700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0" y="0"/>
                  </a:moveTo>
                  <a:lnTo>
                    <a:pt x="2516101" y="0"/>
                  </a:lnTo>
                  <a:lnTo>
                    <a:pt x="2516101" y="2516101"/>
                  </a:lnTo>
                  <a:lnTo>
                    <a:pt x="0" y="251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5"/>
            <p:cNvSpPr/>
            <p:nvPr/>
          </p:nvSpPr>
          <p:spPr>
            <a:xfrm flipH="1" flipV="1">
              <a:off x="14743199" y="6742199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2516101" y="2516101"/>
                  </a:moveTo>
                  <a:lnTo>
                    <a:pt x="0" y="2516101"/>
                  </a:lnTo>
                  <a:lnTo>
                    <a:pt x="0" y="0"/>
                  </a:lnTo>
                  <a:lnTo>
                    <a:pt x="2516101" y="0"/>
                  </a:lnTo>
                  <a:lnTo>
                    <a:pt x="2516101" y="251610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6"/>
            <p:cNvSpPr/>
            <p:nvPr/>
          </p:nvSpPr>
          <p:spPr>
            <a:xfrm flipH="1">
              <a:off x="14743199" y="1028700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2516101" y="0"/>
                  </a:moveTo>
                  <a:lnTo>
                    <a:pt x="0" y="0"/>
                  </a:lnTo>
                  <a:lnTo>
                    <a:pt x="0" y="2516101"/>
                  </a:lnTo>
                  <a:lnTo>
                    <a:pt x="2516101" y="2516101"/>
                  </a:lnTo>
                  <a:lnTo>
                    <a:pt x="2516101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7"/>
            <p:cNvSpPr/>
            <p:nvPr/>
          </p:nvSpPr>
          <p:spPr>
            <a:xfrm flipV="1">
              <a:off x="1028700" y="6678599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0" y="2516101"/>
                  </a:moveTo>
                  <a:lnTo>
                    <a:pt x="2516101" y="2516101"/>
                  </a:lnTo>
                  <a:lnTo>
                    <a:pt x="2516101" y="0"/>
                  </a:lnTo>
                  <a:lnTo>
                    <a:pt x="0" y="0"/>
                  </a:lnTo>
                  <a:lnTo>
                    <a:pt x="0" y="251610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3156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4664"/>
            <a:ext cx="10515600" cy="1325562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10515600" cy="4122737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498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013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37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8" name="Rectangles"/>
            <p:cNvSpPr>
              <a:spLocks/>
            </p:cNvSpPr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 w="12700" cap="flat" cmpd="sng">
              <a:noFill/>
              <a:prstDash val="solid"/>
              <a:round/>
            </a:ln>
          </p:spPr>
        </p:sp>
        <p:grpSp>
          <p:nvGrpSpPr>
            <p:cNvPr id="9" name="Group 8"/>
            <p:cNvGrpSpPr/>
            <p:nvPr userDrawn="1"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id="10" name="Images" descr="DUET"/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</p:pic>
          <p:pic>
            <p:nvPicPr>
              <p:cNvPr id="11" name="Picture 2" descr="EDGE Bangladesh"/>
              <p:cNvPicPr>
                <a:picLocks noChangeAspect="1" noChangeArrowheads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0" descr="BCCTMS - Login"/>
              <p:cNvPicPr>
                <a:picLocks noChangeAspect="1" noChangeArrowheads="1"/>
              </p:cNvPicPr>
              <p:nvPr userDrawn="1"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charset="0"/>
              <a:buChar char="•"/>
            </a:pPr>
            <a:endParaRPr lang="zh-CN" altLang="en-US" sz="28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>
            <a:lvl1pPr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56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62" r:id="rId2"/>
    <p:sldLayoutId id="2147483661" r:id="rId3"/>
    <p:sldLayoutId id="2147483663" r:id="rId4"/>
  </p:sldLayoutIdLst>
  <p:hf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+mj-lt"/>
          <a:ea typeface="Times New Roman" panose="02020603050405020304" pitchFamily="18" charset="0"/>
          <a:cs typeface="Times New Roman" panose="02020603050405020304" pitchFamily="18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prescriptive-guidance/latest/agentic-ai-patterns/introduction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mistral.ai/?utm_source=chatgpt.com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onsole.mistral.ai/?utm_source=chatgpt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shuvo881/Software-Testing-EDGE_2026-/tree/mai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Combination"/>
          <p:cNvGrpSpPr>
            <a:grpSpLocks/>
          </p:cNvGrpSpPr>
          <p:nvPr/>
        </p:nvGrpSpPr>
        <p:grpSpPr>
          <a:xfrm>
            <a:off x="3100181" y="616944"/>
            <a:ext cx="5804025" cy="1185339"/>
            <a:chOff x="3100181" y="616944"/>
            <a:chExt cx="5804025" cy="1185339"/>
          </a:xfrm>
        </p:grpSpPr>
        <p:sp>
          <p:nvSpPr>
            <p:cNvPr id="30" name="Rectangles"/>
            <p:cNvSpPr>
              <a:spLocks/>
            </p:cNvSpPr>
            <p:nvPr/>
          </p:nvSpPr>
          <p:spPr>
            <a:xfrm>
              <a:off x="3100181" y="616944"/>
              <a:ext cx="5804025" cy="64629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3600" b="1"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Foundational Skills Program</a:t>
              </a:r>
              <a:endParaRPr lang="zh-CN" altLang="en-US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31" name="Rectangles"/>
            <p:cNvSpPr>
              <a:spLocks/>
            </p:cNvSpPr>
            <p:nvPr/>
          </p:nvSpPr>
          <p:spPr>
            <a:xfrm>
              <a:off x="3357371" y="1279064"/>
              <a:ext cx="5289640" cy="5232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 charset="0"/>
                </a:rPr>
                <a:t>Course Title: Software Testing</a:t>
              </a:r>
              <a:endParaRPr lang="zh-CN" altLang="en-US" sz="2800" b="1" i="0" u="none" strike="noStrike" kern="0" cap="none" spc="0" baseline="0">
                <a:solidFill>
                  <a:srgbClr val="0070C0"/>
                </a:solidFill>
                <a:latin typeface="Calibri" charset="0"/>
                <a:ea typeface="Calibri" charset="0"/>
                <a:cs typeface="Calibri" charset="0"/>
                <a:sym typeface="Calibri" charset="0"/>
              </a:endParaRPr>
            </a:p>
          </p:txBody>
        </p:sp>
      </p:grpSp>
      <p:sp>
        <p:nvSpPr>
          <p:cNvPr id="33" name="Rectangles"/>
          <p:cNvSpPr>
            <a:spLocks/>
          </p:cNvSpPr>
          <p:nvPr/>
        </p:nvSpPr>
        <p:spPr>
          <a:xfrm>
            <a:off x="3044119" y="3539400"/>
            <a:ext cx="5960874" cy="984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2400" b="1">
                <a:latin typeface="Calibri"/>
                <a:cs typeface="Calibri"/>
              </a:rPr>
              <a:t>Md. Golam </a:t>
            </a:r>
            <a:r>
              <a:rPr lang="en-US" altLang="zh-CN" sz="2400" b="1" err="1">
                <a:latin typeface="Calibri"/>
                <a:cs typeface="Calibri"/>
              </a:rPr>
              <a:t>Mostofa</a:t>
            </a:r>
            <a:endParaRPr lang="en-US" altLang="zh-CN" sz="2400" b="1" i="0" u="none" strike="noStrike" kern="0" cap="none" spc="0" baseline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/>
            <a:r>
              <a:rPr lang="en-US" altLang="zh-CN">
                <a:latin typeface="Arial"/>
                <a:cs typeface="Arial"/>
              </a:rPr>
              <a:t>AI/ML-QA Engineer, </a:t>
            </a:r>
            <a:r>
              <a:rPr lang="en-US" altLang="zh-CN" err="1">
                <a:latin typeface="Arial"/>
                <a:cs typeface="Arial"/>
              </a:rPr>
              <a:t>Bizzntek</a:t>
            </a:r>
            <a:r>
              <a:rPr lang="en-US" altLang="zh-CN">
                <a:latin typeface="Arial"/>
                <a:cs typeface="Arial"/>
              </a:rPr>
              <a:t> Ltd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/>
              <a:cs typeface="Arial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>
              <a:ea typeface="Calibri"/>
              <a:cs typeface="Calibri"/>
            </a:endParaRPr>
          </a:p>
        </p:txBody>
      </p:sp>
      <p:pic>
        <p:nvPicPr>
          <p:cNvPr id="34" name="Images" descr="DUET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13169" y="1942006"/>
            <a:ext cx="875522" cy="875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  <p:sp>
        <p:nvSpPr>
          <p:cNvPr id="38" name="Rectangles"/>
          <p:cNvSpPr>
            <a:spLocks/>
          </p:cNvSpPr>
          <p:nvPr/>
        </p:nvSpPr>
        <p:spPr>
          <a:xfrm>
            <a:off x="4895958" y="2949269"/>
            <a:ext cx="2229649" cy="3692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Date: </a:t>
            </a:r>
            <a:r>
              <a:rPr lang="en-US" altLang="zh-CN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April</a:t>
            </a: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 </a:t>
            </a:r>
            <a:r>
              <a:rPr lang="en-US" altLang="zh-CN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19</a:t>
            </a: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, 2026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Calibri"/>
              <a:cs typeface="Calibri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CCB626-31E3-F1D1-9E5C-DCDFC8FBE2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2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43425-E61E-6525-D9DD-EB68BA8C6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Evaluators and reflect-refine loops </a:t>
            </a: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Introducing Mistral LLM</a:t>
            </a:r>
            <a:endParaRPr lang="en-US" dirty="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Mistral API using</a:t>
            </a:r>
            <a:endParaRPr lang="en-US" dirty="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Evaluation Setup</a:t>
            </a:r>
            <a:endParaRPr lang="en-US" dirty="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Environment Setup</a:t>
            </a:r>
            <a:endParaRPr lang="en-US"/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AI-Driven Automated Testing of EDGE Chatbot</a:t>
            </a:r>
            <a:endParaRPr lang="en-US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32C312E3-8E31-F280-EB7B-D5F55040A70A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214E9C9-55F9-B1DB-6971-51DCBF4CC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-1586"/>
            <a:ext cx="10515600" cy="132556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Outline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35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1AEB1-9AB0-7A1D-7B84-8F68845FE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25FD2D-39EE-E6CF-6AF5-C7E4A28B7C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3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91A14-57A8-40C8-B35B-CA588DA8E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5829300" cy="2189162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Evaluator-optimizer workflows use two LLM stages: one generates the response, and another evaluates its quality.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The evaluator checks whether the generated output meets predefined success criteria.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These workflows are effective for tasks that require refinement and multiple iterations.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This approach enables autonomous quality assurance for LLM-based systems and chatbots.</a:t>
            </a:r>
            <a:endParaRPr lang="en-US" sz="1400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5D450E03-8E34-3C27-AF7D-DE2D6CB9C321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3329091-E05D-26F1-6426-A78210EB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-1586"/>
            <a:ext cx="10515600" cy="1325562"/>
          </a:xfrm>
        </p:spPr>
        <p:txBody>
          <a:bodyPr/>
          <a:lstStyle/>
          <a:p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Evaluators and reflect-refine loops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 descr="A diagram of a brain&#10;&#10;AI-generated content may be incorrect.">
            <a:extLst>
              <a:ext uri="{FF2B5EF4-FFF2-40B4-BE49-F238E27FC236}">
                <a16:creationId xmlns:a16="http://schemas.microsoft.com/office/drawing/2014/main" id="{30693B7E-227D-621A-5658-85361A22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113" y="2057400"/>
            <a:ext cx="4914900" cy="2743200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5F7AEA54-82E1-31F2-A736-FFB53D30E2A6}"/>
              </a:ext>
            </a:extLst>
          </p:cNvPr>
          <p:cNvSpPr txBox="1"/>
          <p:nvPr/>
        </p:nvSpPr>
        <p:spPr>
          <a:xfrm>
            <a:off x="7531267" y="4949992"/>
            <a:ext cx="4060658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Source: </a:t>
            </a:r>
            <a:r>
              <a:rPr lang="en-US" sz="800" dirty="0">
                <a:ea typeface="+mn-lt"/>
                <a:cs typeface="+mn-lt"/>
                <a:hlinkClick r:id="rId3"/>
              </a:rPr>
              <a:t>Agentic AI patterns and workflows on AWS - AWS Prescriptive Guidance</a:t>
            </a:r>
            <a:endParaRPr 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BBDE9-0D21-06FE-C157-E4C2B15AD681}"/>
              </a:ext>
            </a:extLst>
          </p:cNvPr>
          <p:cNvSpPr txBox="1"/>
          <p:nvPr/>
        </p:nvSpPr>
        <p:spPr>
          <a:xfrm>
            <a:off x="711867" y="4921851"/>
            <a:ext cx="4802605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F141A"/>
                </a:solidFill>
                <a:highlight>
                  <a:srgbClr val="FFFFFF"/>
                </a:highlight>
              </a:rPr>
              <a:t>Common use cases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rgbClr val="0F141A"/>
                </a:solidFill>
                <a:highlight>
                  <a:srgbClr val="FFFFFF"/>
                </a:highlight>
                <a:ea typeface="+mn-lt"/>
                <a:cs typeface="+mn-lt"/>
              </a:rPr>
              <a:t>Red-team agents compared to blue-team agents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rgbClr val="0F141A"/>
                </a:solidFill>
                <a:highlight>
                  <a:srgbClr val="FFFFFF"/>
                </a:highlight>
                <a:ea typeface="+mn-lt"/>
                <a:cs typeface="+mn-lt"/>
              </a:rPr>
              <a:t>Agents that generate, evaluate, and revise code or plans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rgbClr val="0F141A"/>
                </a:solidFill>
                <a:highlight>
                  <a:srgbClr val="FFFFFF"/>
                </a:highlight>
                <a:ea typeface="+mn-lt"/>
                <a:cs typeface="+mn-lt"/>
              </a:rPr>
              <a:t>Quality assurance, hallucination detection, and style enforcement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004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788670" y="136779"/>
            <a:ext cx="8534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bg1"/>
                </a:solidFill>
                <a:latin typeface="Arial"/>
                <a:ea typeface="Arial Black" pitchFamily="34" charset="-122"/>
                <a:cs typeface="Arial"/>
              </a:rPr>
              <a:t>Introducing Mistral LLM</a:t>
            </a:r>
            <a:endParaRPr lang="en-US" sz="4000">
              <a:solidFill>
                <a:schemeClr val="bg1"/>
              </a:solidFill>
              <a:cs typeface="Arial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82880"/>
            <a:ext cx="853440" cy="85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463040"/>
            <a:ext cx="11460480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463040"/>
            <a:ext cx="85344" cy="13411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1645920"/>
            <a:ext cx="487680" cy="487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1120" y="152400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1A202C"/>
                </a:solidFill>
                <a:latin typeface="Arial"/>
                <a:ea typeface="Arial" pitchFamily="34" charset="-122"/>
                <a:cs typeface="Arial"/>
              </a:rPr>
              <a:t>What is Mistral AI?</a:t>
            </a:r>
            <a:endParaRPr lang="en-US" sz="2000">
              <a:latin typeface="Arial"/>
              <a:cs typeface="Arial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341120" y="195072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64748B"/>
                </a:solidFill>
                <a:ea typeface="+mn-lt"/>
                <a:cs typeface="+mn-lt"/>
                <a:hlinkClick r:id="rId5"/>
              </a:rPr>
              <a:t>Mistral AI</a:t>
            </a:r>
            <a:r>
              <a:rPr lang="en-US" sz="1600">
                <a:solidFill>
                  <a:srgbClr val="64748B"/>
                </a:solidFill>
                <a:ea typeface="+mn-lt"/>
                <a:cs typeface="+mn-lt"/>
              </a:rPr>
              <a:t> is a France-based AI company focused on building open and efficient Large Language Models (LLMs). </a:t>
            </a:r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765935" y="2937510"/>
            <a:ext cx="3657600" cy="316992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1642110" y="3240405"/>
            <a:ext cx="3657600" cy="487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>
                <a:solidFill>
                  <a:srgbClr val="FFFFFF"/>
                </a:solidFill>
                <a:ea typeface="+mn-lt"/>
                <a:cs typeface="+mn-lt"/>
              </a:rPr>
              <a:t>Popular Mistral models</a:t>
            </a:r>
            <a:endParaRPr lang="en-US" sz="210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948815" y="3846195"/>
            <a:ext cx="3358515" cy="2171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rgbClr val="CBD5E0"/>
                </a:solidFill>
                <a:ea typeface="+mn-lt"/>
                <a:cs typeface="+mn-lt"/>
              </a:rPr>
              <a:t>Mistral 7B: </a:t>
            </a:r>
            <a:r>
              <a:rPr lang="en-US" sz="1200">
                <a:solidFill>
                  <a:srgbClr val="CBD5E0"/>
                </a:solidFill>
                <a:ea typeface="+mn-lt"/>
                <a:cs typeface="+mn-lt"/>
              </a:rPr>
              <a:t> lightweight and efficient open-weight LLM </a:t>
            </a:r>
            <a:endParaRPr lang="en-US" sz="12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 err="1">
                <a:solidFill>
                  <a:srgbClr val="CBD5E0"/>
                </a:solidFill>
                <a:ea typeface="+mn-lt"/>
                <a:cs typeface="+mn-lt"/>
              </a:rPr>
              <a:t>Mixtral</a:t>
            </a:r>
            <a:r>
              <a:rPr lang="en-US" sz="1200" b="1" dirty="0">
                <a:solidFill>
                  <a:srgbClr val="CBD5E0"/>
                </a:solidFill>
                <a:ea typeface="+mn-lt"/>
                <a:cs typeface="+mn-lt"/>
              </a:rPr>
              <a:t> 8x7B:</a:t>
            </a:r>
            <a:r>
              <a:rPr lang="en-US" sz="1200" dirty="0">
                <a:solidFill>
                  <a:srgbClr val="CBD5E0"/>
                </a:solidFill>
                <a:ea typeface="+mn-lt"/>
                <a:cs typeface="+mn-lt"/>
              </a:rPr>
              <a:t> Mixture-of-Experts (</a:t>
            </a:r>
            <a:r>
              <a:rPr lang="en-US" sz="1200" dirty="0" err="1">
                <a:solidFill>
                  <a:srgbClr val="CBD5E0"/>
                </a:solidFill>
                <a:ea typeface="+mn-lt"/>
                <a:cs typeface="+mn-lt"/>
              </a:rPr>
              <a:t>MoE</a:t>
            </a:r>
            <a:r>
              <a:rPr lang="en-US" sz="1200" dirty="0">
                <a:solidFill>
                  <a:srgbClr val="CBD5E0"/>
                </a:solidFill>
                <a:ea typeface="+mn-lt"/>
                <a:cs typeface="+mn-lt"/>
              </a:rPr>
              <a:t>) model for improved scalability </a:t>
            </a:r>
            <a:endParaRPr lang="en-US" sz="12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rgbClr val="CBD5E0"/>
                </a:solidFill>
                <a:ea typeface="+mn-lt"/>
                <a:cs typeface="+mn-lt"/>
              </a:rPr>
              <a:t>Mistral Large: </a:t>
            </a:r>
            <a:r>
              <a:rPr lang="en-US" sz="1200">
                <a:solidFill>
                  <a:srgbClr val="CBD5E0"/>
                </a:solidFill>
                <a:ea typeface="+mn-lt"/>
                <a:cs typeface="+mn-lt"/>
              </a:rPr>
              <a:t> flagship model for advanced reasoning and enterprise tasks </a:t>
            </a:r>
            <a:endParaRPr lang="en-US" sz="12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 err="1">
                <a:solidFill>
                  <a:srgbClr val="CBD5E0"/>
                </a:solidFill>
                <a:ea typeface="+mn-lt"/>
                <a:cs typeface="+mn-lt"/>
              </a:rPr>
              <a:t>Codestral</a:t>
            </a:r>
            <a:r>
              <a:rPr lang="en-US" sz="1200" b="1" dirty="0">
                <a:solidFill>
                  <a:srgbClr val="CBD5E0"/>
                </a:solidFill>
                <a:ea typeface="+mn-lt"/>
                <a:cs typeface="+mn-lt"/>
              </a:rPr>
              <a:t>:</a:t>
            </a:r>
            <a:r>
              <a:rPr lang="en-US" sz="1200" dirty="0">
                <a:solidFill>
                  <a:srgbClr val="CBD5E0"/>
                </a:solidFill>
                <a:ea typeface="+mn-lt"/>
                <a:cs typeface="+mn-lt"/>
              </a:rPr>
              <a:t> optimized for coding and software development </a:t>
            </a:r>
            <a:endParaRPr lang="en-US" sz="12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rgbClr val="CBD5E0"/>
                </a:solidFill>
                <a:ea typeface="+mn-lt"/>
                <a:cs typeface="+mn-lt"/>
              </a:rPr>
              <a:t>Le Chat:</a:t>
            </a:r>
            <a:r>
              <a:rPr lang="en-US" sz="1200" dirty="0">
                <a:solidFill>
                  <a:srgbClr val="CBD5E0"/>
                </a:solidFill>
                <a:ea typeface="+mn-lt"/>
                <a:cs typeface="+mn-lt"/>
              </a:rPr>
              <a:t> conversational AI assistant similar to ChatGPT</a:t>
            </a:r>
            <a:endParaRPr lang="en-US" sz="1200">
              <a:cs typeface="Arial"/>
            </a:endParaRPr>
          </a:p>
          <a:p>
            <a:pPr marL="0" indent="0">
              <a:buNone/>
            </a:pPr>
            <a:endParaRPr lang="en-US" sz="1200" dirty="0">
              <a:solidFill>
                <a:srgbClr val="CBD5E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7300341" y="2937510"/>
            <a:ext cx="3657600" cy="3169920"/>
          </a:xfrm>
          <a:prstGeom prst="rect">
            <a:avLst/>
          </a:prstGeom>
          <a:solidFill>
            <a:srgbClr val="0E9F8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7300341" y="3240405"/>
            <a:ext cx="3657600" cy="487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>
                <a:solidFill>
                  <a:srgbClr val="FFFFFF"/>
                </a:solidFill>
                <a:ea typeface="+mn-lt"/>
                <a:cs typeface="+mn-lt"/>
              </a:rPr>
              <a:t>Mistral emphasizes</a:t>
            </a:r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7673721" y="4131945"/>
            <a:ext cx="3291840" cy="1219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D1B2A"/>
                </a:solidFill>
                <a:ea typeface="+mn-lt"/>
                <a:cs typeface="+mn-lt"/>
              </a:rPr>
              <a:t>Open-source and open-weight AI models </a:t>
            </a:r>
            <a:endParaRPr lang="en-US" sz="1400">
              <a:cs typeface="Arial" panose="020B060402020202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D1B2A"/>
                </a:solidFill>
                <a:ea typeface="+mn-lt"/>
                <a:cs typeface="+mn-lt"/>
              </a:rPr>
              <a:t>Multilingual support </a:t>
            </a:r>
            <a:endParaRPr lang="en-US" sz="1400">
              <a:cs typeface="Arial" panose="020B060402020202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D1B2A"/>
                </a:solidFill>
                <a:ea typeface="+mn-lt"/>
                <a:cs typeface="+mn-lt"/>
              </a:rPr>
              <a:t>Efficient deployment on smaller hardware </a:t>
            </a:r>
            <a:endParaRPr lang="en-US" sz="1400">
              <a:cs typeface="Arial" panose="020B060402020202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D1B2A"/>
                </a:solidFill>
                <a:ea typeface="+mn-lt"/>
                <a:cs typeface="+mn-lt"/>
              </a:rPr>
              <a:t>Privacy-focused and on-premise AI solutions</a:t>
            </a:r>
            <a:endParaRPr lang="en-US" sz="1400">
              <a:cs typeface="Arial" panose="020B0604020202020204"/>
            </a:endParaRPr>
          </a:p>
          <a:p>
            <a:pPr marL="0" indent="0">
              <a:buNone/>
            </a:pPr>
            <a:endParaRPr lang="en-US" sz="1400" dirty="0">
              <a:solidFill>
                <a:srgbClr val="0D1B2A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93F2F-67C2-C0A8-146C-015036580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80223-B4D1-14EA-A2BE-8FD30017B7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5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21E6A00E-3F10-73A9-7A47-580F225F5298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23CA729-B299-DA80-C1A9-301DE2E7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-1586"/>
            <a:ext cx="10515600" cy="132556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Mistral API using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070F10A6-1F45-EFBE-DB37-AD6EA164CBE1}"/>
              </a:ext>
            </a:extLst>
          </p:cNvPr>
          <p:cNvSpPr/>
          <p:nvPr/>
        </p:nvSpPr>
        <p:spPr>
          <a:xfrm>
            <a:off x="365760" y="1365504"/>
            <a:ext cx="6461760" cy="4724791"/>
          </a:xfrm>
          <a:prstGeom prst="rect">
            <a:avLst/>
          </a:prstGeom>
          <a:solidFill>
            <a:srgbClr val="0A1628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260EBF72-C883-1055-AE28-4B417B28EB19}"/>
              </a:ext>
            </a:extLst>
          </p:cNvPr>
          <p:cNvSpPr/>
          <p:nvPr/>
        </p:nvSpPr>
        <p:spPr>
          <a:xfrm>
            <a:off x="7056120" y="1367790"/>
            <a:ext cx="4693920" cy="4559046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F942BE2C-2A19-D9DE-4711-799D4D773A3E}"/>
              </a:ext>
            </a:extLst>
          </p:cNvPr>
          <p:cNvSpPr/>
          <p:nvPr/>
        </p:nvSpPr>
        <p:spPr>
          <a:xfrm>
            <a:off x="7442835" y="1717929"/>
            <a:ext cx="3914775" cy="24921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Steps to Use the Mistral API</a:t>
            </a:r>
          </a:p>
          <a:p>
            <a:pPr marL="285750" indent="-285750"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Create an account on </a:t>
            </a:r>
            <a:r>
              <a:rPr lang="en-US" sz="1300" dirty="0">
                <a:solidFill>
                  <a:srgbClr val="FFFFFF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Mistral AI Platform</a:t>
            </a:r>
            <a:r>
              <a:rPr lang="en-US" sz="13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Generate an API key from the developer console </a:t>
            </a:r>
            <a:endParaRPr lang="en-US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Install the official SDK or use HTTP requests </a:t>
            </a:r>
            <a:endParaRPr lang="en-US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Send prompts to supported models such as: </a:t>
            </a:r>
            <a:endParaRPr lang="en-US">
              <a:solidFill>
                <a:srgbClr val="FFFFFF"/>
              </a:solidFill>
            </a:endParaRPr>
          </a:p>
          <a:p>
            <a:pPr marL="894715" lvl="1" indent="-285750"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Mistral 7B </a:t>
            </a:r>
            <a:endParaRPr lang="en-US">
              <a:solidFill>
                <a:srgbClr val="FFFFFF"/>
              </a:solidFill>
            </a:endParaRPr>
          </a:p>
          <a:p>
            <a:pPr marL="894715" lvl="1" indent="-285750">
              <a:buFont typeface="Arial"/>
              <a:buChar char="•"/>
            </a:pPr>
            <a:r>
              <a:rPr lang="en-US" sz="1300" dirty="0" err="1">
                <a:solidFill>
                  <a:srgbClr val="FFFFFF"/>
                </a:solidFill>
                <a:ea typeface="+mn-lt"/>
                <a:cs typeface="+mn-lt"/>
              </a:rPr>
              <a:t>Mixtral</a:t>
            </a:r>
            <a:r>
              <a:rPr lang="en-US" sz="1300" dirty="0">
                <a:solidFill>
                  <a:srgbClr val="FFFFFF"/>
                </a:solidFill>
                <a:ea typeface="+mn-lt"/>
                <a:cs typeface="+mn-lt"/>
              </a:rPr>
              <a:t> 8x7B </a:t>
            </a:r>
            <a:endParaRPr lang="en-US" dirty="0">
              <a:solidFill>
                <a:srgbClr val="FFFFFF"/>
              </a:solidFill>
            </a:endParaRPr>
          </a:p>
          <a:p>
            <a:pPr marL="894715" lvl="1" indent="-285750"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Mistral Large </a:t>
            </a:r>
            <a:endParaRPr lang="en-US">
              <a:solidFill>
                <a:srgbClr val="FFFFFF"/>
              </a:solidFill>
            </a:endParaRPr>
          </a:p>
          <a:p>
            <a:pPr marL="894715" lvl="1" indent="-285750">
              <a:buFont typeface="Arial"/>
              <a:buChar char="•"/>
            </a:pPr>
            <a:r>
              <a:rPr lang="en-US" sz="1300" dirty="0" err="1">
                <a:solidFill>
                  <a:srgbClr val="FFFFFF"/>
                </a:solidFill>
                <a:ea typeface="+mn-lt"/>
                <a:cs typeface="+mn-lt"/>
              </a:rPr>
              <a:t>Codestral</a:t>
            </a:r>
            <a:endParaRPr lang="en-US" dirty="0" err="1">
              <a:solidFill>
                <a:srgbClr val="FFFFFF"/>
              </a:solidFill>
            </a:endParaRPr>
          </a:p>
          <a:p>
            <a:endParaRPr lang="en-US" sz="1300" dirty="0">
              <a:solidFill>
                <a:srgbClr val="FFFFFF"/>
              </a:solidFill>
              <a:cs typeface="Arial"/>
            </a:endParaRPr>
          </a:p>
        </p:txBody>
      </p:sp>
      <p:pic>
        <p:nvPicPr>
          <p:cNvPr id="31" name="Picture 3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380B50F-5292-5B73-C3F3-85850E84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85913"/>
            <a:ext cx="45720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1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86AB9-9BF0-A7B3-DC70-3DCA373A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A39946-54AD-0493-09ED-2828FCCA4964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AE6751-DA63-ED86-098D-25DAB32905EC}"/>
              </a:ext>
            </a:extLst>
          </p:cNvPr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81199A-F98C-6C4F-AADD-E292E5C6A468}"/>
              </a:ext>
            </a:extLst>
          </p:cNvPr>
          <p:cNvSpPr/>
          <p:nvPr/>
        </p:nvSpPr>
        <p:spPr>
          <a:xfrm>
            <a:off x="364197" y="126766"/>
            <a:ext cx="11015784" cy="97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 dirty="0">
                <a:solidFill>
                  <a:srgbClr val="FFFFFF"/>
                </a:solidFill>
                <a:latin typeface="Arial Black"/>
              </a:rPr>
              <a:t>EDEG Chatbot Test automation </a:t>
            </a:r>
            <a:r>
              <a:rPr lang="en-US" sz="3450" b="1">
                <a:solidFill>
                  <a:srgbClr val="FFFFFF"/>
                </a:solidFill>
                <a:latin typeface="Arial Black"/>
              </a:rPr>
              <a:t>Architecture</a:t>
            </a:r>
            <a:endParaRPr lang="en-US" sz="3450" b="1" dirty="0">
              <a:solidFill>
                <a:srgbClr val="FFFFFF"/>
              </a:solidFill>
              <a:latin typeface="Arial Black"/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861F9DE6-68BB-FF74-05A8-B74436F89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490" y="1445683"/>
            <a:ext cx="4289354" cy="4643966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22115C0B-5F25-5D6B-5444-AF5C918493C6}"/>
              </a:ext>
            </a:extLst>
          </p:cNvPr>
          <p:cNvSpPr/>
          <p:nvPr/>
        </p:nvSpPr>
        <p:spPr>
          <a:xfrm>
            <a:off x="365760" y="1402080"/>
            <a:ext cx="5427785" cy="4720493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01E519-FF66-65D0-9956-1AA5365BA5DC}"/>
              </a:ext>
            </a:extLst>
          </p:cNvPr>
          <p:cNvSpPr txBox="1"/>
          <p:nvPr/>
        </p:nvSpPr>
        <p:spPr>
          <a:xfrm>
            <a:off x="444500" y="1608666"/>
            <a:ext cx="498475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Start from main function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Checking test file available or not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Result folder </a:t>
            </a: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checking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Launch app in Chrome browser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Wait for ready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Put prompt into the chatbot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Get response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Test response by the Mistral LLM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Same test </a:t>
            </a: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result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84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7FB9C-35FF-C347-C093-ACF27818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1DA9E3-6346-1581-CE2B-F430ADA50F8D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EBBFFF-A364-ECC5-0099-F6504A35F824}"/>
              </a:ext>
            </a:extLst>
          </p:cNvPr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38EF46-CEB0-E1BE-D06D-87BB22B99E70}"/>
              </a:ext>
            </a:extLst>
          </p:cNvPr>
          <p:cNvSpPr/>
          <p:nvPr/>
        </p:nvSpPr>
        <p:spPr>
          <a:xfrm>
            <a:off x="1341120" y="146304"/>
            <a:ext cx="8534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 dirty="0">
                <a:solidFill>
                  <a:srgbClr val="FFFFFF"/>
                </a:solidFill>
                <a:latin typeface="Arial Black"/>
                <a:cs typeface="Arial"/>
              </a:rPr>
              <a:t>Pre-</a:t>
            </a:r>
            <a:r>
              <a:rPr lang="en-US" sz="3450" b="1">
                <a:solidFill>
                  <a:srgbClr val="FFFFFF"/>
                </a:solidFill>
                <a:latin typeface="Arial Black"/>
                <a:cs typeface="Arial"/>
              </a:rPr>
              <a:t>Requisites</a:t>
            </a:r>
            <a:endParaRPr lang="en-US" sz="3450" b="1" dirty="0">
              <a:solidFill>
                <a:srgbClr val="FFFFFF"/>
              </a:solidFill>
              <a:latin typeface="Arial Black"/>
              <a:cs typeface="Arial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92B568-D39A-BA86-C77D-C9C7610A8F90}"/>
              </a:ext>
            </a:extLst>
          </p:cNvPr>
          <p:cNvSpPr/>
          <p:nvPr/>
        </p:nvSpPr>
        <p:spPr>
          <a:xfrm>
            <a:off x="365760" y="1431387"/>
            <a:ext cx="5427785" cy="4720493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4AF4659-6FDC-0498-A623-07663B9014A3}"/>
              </a:ext>
            </a:extLst>
          </p:cNvPr>
          <p:cNvSpPr/>
          <p:nvPr/>
        </p:nvSpPr>
        <p:spPr>
          <a:xfrm>
            <a:off x="6217920" y="1402080"/>
            <a:ext cx="5608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0E9F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133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30F7929-9819-B77C-F82D-56F18CBCCC53}"/>
              </a:ext>
            </a:extLst>
          </p:cNvPr>
          <p:cNvSpPr/>
          <p:nvPr/>
        </p:nvSpPr>
        <p:spPr>
          <a:xfrm>
            <a:off x="6217920" y="2072640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AC64393A-F005-5CB7-1F41-C59C3E462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55520"/>
            <a:ext cx="548640" cy="548640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D9790591-5E3E-CF51-AB21-85A951BD6ECD}"/>
              </a:ext>
            </a:extLst>
          </p:cNvPr>
          <p:cNvSpPr/>
          <p:nvPr/>
        </p:nvSpPr>
        <p:spPr>
          <a:xfrm>
            <a:off x="7132320" y="2250831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Ollama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 install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8FA6027-C51B-F2AC-AA98-3B77AEEB6494}"/>
              </a:ext>
            </a:extLst>
          </p:cNvPr>
          <p:cNvSpPr/>
          <p:nvPr/>
        </p:nvSpPr>
        <p:spPr>
          <a:xfrm>
            <a:off x="6217920" y="3145536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3067CE15-9193-CF3C-2DEB-F28A145E7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328416"/>
            <a:ext cx="548640" cy="548640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692ADA18-B8D4-51C7-E920-A8E65E7DC024}"/>
              </a:ext>
            </a:extLst>
          </p:cNvPr>
          <p:cNvSpPr/>
          <p:nvPr/>
        </p:nvSpPr>
        <p:spPr>
          <a:xfrm>
            <a:off x="7132320" y="3323727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Chrome</a:t>
            </a:r>
            <a:r>
              <a:rPr lang="en-US" dirty="0">
                <a:solidFill>
                  <a:srgbClr val="FFFFFF"/>
                </a:solidFill>
                <a:latin typeface="Arial"/>
                <a:cs typeface="Arial"/>
              </a:rPr>
              <a:t>-browser</a:t>
            </a:r>
            <a:endParaRPr lang="en-US">
              <a:cs typeface="Arial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2F01B905-8812-AB0B-13FA-2D8F7E00D7B5}"/>
              </a:ext>
            </a:extLst>
          </p:cNvPr>
          <p:cNvSpPr/>
          <p:nvPr/>
        </p:nvSpPr>
        <p:spPr>
          <a:xfrm>
            <a:off x="6217920" y="4218432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1873CE3F-6324-A274-52EB-B0A3A9DCD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01312"/>
            <a:ext cx="548640" cy="548640"/>
          </a:xfrm>
          <a:prstGeom prst="rect">
            <a:avLst/>
          </a:prstGeom>
        </p:spPr>
      </p:pic>
      <p:sp>
        <p:nvSpPr>
          <p:cNvPr id="27" name="Text 21">
            <a:extLst>
              <a:ext uri="{FF2B5EF4-FFF2-40B4-BE49-F238E27FC236}">
                <a16:creationId xmlns:a16="http://schemas.microsoft.com/office/drawing/2014/main" id="{127AF279-6601-39C5-2EC4-3E6A4B074928}"/>
              </a:ext>
            </a:extLst>
          </p:cNvPr>
          <p:cNvSpPr/>
          <p:nvPr/>
        </p:nvSpPr>
        <p:spPr>
          <a:xfrm>
            <a:off x="7132320" y="427939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Llama3.2:1b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BECDCB8-9D58-3900-71C8-F261A1497DFE}"/>
              </a:ext>
            </a:extLst>
          </p:cNvPr>
          <p:cNvSpPr/>
          <p:nvPr/>
        </p:nvSpPr>
        <p:spPr>
          <a:xfrm>
            <a:off x="6217920" y="5203405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D155163D-22AA-E35C-AA1A-26CC782F0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5474208"/>
            <a:ext cx="548640" cy="548640"/>
          </a:xfrm>
          <a:prstGeom prst="rect">
            <a:avLst/>
          </a:prstGeom>
        </p:spPr>
      </p:pic>
      <p:sp>
        <p:nvSpPr>
          <p:cNvPr id="31" name="Text 24">
            <a:extLst>
              <a:ext uri="{FF2B5EF4-FFF2-40B4-BE49-F238E27FC236}">
                <a16:creationId xmlns:a16="http://schemas.microsoft.com/office/drawing/2014/main" id="{7CC024EF-745F-A094-F980-ACE5807528A1}"/>
              </a:ext>
            </a:extLst>
          </p:cNvPr>
          <p:cNvSpPr/>
          <p:nvPr/>
        </p:nvSpPr>
        <p:spPr>
          <a:xfrm>
            <a:off x="7132320" y="53522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Nomic-embed-text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  <p:pic>
        <p:nvPicPr>
          <p:cNvPr id="36" name="Picture 3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EC359689-643E-DABA-15CA-C14496B263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414" y="2067414"/>
            <a:ext cx="4980597" cy="288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71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19832-0894-C0A2-CC14-8B1D4F55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F57C28-8BD7-C0CD-95EF-741A242C6BC4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304380-DECA-FD38-F92E-81ACB74B08FF}"/>
              </a:ext>
            </a:extLst>
          </p:cNvPr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DBC439-92F0-F30B-1791-69A0BC6826AC}"/>
              </a:ext>
            </a:extLst>
          </p:cNvPr>
          <p:cNvSpPr/>
          <p:nvPr/>
        </p:nvSpPr>
        <p:spPr>
          <a:xfrm>
            <a:off x="246966" y="126766"/>
            <a:ext cx="9061938" cy="97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Environment Setup For EDEG Chatbot</a:t>
            </a:r>
            <a:endParaRPr lang="en-US" sz="3467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3AC9FDC-5936-A9FB-6B93-E684E41BD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82880"/>
            <a:ext cx="853440" cy="85344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677CFE6F-31C5-F675-82ED-C474F984D80F}"/>
              </a:ext>
            </a:extLst>
          </p:cNvPr>
          <p:cNvSpPr/>
          <p:nvPr/>
        </p:nvSpPr>
        <p:spPr>
          <a:xfrm>
            <a:off x="365760" y="1341120"/>
            <a:ext cx="560832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120DF90-25FF-96FF-C96C-F756E34EAD3A}"/>
              </a:ext>
            </a:extLst>
          </p:cNvPr>
          <p:cNvSpPr/>
          <p:nvPr/>
        </p:nvSpPr>
        <p:spPr>
          <a:xfrm>
            <a:off x="365760" y="134112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AD906F5-1C35-CA82-936C-5864EE498A95}"/>
              </a:ext>
            </a:extLst>
          </p:cNvPr>
          <p:cNvSpPr/>
          <p:nvPr/>
        </p:nvSpPr>
        <p:spPr>
          <a:xfrm>
            <a:off x="585216" y="156057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28AC285-BB1F-6953-18E1-09323160DDB5}"/>
              </a:ext>
            </a:extLst>
          </p:cNvPr>
          <p:cNvSpPr/>
          <p:nvPr/>
        </p:nvSpPr>
        <p:spPr>
          <a:xfrm>
            <a:off x="585216" y="15605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1</a:t>
            </a:r>
            <a:endParaRPr lang="en-US" sz="1867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BDE1F14-4FC6-2278-19EE-A57F566FB83C}"/>
              </a:ext>
            </a:extLst>
          </p:cNvPr>
          <p:cNvSpPr/>
          <p:nvPr/>
        </p:nvSpPr>
        <p:spPr>
          <a:xfrm>
            <a:off x="1365504" y="156057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solidFill>
                  <a:srgbClr val="1A202C"/>
                </a:solidFill>
                <a:cs typeface="Arial"/>
              </a:rPr>
              <a:t>Create Virtual </a:t>
            </a:r>
            <a:r>
              <a:rPr lang="en-US" sz="1700" b="1">
                <a:solidFill>
                  <a:srgbClr val="1A202C"/>
                </a:solidFill>
                <a:cs typeface="Arial"/>
              </a:rPr>
              <a:t>Environment &amp; Active</a:t>
            </a:r>
            <a:endParaRPr lang="en-US" sz="1700" b="1" dirty="0">
              <a:solidFill>
                <a:srgbClr val="1A202C"/>
              </a:solidFill>
              <a:cs typeface="Arial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06AB8E5-68A9-07CC-4995-553161CC5F76}"/>
              </a:ext>
            </a:extLst>
          </p:cNvPr>
          <p:cNvSpPr/>
          <p:nvPr/>
        </p:nvSpPr>
        <p:spPr>
          <a:xfrm>
            <a:off x="609600" y="209702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7B4A6C7-4D7A-D3ED-A239-B1411A211443}"/>
              </a:ext>
            </a:extLst>
          </p:cNvPr>
          <p:cNvSpPr/>
          <p:nvPr/>
        </p:nvSpPr>
        <p:spPr>
          <a:xfrm>
            <a:off x="731520" y="209702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 –m </a:t>
            </a:r>
            <a:r>
              <a:rPr lang="en-US" sz="1250" dirty="0" err="1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venv</a:t>
            </a:r>
            <a:r>
              <a:rPr lang="en-US" sz="1250" dirty="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venv</a:t>
            </a:r>
            <a:endParaRPr lang="en-US" sz="1267" dirty="0" err="1"/>
          </a:p>
          <a:p>
            <a:pPr marL="0" indent="0">
              <a:buNone/>
            </a:pPr>
            <a:r>
              <a:rPr lang="en-US" sz="1250" dirty="0" err="1">
                <a:solidFill>
                  <a:srgbClr val="14C4B0"/>
                </a:solidFill>
                <a:ea typeface="+mn-lt"/>
                <a:cs typeface="+mn-lt"/>
              </a:rPr>
              <a:t>venv</a:t>
            </a:r>
            <a:r>
              <a:rPr lang="en-US" sz="1250" dirty="0">
                <a:solidFill>
                  <a:srgbClr val="14C4B0"/>
                </a:solidFill>
                <a:ea typeface="+mn-lt"/>
                <a:cs typeface="+mn-lt"/>
              </a:rPr>
              <a:t>\Scripts\activate</a:t>
            </a:r>
            <a:endParaRPr lang="en-US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79D2A0C-3665-0AE6-1F73-86961F290484}"/>
              </a:ext>
            </a:extLst>
          </p:cNvPr>
          <p:cNvSpPr/>
          <p:nvPr/>
        </p:nvSpPr>
        <p:spPr>
          <a:xfrm>
            <a:off x="609600" y="296265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lang="en-US" sz="1400" dirty="0">
                <a:solidFill>
                  <a:srgbClr val="64748B"/>
                </a:solidFill>
                <a:latin typeface="Calibri"/>
                <a:ea typeface="Calibri"/>
                <a:cs typeface="Calibri"/>
                <a:hlinkClick r:id="rId4"/>
              </a:rPr>
              <a:t>EDEG Chatbot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first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AF72C83-1DB0-6457-61A6-B4FC0122B249}"/>
              </a:ext>
            </a:extLst>
          </p:cNvPr>
          <p:cNvSpPr/>
          <p:nvPr/>
        </p:nvSpPr>
        <p:spPr>
          <a:xfrm>
            <a:off x="6278880" y="1341120"/>
            <a:ext cx="560832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760C2F2-CD5E-7661-CBCE-70C873486C3B}"/>
              </a:ext>
            </a:extLst>
          </p:cNvPr>
          <p:cNvSpPr/>
          <p:nvPr/>
        </p:nvSpPr>
        <p:spPr>
          <a:xfrm>
            <a:off x="6278880" y="134112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049652E-3A18-F494-9AC2-D7523E274D2E}"/>
              </a:ext>
            </a:extLst>
          </p:cNvPr>
          <p:cNvSpPr/>
          <p:nvPr/>
        </p:nvSpPr>
        <p:spPr>
          <a:xfrm>
            <a:off x="6498336" y="156057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D3EAE22-4772-A05E-AD5A-6203218D4349}"/>
              </a:ext>
            </a:extLst>
          </p:cNvPr>
          <p:cNvSpPr/>
          <p:nvPr/>
        </p:nvSpPr>
        <p:spPr>
          <a:xfrm>
            <a:off x="6498336" y="15605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2</a:t>
            </a:r>
            <a:endParaRPr lang="en-US" sz="1867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5A748E0-90D3-9408-68B2-57E126616246}"/>
              </a:ext>
            </a:extLst>
          </p:cNvPr>
          <p:cNvSpPr/>
          <p:nvPr/>
        </p:nvSpPr>
        <p:spPr>
          <a:xfrm>
            <a:off x="7278624" y="156057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>
                <a:solidFill>
                  <a:srgbClr val="1A202C"/>
                </a:solidFill>
                <a:latin typeface="Arial"/>
                <a:ea typeface="Arial" pitchFamily="34" charset="-122"/>
                <a:cs typeface="Arial"/>
              </a:rPr>
              <a:t>Install Requirements</a:t>
            </a:r>
            <a:endParaRPr lang="en-US" sz="1700" b="1">
              <a:solidFill>
                <a:srgbClr val="1A202C"/>
              </a:solidFill>
              <a:latin typeface="Arial"/>
              <a:cs typeface="Arial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9F72451-787D-E05C-1A88-178246AD5E12}"/>
              </a:ext>
            </a:extLst>
          </p:cNvPr>
          <p:cNvSpPr/>
          <p:nvPr/>
        </p:nvSpPr>
        <p:spPr>
          <a:xfrm>
            <a:off x="6522720" y="209702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7EEE96A-2A86-52C1-E2C7-78F31DB2BE2D}"/>
              </a:ext>
            </a:extLst>
          </p:cNvPr>
          <p:cNvSpPr/>
          <p:nvPr/>
        </p:nvSpPr>
        <p:spPr>
          <a:xfrm>
            <a:off x="6644640" y="209702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pip install –r </a:t>
            </a:r>
            <a:r>
              <a:rPr lang="en-US" sz="125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250">
              <a:latin typeface="Consola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0E5677E-17B2-2C7D-818A-DACA294BCA9F}"/>
              </a:ext>
            </a:extLst>
          </p:cNvPr>
          <p:cNvSpPr/>
          <p:nvPr/>
        </p:nvSpPr>
        <p:spPr>
          <a:xfrm>
            <a:off x="6522720" y="296265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Install the Python packages.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129B378-4FCA-CE2C-2D24-F886B3483C02}"/>
              </a:ext>
            </a:extLst>
          </p:cNvPr>
          <p:cNvSpPr/>
          <p:nvPr/>
        </p:nvSpPr>
        <p:spPr>
          <a:xfrm>
            <a:off x="404836" y="3901440"/>
            <a:ext cx="5569244" cy="217971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5E42A0EF-4BD7-AC52-BBA3-0366C84DDBF0}"/>
              </a:ext>
            </a:extLst>
          </p:cNvPr>
          <p:cNvSpPr/>
          <p:nvPr/>
        </p:nvSpPr>
        <p:spPr>
          <a:xfrm>
            <a:off x="365760" y="390144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4469F6A-2BA4-76E8-9D98-CBA686B35EE3}"/>
              </a:ext>
            </a:extLst>
          </p:cNvPr>
          <p:cNvSpPr/>
          <p:nvPr/>
        </p:nvSpPr>
        <p:spPr>
          <a:xfrm>
            <a:off x="585216" y="412089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02B1E92-645F-E23A-A272-3F835235AAC3}"/>
              </a:ext>
            </a:extLst>
          </p:cNvPr>
          <p:cNvSpPr/>
          <p:nvPr/>
        </p:nvSpPr>
        <p:spPr>
          <a:xfrm>
            <a:off x="585216" y="41208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3</a:t>
            </a:r>
            <a:endParaRPr lang="en-US" sz="1867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4F6D143-F737-A457-B4C5-B08007D3F9C9}"/>
              </a:ext>
            </a:extLst>
          </p:cNvPr>
          <p:cNvSpPr/>
          <p:nvPr/>
        </p:nvSpPr>
        <p:spPr>
          <a:xfrm>
            <a:off x="1365504" y="412089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A202C"/>
                </a:solidFill>
                <a:cs typeface="Arial"/>
              </a:rPr>
              <a:t>Run the Chatbot</a:t>
            </a:r>
            <a:endParaRPr lang="en-US" sz="1700" b="1" dirty="0">
              <a:solidFill>
                <a:srgbClr val="1A202C"/>
              </a:solidFill>
              <a:cs typeface="Arial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F723A71F-5920-D796-F2A0-7AC4F9632E8D}"/>
              </a:ext>
            </a:extLst>
          </p:cNvPr>
          <p:cNvSpPr/>
          <p:nvPr/>
        </p:nvSpPr>
        <p:spPr>
          <a:xfrm>
            <a:off x="609600" y="465734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063ED2A-1D34-2C24-5D22-376635734A4C}"/>
              </a:ext>
            </a:extLst>
          </p:cNvPr>
          <p:cNvSpPr/>
          <p:nvPr/>
        </p:nvSpPr>
        <p:spPr>
          <a:xfrm>
            <a:off x="731520" y="465734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 err="1">
                <a:solidFill>
                  <a:srgbClr val="14C4B0"/>
                </a:solidFill>
                <a:ea typeface="+mn-lt"/>
                <a:cs typeface="+mn-lt"/>
              </a:rPr>
              <a:t>streamlit</a:t>
            </a:r>
            <a:r>
              <a:rPr lang="en-US" sz="1250" dirty="0">
                <a:solidFill>
                  <a:srgbClr val="14C4B0"/>
                </a:solidFill>
                <a:ea typeface="+mn-lt"/>
                <a:cs typeface="+mn-lt"/>
              </a:rPr>
              <a:t> run app.py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0E8EC31-7868-D13C-BA0D-68DC9CBAFB71}"/>
              </a:ext>
            </a:extLst>
          </p:cNvPr>
          <p:cNvSpPr/>
          <p:nvPr/>
        </p:nvSpPr>
        <p:spPr>
          <a:xfrm>
            <a:off x="609600" y="552297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Navigate: </a:t>
            </a:r>
            <a:r>
              <a:rPr lang="en-US" sz="1400" dirty="0">
                <a:solidFill>
                  <a:srgbClr val="64748B"/>
                </a:solidFill>
                <a:ea typeface="+mn-lt"/>
                <a:cs typeface="+mn-lt"/>
              </a:rPr>
              <a:t>http://localhost:8501/</a:t>
            </a:r>
            <a:endParaRPr lang="en-US" sz="1400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A5BC6527-29C4-FA8B-F397-7A02F1FB7E51}"/>
              </a:ext>
            </a:extLst>
          </p:cNvPr>
          <p:cNvSpPr/>
          <p:nvPr/>
        </p:nvSpPr>
        <p:spPr>
          <a:xfrm>
            <a:off x="6317956" y="3901440"/>
            <a:ext cx="5569244" cy="217971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819EBD98-B44C-AF3E-E146-7954513B2101}"/>
              </a:ext>
            </a:extLst>
          </p:cNvPr>
          <p:cNvSpPr/>
          <p:nvPr/>
        </p:nvSpPr>
        <p:spPr>
          <a:xfrm>
            <a:off x="6210495" y="3901440"/>
            <a:ext cx="114653" cy="2179711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7FDE688B-674D-A71F-F955-C9D250A718DB}"/>
              </a:ext>
            </a:extLst>
          </p:cNvPr>
          <p:cNvSpPr/>
          <p:nvPr/>
        </p:nvSpPr>
        <p:spPr>
          <a:xfrm>
            <a:off x="6498336" y="412089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BC44ED6E-63D9-387A-F617-486F049B03EB}"/>
              </a:ext>
            </a:extLst>
          </p:cNvPr>
          <p:cNvSpPr/>
          <p:nvPr/>
        </p:nvSpPr>
        <p:spPr>
          <a:xfrm>
            <a:off x="6498336" y="41208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4</a:t>
            </a:r>
            <a:endParaRPr lang="en-US" sz="1867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381CB72-32BB-648F-9A92-9571F9C37362}"/>
              </a:ext>
            </a:extLst>
          </p:cNvPr>
          <p:cNvSpPr/>
          <p:nvPr/>
        </p:nvSpPr>
        <p:spPr>
          <a:xfrm>
            <a:off x="7278624" y="412089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A202C"/>
                </a:solidFill>
                <a:cs typeface="Arial"/>
              </a:rPr>
              <a:t>Test the </a:t>
            </a:r>
            <a:r>
              <a:rPr lang="en-US" sz="1700" b="1" err="1">
                <a:solidFill>
                  <a:srgbClr val="1A202C"/>
                </a:solidFill>
                <a:cs typeface="Arial"/>
              </a:rPr>
              <a:t>Chatbo</a:t>
            </a:r>
            <a:r>
              <a:rPr lang="en-US" sz="1700" b="1">
                <a:solidFill>
                  <a:srgbClr val="1A202C"/>
                </a:solidFill>
                <a:cs typeface="Arial"/>
              </a:rPr>
              <a:t>t</a:t>
            </a:r>
            <a:endParaRPr lang="en-US" sz="1700" b="1" dirty="0">
              <a:solidFill>
                <a:srgbClr val="1A202C"/>
              </a:solidFill>
              <a:cs typeface="Arial"/>
            </a:endParaRPr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7C2DE416-1734-A5AC-8D69-232878224BA1}"/>
              </a:ext>
            </a:extLst>
          </p:cNvPr>
          <p:cNvSpPr/>
          <p:nvPr/>
        </p:nvSpPr>
        <p:spPr>
          <a:xfrm>
            <a:off x="6522720" y="465734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8AC0A46-15E0-1510-E5CC-5B58EFC352C2}"/>
              </a:ext>
            </a:extLst>
          </p:cNvPr>
          <p:cNvSpPr/>
          <p:nvPr/>
        </p:nvSpPr>
        <p:spPr>
          <a:xfrm>
            <a:off x="6644640" y="465734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 err="1">
                <a:solidFill>
                  <a:srgbClr val="14C4B0"/>
                </a:solidFill>
                <a:ea typeface="+mn-lt"/>
                <a:cs typeface="+mn-lt"/>
              </a:rPr>
              <a:t>venv</a:t>
            </a:r>
            <a:r>
              <a:rPr lang="en-US" sz="1250" dirty="0">
                <a:solidFill>
                  <a:srgbClr val="14C4B0"/>
                </a:solidFill>
                <a:ea typeface="+mn-lt"/>
                <a:cs typeface="+mn-lt"/>
              </a:rPr>
              <a:t>\Scripts\activate</a:t>
            </a:r>
            <a:endParaRPr lang="en-US" dirty="0"/>
          </a:p>
          <a:p>
            <a:r>
              <a:rPr lang="en-US" sz="1250">
                <a:solidFill>
                  <a:srgbClr val="14C4B0"/>
                </a:solidFill>
                <a:latin typeface="Consolas"/>
              </a:rPr>
              <a:t>python </a:t>
            </a:r>
            <a:r>
              <a:rPr lang="en-US" sz="1250">
                <a:solidFill>
                  <a:srgbClr val="14C4B0"/>
                </a:solidFill>
                <a:ea typeface="+mn-lt"/>
                <a:cs typeface="+mn-lt"/>
              </a:rPr>
              <a:t>fill_test_sheet.py</a:t>
            </a:r>
            <a:endParaRPr lang="en-US" sz="1250" dirty="0">
              <a:solidFill>
                <a:srgbClr val="14C4B0"/>
              </a:solidFill>
              <a:latin typeface="Consolas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AEBE0C89-1A2D-10F0-2803-FF97694CBADE}"/>
              </a:ext>
            </a:extLst>
          </p:cNvPr>
          <p:cNvSpPr/>
          <p:nvPr/>
        </p:nvSpPr>
        <p:spPr>
          <a:xfrm>
            <a:off x="6522720" y="552297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Run the test.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9848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1120" y="146304"/>
            <a:ext cx="975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EDGE Chatbot Automatically</a:t>
            </a:r>
            <a:endParaRPr lang="en-US" sz="32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5CAAA9-E2F5-D7A2-E0D6-49CB47C2D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29" y="1571625"/>
            <a:ext cx="9657818" cy="3971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10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5486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2E51-2BEF-E3AA-0723-CF4C9AC4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C7946E-6137-2589-72B1-79D5513D44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11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F3EE4C-A74C-F34B-641E-DAB8BE67F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0464D9-BE4F-25E3-3C97-C786F049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00">
                <a:solidFill>
                  <a:schemeClr val="tx1"/>
                </a:solidFill>
              </a:rPr>
              <a:t>Thanks</a:t>
            </a:r>
            <a:endParaRPr lang="en-US" sz="5200"/>
          </a:p>
          <a:p>
            <a:endParaRPr lang="en-US"/>
          </a:p>
        </p:txBody>
      </p:sp>
      <p:graphicFrame>
        <p:nvGraphicFramePr>
          <p:cNvPr id="19" name="Text Placeholder 3">
            <a:extLst>
              <a:ext uri="{FF2B5EF4-FFF2-40B4-BE49-F238E27FC236}">
                <a16:creationId xmlns:a16="http://schemas.microsoft.com/office/drawing/2014/main" id="{D3BBEF13-E0C8-2D36-EBA1-56DA2EB871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019769"/>
              </p:ext>
            </p:extLst>
          </p:nvPr>
        </p:nvGraphicFramePr>
        <p:xfrm>
          <a:off x="827903" y="1949192"/>
          <a:ext cx="10525897" cy="4227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041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andoutMaster1">
  <a:themeElements>
    <a:clrScheme name="handout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andout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handout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680F2E875A6F4C8A5AC31823EE5322" ma:contentTypeVersion="3" ma:contentTypeDescription="Create a new document." ma:contentTypeScope="" ma:versionID="7299fbc07b3282582e917d0409e758c5">
  <xsd:schema xmlns:xsd="http://www.w3.org/2001/XMLSchema" xmlns:xs="http://www.w3.org/2001/XMLSchema" xmlns:p="http://schemas.microsoft.com/office/2006/metadata/properties" xmlns:ns2="ae17ed94-213e-4d33-81db-1e7f92ff4ebb" targetNamespace="http://schemas.microsoft.com/office/2006/metadata/properties" ma:root="true" ma:fieldsID="f1f32ed49b25ec90362555824d00dbce" ns2:_="">
    <xsd:import namespace="ae17ed94-213e-4d33-81db-1e7f92ff4e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17ed94-213e-4d33-81db-1e7f92ff4e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61DBE2-C7D3-4BB5-AC84-2E5A62EC767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80A8CC9-6CB9-4442-A4A0-CCC1121C5A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080C8A-B964-45FE-A694-C5A6190098F1}">
  <ds:schemaRefs>
    <ds:schemaRef ds:uri="ae17ed94-213e-4d33-81db-1e7f92ff4e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11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Outline</vt:lpstr>
      <vt:lpstr>Evaluators and reflect-refine loops</vt:lpstr>
      <vt:lpstr>PowerPoint Presentation</vt:lpstr>
      <vt:lpstr>Mistral API using</vt:lpstr>
      <vt:lpstr>PowerPoint Presentation</vt:lpstr>
      <vt:lpstr>PowerPoint Presentation</vt:lpstr>
      <vt:lpstr>PowerPoint Presentation</vt:lpstr>
      <vt:lpstr>PowerPoint Presentation</vt:lpstr>
      <vt:lpstr>Q&amp;A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Golam Soroar</dc:creator>
  <cp:revision>403</cp:revision>
  <cp:lastPrinted>2025-04-26T15:15:36Z</cp:lastPrinted>
  <dcterms:created xsi:type="dcterms:W3CDTF">2024-06-24T19:24:23Z</dcterms:created>
  <dcterms:modified xsi:type="dcterms:W3CDTF">2026-05-07T07:42:45Z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0x010100C1680F2E875A6F4C8A5AC31823EE5322</vt:lpwstr>
  </property>
</Properties>
</file>