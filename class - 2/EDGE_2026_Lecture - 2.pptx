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56" r:id="rId5"/>
    <p:sldId id="282" r:id="rId6"/>
    <p:sldId id="283" r:id="rId7"/>
    <p:sldId id="284" r:id="rId8"/>
    <p:sldId id="285" r:id="rId9"/>
    <p:sldId id="294" r:id="rId10"/>
    <p:sldId id="286" r:id="rId11"/>
    <p:sldId id="287" r:id="rId12"/>
    <p:sldId id="288" r:id="rId13"/>
    <p:sldId id="289" r:id="rId14"/>
    <p:sldId id="290" r:id="rId15"/>
    <p:sldId id="291" r:id="rId16"/>
    <p:sldId id="295" r:id="rId17"/>
    <p:sldId id="292" r:id="rId18"/>
    <p:sldId id="293" r:id="rId19"/>
    <p:sldId id="270" r:id="rId20"/>
    <p:sldId id="281" r:id="rId21"/>
  </p:sldIdLst>
  <p:sldSz cx="12192000" cy="6858000"/>
  <p:notesSz cx="9144000" cy="6858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1pPr>
    <a:lvl2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2pPr>
    <a:lvl3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3pPr>
    <a:lvl4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4pPr>
    <a:lvl5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5pPr>
    <a:lvl6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6pPr>
    <a:lvl7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7pPr>
    <a:lvl8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8pPr>
    <a:lvl9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9AEA1-A084-9DB3-FBF8-E120026B02FD}" v="162" dt="2026-04-19T15:56:31.947"/>
    <p1510:client id="{257877EF-8EBE-8E7C-D6D1-3E7943B46C8C}" v="210" dt="2026-04-19T12:12:11.288"/>
    <p1510:client id="{7D9E385C-1CC3-A14C-C1E2-9972EEB1D612}" v="170" dt="2026-04-19T11:47:34.719"/>
    <p1510:client id="{A1948A0B-0A06-3B83-36BF-CD644A152503}" v="40" dt="2026-04-21T05:35:55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1896" y="6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CB4E3A-62AB-47AB-B20B-D859638A63D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34C5B9F-75B1-4FE0-945D-A340F2C560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dirty="0">
              <a:latin typeface="Arial"/>
              <a:cs typeface="Arial"/>
            </a:rPr>
            <a:t>Md. Golam </a:t>
          </a:r>
          <a:r>
            <a:rPr lang="en-US" b="0" i="0" dirty="0" err="1">
              <a:latin typeface="Arial"/>
              <a:cs typeface="Arial"/>
            </a:rPr>
            <a:t>Mostofa</a:t>
          </a:r>
          <a:endParaRPr lang="en-US" dirty="0">
            <a:latin typeface="Arial"/>
            <a:cs typeface="Arial"/>
          </a:endParaRPr>
        </a:p>
      </dgm:t>
    </dgm:pt>
    <dgm:pt modelId="{E287CCD7-21BC-4BF5-890C-89A1712065F4}" type="parTrans" cxnId="{BC3DF74D-5B4E-4CCB-A6DB-5BF48112732A}">
      <dgm:prSet/>
      <dgm:spPr/>
      <dgm:t>
        <a:bodyPr/>
        <a:lstStyle/>
        <a:p>
          <a:endParaRPr lang="en-US"/>
        </a:p>
      </dgm:t>
    </dgm:pt>
    <dgm:pt modelId="{80B600AD-880D-46F0-BADE-FCF208A5E615}" type="sibTrans" cxnId="{BC3DF74D-5B4E-4CCB-A6DB-5BF48112732A}">
      <dgm:prSet/>
      <dgm:spPr/>
      <dgm:t>
        <a:bodyPr/>
        <a:lstStyle/>
        <a:p>
          <a:endParaRPr lang="en-US"/>
        </a:p>
      </dgm:t>
    </dgm:pt>
    <dgm:pt modelId="{29780693-460C-4711-AB25-345984E199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cap="none"/>
            <a:t>golam.mostofa@bizzntek.com</a:t>
          </a:r>
          <a:endParaRPr lang="en-US" cap="none"/>
        </a:p>
      </dgm:t>
    </dgm:pt>
    <dgm:pt modelId="{D6507A44-C958-4E78-875F-AEB81F4CCBB0}" type="parTrans" cxnId="{813304BA-7F23-404A-951C-40EAB56ABAD3}">
      <dgm:prSet/>
      <dgm:spPr/>
      <dgm:t>
        <a:bodyPr/>
        <a:lstStyle/>
        <a:p>
          <a:endParaRPr lang="en-US"/>
        </a:p>
      </dgm:t>
    </dgm:pt>
    <dgm:pt modelId="{6A2BE5BA-A623-456A-8804-388AAB892599}" type="sibTrans" cxnId="{813304BA-7F23-404A-951C-40EAB56ABAD3}">
      <dgm:prSet/>
      <dgm:spPr/>
      <dgm:t>
        <a:bodyPr/>
        <a:lstStyle/>
        <a:p>
          <a:endParaRPr lang="en-US"/>
        </a:p>
      </dgm:t>
    </dgm:pt>
    <dgm:pt modelId="{6A224A11-3F19-4EF8-BB40-B20015FE2037}" type="pres">
      <dgm:prSet presAssocID="{71CB4E3A-62AB-47AB-B20B-D859638A63D5}" presName="root" presStyleCnt="0">
        <dgm:presLayoutVars>
          <dgm:dir/>
          <dgm:resizeHandles val="exact"/>
        </dgm:presLayoutVars>
      </dgm:prSet>
      <dgm:spPr/>
    </dgm:pt>
    <dgm:pt modelId="{B44094F6-0140-460D-AABE-E4F39168016D}" type="pres">
      <dgm:prSet presAssocID="{C34C5B9F-75B1-4FE0-945D-A340F2C560AC}" presName="compNode" presStyleCnt="0"/>
      <dgm:spPr/>
    </dgm:pt>
    <dgm:pt modelId="{7E3D7DBC-AE01-4F56-BA02-08F174EA30D5}" type="pres">
      <dgm:prSet presAssocID="{C34C5B9F-75B1-4FE0-945D-A340F2C560AC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B9CAAD2-8EB4-44F9-9703-A3021467F4F5}" type="pres">
      <dgm:prSet presAssocID="{C34C5B9F-75B1-4FE0-945D-A340F2C560A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</dgm:pt>
    <dgm:pt modelId="{D43D5112-3EE7-46CF-A020-32F2ED542861}" type="pres">
      <dgm:prSet presAssocID="{C34C5B9F-75B1-4FE0-945D-A340F2C560AC}" presName="spaceRect" presStyleCnt="0"/>
      <dgm:spPr/>
    </dgm:pt>
    <dgm:pt modelId="{43E16532-A1A6-4909-8439-A51889B6B6C8}" type="pres">
      <dgm:prSet presAssocID="{C34C5B9F-75B1-4FE0-945D-A340F2C560AC}" presName="textRect" presStyleLbl="revTx" presStyleIdx="0" presStyleCnt="2">
        <dgm:presLayoutVars>
          <dgm:chMax val="1"/>
          <dgm:chPref val="1"/>
        </dgm:presLayoutVars>
      </dgm:prSet>
      <dgm:spPr/>
    </dgm:pt>
    <dgm:pt modelId="{F008E458-E638-46C1-832E-6505CA4BA4C9}" type="pres">
      <dgm:prSet presAssocID="{80B600AD-880D-46F0-BADE-FCF208A5E615}" presName="sibTrans" presStyleCnt="0"/>
      <dgm:spPr/>
    </dgm:pt>
    <dgm:pt modelId="{45879739-AF6D-4E84-A821-5040EDA923D1}" type="pres">
      <dgm:prSet presAssocID="{29780693-460C-4711-AB25-345984E1997A}" presName="compNode" presStyleCnt="0"/>
      <dgm:spPr/>
    </dgm:pt>
    <dgm:pt modelId="{53A473AA-2D47-4001-88EC-BBC7E7523C58}" type="pres">
      <dgm:prSet presAssocID="{29780693-460C-4711-AB25-345984E1997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19002C0-3907-4944-A085-0062B2B4063A}" type="pres">
      <dgm:prSet presAssocID="{29780693-460C-4711-AB25-345984E1997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46EED30-1B26-484D-B67A-18D247CAB26C}" type="pres">
      <dgm:prSet presAssocID="{29780693-460C-4711-AB25-345984E1997A}" presName="spaceRect" presStyleCnt="0"/>
      <dgm:spPr/>
    </dgm:pt>
    <dgm:pt modelId="{1AF53B96-4F0A-4B87-96A2-FCFF3DBD857B}" type="pres">
      <dgm:prSet presAssocID="{29780693-460C-4711-AB25-345984E1997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2DC1713-DFD1-4CB8-B9C7-64C25CD6EE56}" type="presOf" srcId="{71CB4E3A-62AB-47AB-B20B-D859638A63D5}" destId="{6A224A11-3F19-4EF8-BB40-B20015FE2037}" srcOrd="0" destOrd="0" presId="urn:microsoft.com/office/officeart/2018/5/layout/IconLeafLabelList"/>
    <dgm:cxn modelId="{824D683E-B930-4D0E-AE6F-FCE499697379}" type="presOf" srcId="{C34C5B9F-75B1-4FE0-945D-A340F2C560AC}" destId="{43E16532-A1A6-4909-8439-A51889B6B6C8}" srcOrd="0" destOrd="0" presId="urn:microsoft.com/office/officeart/2018/5/layout/IconLeafLabelList"/>
    <dgm:cxn modelId="{BC3DF74D-5B4E-4CCB-A6DB-5BF48112732A}" srcId="{71CB4E3A-62AB-47AB-B20B-D859638A63D5}" destId="{C34C5B9F-75B1-4FE0-945D-A340F2C560AC}" srcOrd="0" destOrd="0" parTransId="{E287CCD7-21BC-4BF5-890C-89A1712065F4}" sibTransId="{80B600AD-880D-46F0-BADE-FCF208A5E615}"/>
    <dgm:cxn modelId="{813304BA-7F23-404A-951C-40EAB56ABAD3}" srcId="{71CB4E3A-62AB-47AB-B20B-D859638A63D5}" destId="{29780693-460C-4711-AB25-345984E1997A}" srcOrd="1" destOrd="0" parTransId="{D6507A44-C958-4E78-875F-AEB81F4CCBB0}" sibTransId="{6A2BE5BA-A623-456A-8804-388AAB892599}"/>
    <dgm:cxn modelId="{7894E7BE-F1A2-459F-BC5B-D849874748F6}" type="presOf" srcId="{29780693-460C-4711-AB25-345984E1997A}" destId="{1AF53B96-4F0A-4B87-96A2-FCFF3DBD857B}" srcOrd="0" destOrd="0" presId="urn:microsoft.com/office/officeart/2018/5/layout/IconLeafLabelList"/>
    <dgm:cxn modelId="{354D9379-EDFA-432A-A362-3888E71AD8BC}" type="presParOf" srcId="{6A224A11-3F19-4EF8-BB40-B20015FE2037}" destId="{B44094F6-0140-460D-AABE-E4F39168016D}" srcOrd="0" destOrd="0" presId="urn:microsoft.com/office/officeart/2018/5/layout/IconLeafLabelList"/>
    <dgm:cxn modelId="{F2BD6D16-4BC5-4F26-BC6C-4099E6162490}" type="presParOf" srcId="{B44094F6-0140-460D-AABE-E4F39168016D}" destId="{7E3D7DBC-AE01-4F56-BA02-08F174EA30D5}" srcOrd="0" destOrd="0" presId="urn:microsoft.com/office/officeart/2018/5/layout/IconLeafLabelList"/>
    <dgm:cxn modelId="{3AB18AEE-AFCF-4D8A-A853-36062C847F32}" type="presParOf" srcId="{B44094F6-0140-460D-AABE-E4F39168016D}" destId="{CB9CAAD2-8EB4-44F9-9703-A3021467F4F5}" srcOrd="1" destOrd="0" presId="urn:microsoft.com/office/officeart/2018/5/layout/IconLeafLabelList"/>
    <dgm:cxn modelId="{1FFEE408-341A-49CA-BABE-AD833860443B}" type="presParOf" srcId="{B44094F6-0140-460D-AABE-E4F39168016D}" destId="{D43D5112-3EE7-46CF-A020-32F2ED542861}" srcOrd="2" destOrd="0" presId="urn:microsoft.com/office/officeart/2018/5/layout/IconLeafLabelList"/>
    <dgm:cxn modelId="{EE7AB2C9-8DD1-4EC1-9FE8-34A4FE1DD4FC}" type="presParOf" srcId="{B44094F6-0140-460D-AABE-E4F39168016D}" destId="{43E16532-A1A6-4909-8439-A51889B6B6C8}" srcOrd="3" destOrd="0" presId="urn:microsoft.com/office/officeart/2018/5/layout/IconLeafLabelList"/>
    <dgm:cxn modelId="{A6FB0B3A-B75A-4406-AFC2-247EA1C76743}" type="presParOf" srcId="{6A224A11-3F19-4EF8-BB40-B20015FE2037}" destId="{F008E458-E638-46C1-832E-6505CA4BA4C9}" srcOrd="1" destOrd="0" presId="urn:microsoft.com/office/officeart/2018/5/layout/IconLeafLabelList"/>
    <dgm:cxn modelId="{6978E7F9-AD9B-44DC-A4F4-128878F92D64}" type="presParOf" srcId="{6A224A11-3F19-4EF8-BB40-B20015FE2037}" destId="{45879739-AF6D-4E84-A821-5040EDA923D1}" srcOrd="2" destOrd="0" presId="urn:microsoft.com/office/officeart/2018/5/layout/IconLeafLabelList"/>
    <dgm:cxn modelId="{FF1F593F-CBC1-4CE2-9D01-34CFFBF6A889}" type="presParOf" srcId="{45879739-AF6D-4E84-A821-5040EDA923D1}" destId="{53A473AA-2D47-4001-88EC-BBC7E7523C58}" srcOrd="0" destOrd="0" presId="urn:microsoft.com/office/officeart/2018/5/layout/IconLeafLabelList"/>
    <dgm:cxn modelId="{160FFA6F-58C7-4BC6-BC6E-97E1EEA69D24}" type="presParOf" srcId="{45879739-AF6D-4E84-A821-5040EDA923D1}" destId="{C19002C0-3907-4944-A085-0062B2B4063A}" srcOrd="1" destOrd="0" presId="urn:microsoft.com/office/officeart/2018/5/layout/IconLeafLabelList"/>
    <dgm:cxn modelId="{F2C20CFB-E343-4762-97D1-F844D05116F5}" type="presParOf" srcId="{45879739-AF6D-4E84-A821-5040EDA923D1}" destId="{146EED30-1B26-484D-B67A-18D247CAB26C}" srcOrd="2" destOrd="0" presId="urn:microsoft.com/office/officeart/2018/5/layout/IconLeafLabelList"/>
    <dgm:cxn modelId="{AC42820C-C8A9-4A56-870E-9A795931D459}" type="presParOf" srcId="{45879739-AF6D-4E84-A821-5040EDA923D1}" destId="{1AF53B96-4F0A-4B87-96A2-FCFF3DBD857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D7DBC-AE01-4F56-BA02-08F174EA30D5}">
      <dsp:nvSpPr>
        <dsp:cNvPr id="0" name=""/>
        <dsp:cNvSpPr/>
      </dsp:nvSpPr>
      <dsp:spPr>
        <a:xfrm>
          <a:off x="2049948" y="313885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CAAD2-8EB4-44F9-9703-A3021467F4F5}">
      <dsp:nvSpPr>
        <dsp:cNvPr id="0" name=""/>
        <dsp:cNvSpPr/>
      </dsp:nvSpPr>
      <dsp:spPr>
        <a:xfrm>
          <a:off x="2517948" y="781885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16532-A1A6-4909-8439-A51889B6B6C8}">
      <dsp:nvSpPr>
        <dsp:cNvPr id="0" name=""/>
        <dsp:cNvSpPr/>
      </dsp:nvSpPr>
      <dsp:spPr>
        <a:xfrm>
          <a:off x="1347948" y="319388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dirty="0">
              <a:latin typeface="Arial"/>
              <a:cs typeface="Arial"/>
            </a:rPr>
            <a:t>Md. Golam </a:t>
          </a:r>
          <a:r>
            <a:rPr lang="en-US" sz="1600" b="0" i="0" kern="1200" dirty="0" err="1">
              <a:latin typeface="Arial"/>
              <a:cs typeface="Arial"/>
            </a:rPr>
            <a:t>Mostofa</a:t>
          </a:r>
          <a:endParaRPr lang="en-US" sz="1600" kern="1200" dirty="0">
            <a:latin typeface="Arial"/>
            <a:cs typeface="Arial"/>
          </a:endParaRPr>
        </a:p>
      </dsp:txBody>
      <dsp:txXfrm>
        <a:off x="1347948" y="3193885"/>
        <a:ext cx="3600000" cy="720000"/>
      </dsp:txXfrm>
    </dsp:sp>
    <dsp:sp modelId="{53A473AA-2D47-4001-88EC-BBC7E7523C58}">
      <dsp:nvSpPr>
        <dsp:cNvPr id="0" name=""/>
        <dsp:cNvSpPr/>
      </dsp:nvSpPr>
      <dsp:spPr>
        <a:xfrm>
          <a:off x="6279948" y="313885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002C0-3907-4944-A085-0062B2B4063A}">
      <dsp:nvSpPr>
        <dsp:cNvPr id="0" name=""/>
        <dsp:cNvSpPr/>
      </dsp:nvSpPr>
      <dsp:spPr>
        <a:xfrm>
          <a:off x="6747948" y="781885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53B96-4F0A-4B87-96A2-FCFF3DBD857B}">
      <dsp:nvSpPr>
        <dsp:cNvPr id="0" name=""/>
        <dsp:cNvSpPr/>
      </dsp:nvSpPr>
      <dsp:spPr>
        <a:xfrm>
          <a:off x="5577948" y="319388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cap="none"/>
            <a:t>golam.mostofa@bizzntek.com</a:t>
          </a:r>
          <a:endParaRPr lang="en-US" sz="1600" kern="1200" cap="none"/>
        </a:p>
      </dsp:txBody>
      <dsp:txXfrm>
        <a:off x="5577948" y="3193885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"/>
          <p:cNvSpPr>
            <a:spLocks noGrp="1"/>
          </p:cNvSpPr>
          <p:nvPr>
            <p:ph type="hdr"/>
          </p:nvPr>
        </p:nvSpPr>
        <p:spPr>
          <a:xfrm>
            <a:off x="0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t" anchorCtr="0">
            <a:prstTxWarp prst="textNoShape">
              <a:avLst/>
            </a:prstTxWarp>
          </a:bodyPr>
          <a:lstStyle/>
          <a:p>
            <a:pPr algn="l"/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4" name="Text box"/>
          <p:cNvSpPr>
            <a:spLocks noGrp="1"/>
          </p:cNvSpPr>
          <p:nvPr>
            <p:ph type="dt" idx="1"/>
          </p:nvPr>
        </p:nvSpPr>
        <p:spPr>
          <a:xfrm>
            <a:off x="6992303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300">
                <a:latin typeface="Arial" charset="0"/>
                <a:ea typeface="Arial" charset="0"/>
                <a:cs typeface="Arial" charset="0"/>
                <a:sym typeface="Arial" charset="0"/>
              </a:rPr>
              <a:t>4/20/2026</a:t>
            </a:fld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5" name="Text box"/>
          <p:cNvSpPr>
            <a:spLocks noGrp="1"/>
          </p:cNvSpPr>
          <p:nvPr>
            <p:ph type="ftr" idx="2"/>
          </p:nvPr>
        </p:nvSpPr>
        <p:spPr>
          <a:xfrm>
            <a:off x="0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b" anchorCtr="0">
            <a:prstTxWarp prst="textNoShape">
              <a:avLst/>
            </a:prstTxWarp>
          </a:bodyPr>
          <a:lstStyle/>
          <a:p>
            <a:pPr algn="l"/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6" name="Text box"/>
          <p:cNvSpPr>
            <a:spLocks noGrp="1"/>
          </p:cNvSpPr>
          <p:nvPr>
            <p:ph type="sldNum" idx="3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‹#›</a:t>
            </a:fld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21148"/>
      </p:ext>
    </p:extLst>
  </p:cSld>
  <p:clrMap bg1="lt1" tx1="dk1" bg2="lt2" tx2="dk2" accent1="accent1" accent2="accent2" accent3="accent3" accent4="accent4" accent5="accent5" accent6="accent6" hlink="hlink" folHlink="folHlink"/>
  <p:hf sldNum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‹#›</a:t>
            </a:fld>
            <a:endParaRPr lang="zh-CN" altLang="en-US" sz="130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7" name="Text box"/>
          <p:cNvSpPr>
            <a:spLocks noGrp="1"/>
          </p:cNvSpPr>
          <p:nvPr>
            <p:ph type="hdr" idx="2"/>
          </p:nvPr>
        </p:nvSpPr>
        <p:spPr>
          <a:xfrm>
            <a:off x="0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dt" idx="10"/>
          </p:nvPr>
        </p:nvSpPr>
        <p:spPr>
          <a:xfrm>
            <a:off x="6992303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cap="none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9" name="Object"/>
          <p:cNvSpPr>
            <a:spLocks noGrp="1" noRot="1" noChangeAspect="1"/>
          </p:cNvSpPr>
          <p:nvPr>
            <p:ph type="sldImg" idx="3"/>
          </p:nvPr>
        </p:nvSpPr>
        <p:spPr>
          <a:xfrm>
            <a:off x="3978275" y="914400"/>
            <a:ext cx="4387850" cy="2468562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" name="Text box"/>
          <p:cNvSpPr>
            <a:spLocks noGrp="1"/>
          </p:cNvSpPr>
          <p:nvPr>
            <p:ph type="body" idx="1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marL="457200" indent="-228600"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11" name="Text box"/>
          <p:cNvSpPr>
            <a:spLocks noGrp="1"/>
          </p:cNvSpPr>
          <p:nvPr>
            <p:ph type="ftr"/>
          </p:nvPr>
        </p:nvSpPr>
        <p:spPr>
          <a:xfrm>
            <a:off x="0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9191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1pPr>
    <a:lvl2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2pPr>
    <a:lvl3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3pPr>
    <a:lvl4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4pPr>
    <a:lvl5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5pPr>
    <a:lvl6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6pPr>
    <a:lvl7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7pPr>
    <a:lvl8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8pPr>
    <a:lvl9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</a:t>
            </a:fld>
            <a:endParaRPr lang="zh-CN" altLang="en-US" sz="130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9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978275" y="914400"/>
            <a:ext cx="4387850" cy="2468563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0" name="Text box"/>
          <p:cNvSpPr>
            <a:spLocks noGrp="1"/>
          </p:cNvSpPr>
          <p:nvPr>
            <p:ph type="body" idx="1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41" name="Rectangles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90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0" y="6179518"/>
            <a:ext cx="12192000" cy="714053"/>
            <a:chOff x="0" y="6179518"/>
            <a:chExt cx="12192000" cy="714053"/>
          </a:xfrm>
        </p:grpSpPr>
        <p:sp>
          <p:nvSpPr>
            <p:cNvPr id="22" name="Rectangles"/>
            <p:cNvSpPr>
              <a:spLocks/>
            </p:cNvSpPr>
            <p:nvPr/>
          </p:nvSpPr>
          <p:spPr>
            <a:xfrm>
              <a:off x="0" y="6179518"/>
              <a:ext cx="12192000" cy="714053"/>
            </a:xfrm>
            <a:prstGeom prst="rect">
              <a:avLst/>
            </a:prstGeom>
            <a:solidFill>
              <a:srgbClr val="DDEAF6"/>
            </a:solidFill>
            <a:ln w="12700" cap="flat" cmpd="sng">
              <a:noFill/>
              <a:prstDash val="solid"/>
              <a:round/>
            </a:ln>
          </p:spPr>
        </p:sp>
        <p:grpSp>
          <p:nvGrpSpPr>
            <p:cNvPr id="5" name="Group 4"/>
            <p:cNvGrpSpPr/>
            <p:nvPr userDrawn="1"/>
          </p:nvGrpSpPr>
          <p:grpSpPr>
            <a:xfrm>
              <a:off x="199242" y="6324619"/>
              <a:ext cx="3401208" cy="456764"/>
              <a:chOff x="199242" y="6324619"/>
              <a:chExt cx="3401208" cy="456764"/>
            </a:xfrm>
          </p:grpSpPr>
          <p:pic>
            <p:nvPicPr>
              <p:cNvPr id="24" name="Images" descr="DUET"/>
              <p:cNvPicPr>
                <a:picLocks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99242" y="6324619"/>
                <a:ext cx="456765" cy="45676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</p:pic>
          <p:pic>
            <p:nvPicPr>
              <p:cNvPr id="2050" name="Picture 2" descr="EDGE Bangladesh"/>
              <p:cNvPicPr>
                <a:picLocks noChangeAspect="1" noChangeArrowheads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5962" y="6346349"/>
                <a:ext cx="860425" cy="4133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8" name="Picture 10" descr="BCCTMS - Login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6342" y="6357499"/>
                <a:ext cx="1764108" cy="391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7" name="Text box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6000">
                <a:latin typeface="+mj-lt"/>
                <a:cs typeface="Times New Roman" panose="02020603050405020304" pitchFamily="18" charset="0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6000" b="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Lucida Sans"/>
            </a:endParaRPr>
          </a:p>
        </p:txBody>
      </p:sp>
      <p:sp>
        <p:nvSpPr>
          <p:cNvPr id="18" name="Text box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400" b="0" i="0" u="none" strike="noStrike" kern="0" cap="none" spc="0" baseline="0" dirty="0">
              <a:solidFill>
                <a:srgbClr val="000000"/>
              </a:solidFill>
              <a:latin typeface="Arial" charset="0"/>
              <a:ea typeface="Arial" charset="0"/>
              <a:cs typeface="Lucida Sans"/>
            </a:endParaRPr>
          </a:p>
        </p:txBody>
      </p:sp>
      <p:sp>
        <p:nvSpPr>
          <p:cNvPr id="19" name="Text box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0" name="Text box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1" name="Text box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algn="r"/>
            <a:fld id="{CAD2D6BD-DE1B-4B5F-8B41-2702339687B9}" type="slidenum">
              <a:rPr lang="en-US" altLang="zh-CN" b="0" smtClean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pPr algn="r"/>
              <a:t>‹#›</a:t>
            </a:fld>
            <a:endParaRPr lang="zh-CN" altLang="en-US" b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>
            <a:off x="493487" y="391886"/>
            <a:ext cx="11219542" cy="5584507"/>
            <a:chOff x="1028700" y="1028700"/>
            <a:chExt cx="16230600" cy="8229600"/>
          </a:xfrm>
        </p:grpSpPr>
        <p:sp>
          <p:nvSpPr>
            <p:cNvPr id="37" name="Freeform 2"/>
            <p:cNvSpPr/>
            <p:nvPr/>
          </p:nvSpPr>
          <p:spPr>
            <a:xfrm>
              <a:off x="1028700" y="1028700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0" y="0"/>
                  </a:moveTo>
                  <a:lnTo>
                    <a:pt x="2516101" y="0"/>
                  </a:lnTo>
                  <a:lnTo>
                    <a:pt x="2516101" y="2516101"/>
                  </a:lnTo>
                  <a:lnTo>
                    <a:pt x="0" y="251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5"/>
            <p:cNvSpPr/>
            <p:nvPr/>
          </p:nvSpPr>
          <p:spPr>
            <a:xfrm flipH="1" flipV="1">
              <a:off x="14743199" y="6742199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2516101" y="2516101"/>
                  </a:moveTo>
                  <a:lnTo>
                    <a:pt x="0" y="2516101"/>
                  </a:lnTo>
                  <a:lnTo>
                    <a:pt x="0" y="0"/>
                  </a:lnTo>
                  <a:lnTo>
                    <a:pt x="2516101" y="0"/>
                  </a:lnTo>
                  <a:lnTo>
                    <a:pt x="2516101" y="251610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Freeform 6"/>
            <p:cNvSpPr/>
            <p:nvPr/>
          </p:nvSpPr>
          <p:spPr>
            <a:xfrm flipH="1">
              <a:off x="14743199" y="1028700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2516101" y="0"/>
                  </a:moveTo>
                  <a:lnTo>
                    <a:pt x="0" y="0"/>
                  </a:lnTo>
                  <a:lnTo>
                    <a:pt x="0" y="2516101"/>
                  </a:lnTo>
                  <a:lnTo>
                    <a:pt x="2516101" y="2516101"/>
                  </a:lnTo>
                  <a:lnTo>
                    <a:pt x="2516101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7"/>
            <p:cNvSpPr/>
            <p:nvPr/>
          </p:nvSpPr>
          <p:spPr>
            <a:xfrm flipV="1">
              <a:off x="1028700" y="6678599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0" y="2516101"/>
                  </a:moveTo>
                  <a:lnTo>
                    <a:pt x="2516101" y="2516101"/>
                  </a:lnTo>
                  <a:lnTo>
                    <a:pt x="2516101" y="0"/>
                  </a:lnTo>
                  <a:lnTo>
                    <a:pt x="0" y="0"/>
                  </a:lnTo>
                  <a:lnTo>
                    <a:pt x="0" y="251610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3156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4664"/>
            <a:ext cx="10515600" cy="1325562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10515600" cy="4122737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4980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013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0" y="6179518"/>
            <a:ext cx="12192000" cy="714053"/>
            <a:chOff x="0" y="6179518"/>
            <a:chExt cx="12192000" cy="714053"/>
          </a:xfrm>
        </p:grpSpPr>
        <p:sp>
          <p:nvSpPr>
            <p:cNvPr id="8" name="Rectangles"/>
            <p:cNvSpPr>
              <a:spLocks/>
            </p:cNvSpPr>
            <p:nvPr/>
          </p:nvSpPr>
          <p:spPr>
            <a:xfrm>
              <a:off x="0" y="6179518"/>
              <a:ext cx="12192000" cy="714053"/>
            </a:xfrm>
            <a:prstGeom prst="rect">
              <a:avLst/>
            </a:prstGeom>
            <a:solidFill>
              <a:srgbClr val="DDEAF6"/>
            </a:solidFill>
            <a:ln w="12700" cap="flat" cmpd="sng">
              <a:noFill/>
              <a:prstDash val="solid"/>
              <a:round/>
            </a:ln>
          </p:spPr>
        </p:sp>
        <p:grpSp>
          <p:nvGrpSpPr>
            <p:cNvPr id="9" name="Group 8"/>
            <p:cNvGrpSpPr/>
            <p:nvPr userDrawn="1"/>
          </p:nvGrpSpPr>
          <p:grpSpPr>
            <a:xfrm>
              <a:off x="199242" y="6324619"/>
              <a:ext cx="3401208" cy="456764"/>
              <a:chOff x="199242" y="6324619"/>
              <a:chExt cx="3401208" cy="456764"/>
            </a:xfrm>
          </p:grpSpPr>
          <p:pic>
            <p:nvPicPr>
              <p:cNvPr id="10" name="Images" descr="DUET"/>
              <p:cNvPicPr>
                <a:picLocks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99242" y="6324619"/>
                <a:ext cx="456765" cy="45676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</p:pic>
          <p:pic>
            <p:nvPicPr>
              <p:cNvPr id="11" name="Picture 2" descr="EDGE Bangladesh"/>
              <p:cNvPicPr>
                <a:picLocks noChangeAspect="1" noChangeArrowheads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5962" y="6346349"/>
                <a:ext cx="860425" cy="4133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0" descr="BCCTMS - Login"/>
              <p:cNvPicPr>
                <a:picLocks noChangeAspect="1" noChangeArrowheads="1"/>
              </p:cNvPicPr>
              <p:nvPr userDrawn="1"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6342" y="6357499"/>
                <a:ext cx="1764108" cy="391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cap="none" dirty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</a:bodyPr>
          <a:lstStyle/>
          <a:p>
            <a: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charset="0"/>
              <a:buChar char="•"/>
            </a:pPr>
            <a:endParaRPr lang="zh-CN" altLang="en-US" sz="2800" b="0" i="0" u="none" strike="noStrike" cap="none" dirty="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" name="Text box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>
            <a:lvl1pPr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56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62" r:id="rId2"/>
    <p:sldLayoutId id="2147483661" r:id="rId3"/>
  </p:sldLayoutIdLst>
  <p:hf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+mj-lt"/>
          <a:ea typeface="Times New Roman" panose="02020603050405020304" pitchFamily="18" charset="0"/>
          <a:cs typeface="Times New Roman" panose="02020603050405020304" pitchFamily="18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prescriptive-guidance/latest/agentic-ai-patterns/workflow-for-prompt-chaining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prescriptive-guidance/latest/agentic-ai-patterns/workflow-for-prompt-chaining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shuvo881/Software-Testing-EDGE_2026-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shuvo881/Software-Testing-EDGE_2026-/blob/main/class%20-%202/EDGE_Chatbot_Test_Sheet.xlsx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Combination"/>
          <p:cNvGrpSpPr>
            <a:grpSpLocks/>
          </p:cNvGrpSpPr>
          <p:nvPr/>
        </p:nvGrpSpPr>
        <p:grpSpPr>
          <a:xfrm>
            <a:off x="3100181" y="616944"/>
            <a:ext cx="5804025" cy="1185339"/>
            <a:chOff x="3100181" y="616944"/>
            <a:chExt cx="5804025" cy="1185339"/>
          </a:xfrm>
        </p:grpSpPr>
        <p:sp>
          <p:nvSpPr>
            <p:cNvPr id="30" name="Rectangles"/>
            <p:cNvSpPr>
              <a:spLocks/>
            </p:cNvSpPr>
            <p:nvPr/>
          </p:nvSpPr>
          <p:spPr>
            <a:xfrm>
              <a:off x="3100181" y="616944"/>
              <a:ext cx="5804025" cy="64629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CN" sz="3600" b="1" dirty="0"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 Foundational Skills Program</a:t>
              </a:r>
              <a:endParaRPr lang="zh-CN" altLang="en-US" sz="1400" b="0" i="0" u="none" strike="noStrike" kern="0" cap="none" spc="0" baseline="0" dirty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sp>
          <p:nvSpPr>
            <p:cNvPr id="31" name="Rectangles"/>
            <p:cNvSpPr>
              <a:spLocks/>
            </p:cNvSpPr>
            <p:nvPr/>
          </p:nvSpPr>
          <p:spPr>
            <a:xfrm>
              <a:off x="3357371" y="1279064"/>
              <a:ext cx="5289640" cy="5232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 charset="0"/>
                </a:rPr>
                <a:t>Course Title: Software Testing</a:t>
              </a:r>
              <a:endParaRPr lang="zh-CN" altLang="en-US" sz="2800" b="1" i="0" u="none" strike="noStrike" kern="0" cap="none" spc="0" baseline="0" dirty="0">
                <a:solidFill>
                  <a:srgbClr val="0070C0"/>
                </a:solidFill>
                <a:latin typeface="Calibri" charset="0"/>
                <a:ea typeface="Calibri" charset="0"/>
                <a:cs typeface="Calibri" charset="0"/>
                <a:sym typeface="Calibri" charset="0"/>
              </a:endParaRPr>
            </a:p>
          </p:txBody>
        </p:sp>
      </p:grpSp>
      <p:sp>
        <p:nvSpPr>
          <p:cNvPr id="33" name="Rectangles"/>
          <p:cNvSpPr>
            <a:spLocks/>
          </p:cNvSpPr>
          <p:nvPr/>
        </p:nvSpPr>
        <p:spPr>
          <a:xfrm>
            <a:off x="3044119" y="3539400"/>
            <a:ext cx="5960874" cy="984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2400" b="1" dirty="0">
                <a:latin typeface="Calibri"/>
                <a:cs typeface="Calibri"/>
              </a:rPr>
              <a:t>Md. Golam </a:t>
            </a:r>
            <a:r>
              <a:rPr lang="en-US" altLang="zh-CN" sz="2400" b="1" dirty="0" err="1">
                <a:latin typeface="Calibri"/>
                <a:cs typeface="Calibri"/>
              </a:rPr>
              <a:t>Mostofa</a:t>
            </a:r>
            <a:endParaRPr lang="en-US" altLang="zh-CN" sz="2400" b="1" i="0" u="none" strike="noStrike" kern="0" cap="none" spc="0" baseline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/>
            <a:r>
              <a:rPr lang="en-US" altLang="zh-CN" dirty="0">
                <a:latin typeface="Arial"/>
                <a:cs typeface="Arial"/>
              </a:rPr>
              <a:t>AI/ML-QA Engineer, </a:t>
            </a:r>
            <a:r>
              <a:rPr lang="en-US" altLang="zh-CN" dirty="0" err="1">
                <a:latin typeface="Arial"/>
                <a:cs typeface="Arial"/>
              </a:rPr>
              <a:t>Bizzntek</a:t>
            </a:r>
            <a:r>
              <a:rPr lang="en-US" altLang="zh-CN" dirty="0">
                <a:latin typeface="Arial"/>
                <a:cs typeface="Arial"/>
              </a:rPr>
              <a:t> Ltd</a:t>
            </a:r>
            <a:endParaRPr lang="en-US" altLang="zh-CN" sz="1400" b="0" i="0" u="none" strike="noStrike" kern="0" cap="none" spc="0" baseline="0" dirty="0">
              <a:solidFill>
                <a:srgbClr val="000000"/>
              </a:solidFill>
              <a:latin typeface="Arial"/>
              <a:cs typeface="Arial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>
              <a:ea typeface="Calibri"/>
              <a:cs typeface="Calibri"/>
            </a:endParaRPr>
          </a:p>
        </p:txBody>
      </p:sp>
      <p:pic>
        <p:nvPicPr>
          <p:cNvPr id="34" name="Images" descr="DUET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13169" y="1942006"/>
            <a:ext cx="875522" cy="875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pic>
      <p:sp>
        <p:nvSpPr>
          <p:cNvPr id="38" name="Rectangles"/>
          <p:cNvSpPr>
            <a:spLocks/>
          </p:cNvSpPr>
          <p:nvPr/>
        </p:nvSpPr>
        <p:spPr>
          <a:xfrm>
            <a:off x="4895958" y="2949269"/>
            <a:ext cx="2229649" cy="3692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Date: </a:t>
            </a:r>
            <a:r>
              <a:rPr lang="en-US" altLang="zh-CN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April</a:t>
            </a: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 </a:t>
            </a:r>
            <a:r>
              <a:rPr lang="en-US" altLang="zh-CN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19</a:t>
            </a: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, 2026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Calibri"/>
              <a:cs typeface="Calibri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7A65D-EB55-4380-264C-42C40CA8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Outline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CCB626-31E3-F1D1-9E5C-DCDFC8FBE2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2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43425-E61E-6525-D9DD-EB68BA8C68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Introducing Chatbot</a:t>
            </a:r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Introducing</a:t>
            </a:r>
            <a:r>
              <a:rPr lang="en-US" dirty="0">
                <a:latin typeface="Arial"/>
                <a:cs typeface="Arial"/>
              </a:rPr>
              <a:t> RAG</a:t>
            </a:r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Environment</a:t>
            </a:r>
            <a:r>
              <a:rPr lang="en-US" dirty="0">
                <a:latin typeface="Arial"/>
                <a:cs typeface="Arial"/>
              </a:rPr>
              <a:t> setup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Launch EDGE Chatbot</a:t>
            </a:r>
            <a:endParaRPr lang="en-US" dirty="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Test EDGE Chatbot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58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2B0BE-4C0E-FC3F-4E3D-F8808861B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Introducing Chatbot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B4DB85-64E0-0FF4-849A-9CC7111C2C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3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01BD63-B538-39C4-2D41-2B2B787B15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5970953" cy="2932112"/>
          </a:xfrm>
        </p:spPr>
        <p:txBody>
          <a:bodyPr/>
          <a:lstStyle/>
          <a:p>
            <a:r>
              <a:rPr lang="en-US" sz="1800">
                <a:latin typeface="Arial"/>
                <a:cs typeface="Arial"/>
              </a:rPr>
              <a:t>- A chatbot is an AI-powered software that simulates </a:t>
            </a:r>
          </a:p>
          <a:p>
            <a:r>
              <a:rPr lang="en-US" sz="1800">
                <a:latin typeface="Arial"/>
                <a:cs typeface="Arial"/>
              </a:rPr>
              <a:t>  human conversation</a:t>
            </a:r>
          </a:p>
          <a:p>
            <a:r>
              <a:rPr lang="en-US" sz="1800">
                <a:latin typeface="Arial"/>
                <a:cs typeface="Arial"/>
              </a:rPr>
              <a:t>- It accepts user queries and generates responses </a:t>
            </a:r>
          </a:p>
          <a:p>
            <a:r>
              <a:rPr lang="en-US" sz="1800">
                <a:latin typeface="Arial"/>
                <a:cs typeface="Arial"/>
              </a:rPr>
              <a:t>  using a Large Language Model (LLM)</a:t>
            </a:r>
          </a:p>
          <a:p>
            <a:r>
              <a:rPr lang="en-US" sz="1800">
                <a:latin typeface="Arial"/>
                <a:cs typeface="Arial"/>
              </a:rPr>
              <a:t>- Works through a 3-step process:</a:t>
            </a:r>
          </a:p>
          <a:p>
            <a:r>
              <a:rPr lang="en-US" sz="1800">
                <a:latin typeface="Arial"/>
                <a:cs typeface="Arial"/>
              </a:rPr>
              <a:t>   1. User sends a Query</a:t>
            </a:r>
          </a:p>
          <a:p>
            <a:r>
              <a:rPr lang="en-US" sz="1800">
                <a:latin typeface="Arial"/>
                <a:cs typeface="Arial"/>
              </a:rPr>
              <a:t>   2. LLM processes the Prompt</a:t>
            </a:r>
          </a:p>
          <a:p>
            <a:r>
              <a:rPr lang="en-US" sz="1800">
                <a:latin typeface="Arial"/>
                <a:cs typeface="Arial"/>
              </a:rPr>
              <a:t>   3. Chatbot returns a Generated Response</a:t>
            </a:r>
          </a:p>
          <a:p>
            <a:r>
              <a:rPr lang="en-US" sz="1800">
                <a:latin typeface="Arial"/>
                <a:cs typeface="Arial"/>
              </a:rPr>
              <a:t>- Common use cases: customer support, education, </a:t>
            </a:r>
          </a:p>
          <a:p>
            <a:r>
              <a:rPr lang="en-US" sz="1800">
                <a:latin typeface="Arial"/>
                <a:cs typeface="Arial"/>
              </a:rPr>
              <a:t>  and information retrieval</a:t>
            </a:r>
          </a:p>
        </p:txBody>
      </p:sp>
      <p:pic>
        <p:nvPicPr>
          <p:cNvPr id="5" name="Picture 4" descr="A diagram of a brain&#10;&#10;AI-generated content may be incorrect.">
            <a:extLst>
              <a:ext uri="{FF2B5EF4-FFF2-40B4-BE49-F238E27FC236}">
                <a16:creationId xmlns:a16="http://schemas.microsoft.com/office/drawing/2014/main" id="{6ED3D75C-0A11-B338-3777-382E111D0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013" y="1800225"/>
            <a:ext cx="4391025" cy="3162300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74A663CD-CA3D-C538-5DB4-536D149DE9DE}"/>
              </a:ext>
            </a:extLst>
          </p:cNvPr>
          <p:cNvSpPr txBox="1"/>
          <p:nvPr/>
        </p:nvSpPr>
        <p:spPr>
          <a:xfrm>
            <a:off x="7456136" y="5314482"/>
            <a:ext cx="3625249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Source: </a:t>
            </a:r>
            <a:r>
              <a:rPr lang="en-US" sz="800" dirty="0">
                <a:ea typeface="+mn-lt"/>
                <a:cs typeface="+mn-lt"/>
                <a:hlinkClick r:id="rId3"/>
              </a:rPr>
              <a:t>Workflow for prompt chaining - AWS Prescriptive Guidance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272367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2829-0B04-B818-47F1-155989357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1E59-2286-FD7E-A598-17364116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latin typeface="Arial"/>
                <a:cs typeface="Arial"/>
              </a:rPr>
              <a:t>Introducing RAG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C9E018-F195-CDF0-B1A2-32DD07C340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4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322BE-0CF0-268D-A87A-5EC73BC3A7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5793642" cy="3766159"/>
          </a:xfrm>
        </p:spPr>
        <p:txBody>
          <a:bodyPr/>
          <a:lstStyle/>
          <a:p>
            <a:r>
              <a:rPr lang="en-US" sz="1600">
                <a:latin typeface="Arial"/>
                <a:cs typeface="Arial"/>
              </a:rPr>
              <a:t>Introducing RAG (Retrieval-Augmented Generation)</a:t>
            </a:r>
          </a:p>
          <a:p>
            <a:endParaRPr lang="en-US" sz="1600" dirty="0"/>
          </a:p>
          <a:p>
            <a:r>
              <a:rPr lang="en-US" sz="1600">
                <a:latin typeface="Arial"/>
                <a:cs typeface="Arial"/>
              </a:rPr>
              <a:t>- RAG enhances a chatbot by connecting it to an </a:t>
            </a:r>
          </a:p>
          <a:p>
            <a:r>
              <a:rPr lang="en-US" sz="1600">
                <a:latin typeface="Arial"/>
                <a:cs typeface="Arial"/>
              </a:rPr>
              <a:t>  external knowledge source</a:t>
            </a:r>
          </a:p>
          <a:p>
            <a:r>
              <a:rPr lang="en-US" sz="1600">
                <a:latin typeface="Arial"/>
                <a:cs typeface="Arial"/>
              </a:rPr>
              <a:t>- Overcomes LLM limitations like outdated or </a:t>
            </a:r>
          </a:p>
          <a:p>
            <a:r>
              <a:rPr lang="en-US" sz="1600">
                <a:latin typeface="Arial"/>
                <a:cs typeface="Arial"/>
              </a:rPr>
              <a:t>  missing information</a:t>
            </a:r>
          </a:p>
          <a:p>
            <a:r>
              <a:rPr lang="en-US" sz="1600">
                <a:latin typeface="Arial"/>
                <a:cs typeface="Arial"/>
              </a:rPr>
              <a:t>- Works through a 4-step process:</a:t>
            </a:r>
          </a:p>
          <a:p>
            <a:r>
              <a:rPr lang="en-US" sz="1600">
                <a:latin typeface="Arial"/>
                <a:cs typeface="Arial"/>
              </a:rPr>
              <a:t>   1. User sends a Query</a:t>
            </a:r>
          </a:p>
          <a:p>
            <a:r>
              <a:rPr lang="en-US" sz="1600">
                <a:latin typeface="Arial"/>
                <a:cs typeface="Arial"/>
              </a:rPr>
              <a:t>   2. System searches the Knowledge Source</a:t>
            </a:r>
          </a:p>
          <a:p>
            <a:r>
              <a:rPr lang="en-US" sz="1600">
                <a:latin typeface="Arial"/>
                <a:cs typeface="Arial"/>
              </a:rPr>
              <a:t>   3. Relevant information is retrieved for context</a:t>
            </a:r>
          </a:p>
          <a:p>
            <a:r>
              <a:rPr lang="en-US" sz="1600">
                <a:latin typeface="Arial"/>
                <a:cs typeface="Arial"/>
              </a:rPr>
              <a:t>   4. LLM generates a Response using enhanced context</a:t>
            </a:r>
          </a:p>
          <a:p>
            <a:r>
              <a:rPr lang="en-US" sz="1600">
                <a:latin typeface="Arial"/>
                <a:cs typeface="Arial"/>
              </a:rPr>
              <a:t>- Improves accuracy, relevance, and trustworthiness </a:t>
            </a:r>
          </a:p>
          <a:p>
            <a:r>
              <a:rPr lang="en-US" sz="1600">
                <a:latin typeface="Arial"/>
                <a:cs typeface="Arial"/>
              </a:rPr>
              <a:t>  of chatbot responses</a:t>
            </a:r>
          </a:p>
          <a:p>
            <a:r>
              <a:rPr lang="en-US" sz="1600">
                <a:latin typeface="Arial"/>
                <a:cs typeface="Arial"/>
              </a:rPr>
              <a:t>- Used in the EDGE Chatbot to answer questions from </a:t>
            </a:r>
          </a:p>
          <a:p>
            <a:r>
              <a:rPr lang="en-US" sz="1600">
                <a:latin typeface="Arial"/>
                <a:cs typeface="Arial"/>
              </a:rPr>
              <a:t>  the EDGE Bangladesh knowledge base</a:t>
            </a:r>
          </a:p>
        </p:txBody>
      </p:sp>
      <p:pic>
        <p:nvPicPr>
          <p:cNvPr id="5" name="Picture 4" descr="A diagram of a brain&#10;&#10;AI-generated content may be incorrect.">
            <a:extLst>
              <a:ext uri="{FF2B5EF4-FFF2-40B4-BE49-F238E27FC236}">
                <a16:creationId xmlns:a16="http://schemas.microsoft.com/office/drawing/2014/main" id="{DB95811E-E57B-8A84-E7CA-1F6764AC7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318" y="1321533"/>
            <a:ext cx="4601307" cy="3440967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80432276-81B1-E81E-A8D9-549BAE659592}"/>
              </a:ext>
            </a:extLst>
          </p:cNvPr>
          <p:cNvSpPr txBox="1"/>
          <p:nvPr/>
        </p:nvSpPr>
        <p:spPr>
          <a:xfrm>
            <a:off x="7569801" y="5112552"/>
            <a:ext cx="3625249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Source: </a:t>
            </a:r>
            <a:r>
              <a:rPr lang="en-US" sz="800" dirty="0">
                <a:ea typeface="+mn-lt"/>
                <a:cs typeface="+mn-lt"/>
                <a:hlinkClick r:id="rId3"/>
              </a:rPr>
              <a:t>Workflow for prompt chaining - AWS Prescriptive Guidance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185950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65ECC-FD3B-EA3A-A8E9-C206097CC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46" y="54587"/>
            <a:ext cx="10515600" cy="1325562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Environment Setup (Pre-requisites)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C5364-B113-CFCF-EA39-E287DCAF0C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5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030F6-1EE8-4805-3282-D044052EF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4347552" cy="29702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Pre-requisites</a:t>
            </a:r>
          </a:p>
          <a:p>
            <a:pPr marL="914400" lvl="1" indent="-457200">
              <a:buFont typeface="Arial"/>
              <a:buChar char="•"/>
            </a:pPr>
            <a:r>
              <a:rPr lang="en-US" dirty="0" err="1">
                <a:latin typeface="Times New Roman"/>
                <a:cs typeface="Arial"/>
              </a:rPr>
              <a:t>Ollama</a:t>
            </a:r>
            <a:r>
              <a:rPr lang="en-US" dirty="0">
                <a:latin typeface="Times New Roman"/>
                <a:cs typeface="Arial"/>
              </a:rPr>
              <a:t> install</a:t>
            </a:r>
          </a:p>
          <a:p>
            <a:pPr marL="914400" lvl="1" indent="-457200">
              <a:buFont typeface="Arial"/>
              <a:buChar char="•"/>
            </a:pPr>
            <a:r>
              <a:rPr lang="en-US">
                <a:latin typeface="Times New Roman"/>
                <a:cs typeface="Arial"/>
              </a:rPr>
              <a:t>Llama3.2:1b</a:t>
            </a:r>
          </a:p>
          <a:p>
            <a:pPr marL="914400" lvl="1" indent="-457200">
              <a:buFont typeface="Arial"/>
              <a:buChar char="•"/>
            </a:pPr>
            <a:r>
              <a:rPr lang="en-US" dirty="0">
                <a:latin typeface="Times New Roman"/>
                <a:cs typeface="Arial"/>
              </a:rPr>
              <a:t>Nomic-</a:t>
            </a:r>
            <a:r>
              <a:rPr lang="en-US">
                <a:latin typeface="Times New Roman"/>
                <a:cs typeface="Arial"/>
              </a:rPr>
              <a:t>embed-</a:t>
            </a:r>
            <a:r>
              <a:rPr lang="en-US" err="1">
                <a:latin typeface="Times New Roman"/>
                <a:cs typeface="Arial"/>
              </a:rPr>
              <a:t>te</a:t>
            </a:r>
            <a:r>
              <a:rPr lang="en-US">
                <a:latin typeface="Times New Roman"/>
                <a:cs typeface="Arial"/>
              </a:rPr>
              <a:t>xt</a:t>
            </a:r>
            <a:endParaRPr lang="en-US" dirty="0">
              <a:latin typeface="Times New Roman"/>
            </a:endParaRPr>
          </a:p>
          <a:p>
            <a:pPr marL="914400" lvl="1" indent="-457200">
              <a:buFont typeface="Arial"/>
              <a:buChar char="•"/>
            </a:pPr>
            <a:endParaRPr lang="en-US" dirty="0">
              <a:latin typeface="Times New Roman"/>
            </a:endParaRPr>
          </a:p>
        </p:txBody>
      </p:sp>
      <p:pic>
        <p:nvPicPr>
          <p:cNvPr id="5" name="Picture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D726BA8C-693A-BECF-1972-7B7DB7B4A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246" y="1372994"/>
            <a:ext cx="6157083" cy="314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45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08854-9E04-E22F-8EAB-E1C30324A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DEC7-5120-215B-D6B2-63B1B815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277" y="-4028"/>
            <a:ext cx="10515600" cy="1325562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Environment Setup (Repository)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3537B7-0980-EB3D-26BF-185085CD49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6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B5069-C9AD-23E6-5DFB-45C957BE22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4943475" cy="29702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Goto repository: </a:t>
            </a:r>
            <a:r>
              <a:rPr lang="en-US" dirty="0">
                <a:latin typeface="Arial"/>
                <a:cs typeface="Arial"/>
                <a:hlinkClick r:id="rId2"/>
              </a:rPr>
              <a:t>Software-Testing-EDGE 2026</a:t>
            </a:r>
            <a:endParaRPr lang="en-US"/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Download the Repository</a:t>
            </a:r>
            <a:endParaRPr lang="en-US" dirty="0">
              <a:latin typeface="Arial"/>
              <a:cs typeface="Arial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9D269B-BAFB-5BDE-B4FF-9BACC4AEF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246" y="1219200"/>
            <a:ext cx="6157083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14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DF87F-9B5B-2973-993E-19F3E7C6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6DE9-ED39-B709-AA7A-65BEEC36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142510"/>
            <a:ext cx="10515600" cy="1325562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Environment Setup (Unzip)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C89AEE-01C5-D64A-5B69-B1423AA2D9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7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2BC07-2626-487C-BDFB-A512C5808E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5021628" cy="29702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Unzip the 'Software-Testing-EDGE_2026—main' 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Go to: Chatbot folder</a:t>
            </a:r>
          </a:p>
        </p:txBody>
      </p:sp>
      <p:pic>
        <p:nvPicPr>
          <p:cNvPr id="6" name="Picture 5" descr="A screenshot of a software program&#10;&#10;AI-generated content may be incorrect.">
            <a:extLst>
              <a:ext uri="{FF2B5EF4-FFF2-40B4-BE49-F238E27FC236}">
                <a16:creationId xmlns:a16="http://schemas.microsoft.com/office/drawing/2014/main" id="{9AE7F17B-B9B6-57FE-71FA-2B8859C28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1136769"/>
            <a:ext cx="6381750" cy="41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39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7B534-A344-860C-D315-BE87859C5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9BF5-96FC-D71B-8B72-E2A83F7F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77" y="-23567"/>
            <a:ext cx="10515600" cy="1325562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Environment Setup (Command Prompt)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D684D-FACF-C00B-DC77-9405BDAD21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8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E36C2-3AF8-B767-FB06-6AB4CC2212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4429125" cy="29702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Open Command Prompt</a:t>
            </a:r>
            <a:endParaRPr lang="en-US" dirty="0"/>
          </a:p>
          <a:p>
            <a:endParaRPr lang="en-US" dirty="0">
              <a:latin typeface="Arial"/>
              <a:cs typeface="Arial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5EDDE2-08C7-AE06-EBEF-A7E3C1893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75" y="1397244"/>
            <a:ext cx="6524625" cy="430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9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F378D-B21E-3023-7F18-6680CAD6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F71C7-861F-E93A-AA63-DF217CC6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38" y="142510"/>
            <a:ext cx="10515600" cy="1325562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Environment Setup (Virtual Environment)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19149-AB20-6D97-6DBB-10C7CACFA9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9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3A922-BC04-6F67-7A8F-7027B8DC59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4429125" cy="29702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Create Virtual Environment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'python3 –m </a:t>
            </a:r>
            <a:r>
              <a:rPr lang="en-US" dirty="0" err="1">
                <a:latin typeface="Arial"/>
                <a:cs typeface="Arial"/>
              </a:rPr>
              <a:t>venv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venv</a:t>
            </a:r>
            <a:r>
              <a:rPr lang="en-US" dirty="0">
                <a:latin typeface="Arial"/>
                <a:cs typeface="Arial"/>
              </a:rPr>
              <a:t>'</a:t>
            </a:r>
            <a:endParaRPr lang="en-US" dirty="0" err="1"/>
          </a:p>
          <a:p>
            <a:endParaRPr lang="en-US" dirty="0">
              <a:latin typeface="Arial"/>
              <a:cs typeface="Arial"/>
            </a:endParaRP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45F4B74-4815-BA28-5F2D-8B692232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1706171"/>
            <a:ext cx="5695950" cy="321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23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2A3D-6C6D-9109-2D5F-7AA597D0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511D1-ACF6-88DA-0A0E-37A32533F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85" y="201126"/>
            <a:ext cx="10515600" cy="1325562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Environment Setup (Activate)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E18F98-063F-4C99-E221-C24D9F30E0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10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3C49F-07F1-7A2C-270E-78A3043207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4429125" cy="29702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Active Virtual Environment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'.\</a:t>
            </a:r>
            <a:r>
              <a:rPr lang="en-US" dirty="0" err="1">
                <a:latin typeface="Arial"/>
                <a:cs typeface="Arial"/>
              </a:rPr>
              <a:t>venv</a:t>
            </a:r>
            <a:r>
              <a:rPr lang="en-US" dirty="0">
                <a:latin typeface="Arial"/>
                <a:cs typeface="Arial"/>
              </a:rPr>
              <a:t>\Scripts\activate'</a:t>
            </a:r>
            <a:endParaRPr lang="en-US" dirty="0" err="1"/>
          </a:p>
          <a:p>
            <a:endParaRPr lang="en-US" dirty="0">
              <a:latin typeface="Arial"/>
              <a:cs typeface="Arial"/>
            </a:endParaRP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9CA0650-3B2E-C9A6-3EB3-835894D10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2272304"/>
            <a:ext cx="5695950" cy="208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86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52181-85DF-DC14-5A5C-D90D72E2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4D3C-6780-627F-4E48-4D94DACB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54" y="142510"/>
            <a:ext cx="10515600" cy="1325562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Environment Setup (Install)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4FE0E8-5E62-B5E4-FA3A-376388698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11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707F6-43D0-B05D-168A-3F88BDDE91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4629150" cy="29702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Install Dependencies </a:t>
            </a:r>
            <a:br>
              <a:rPr lang="en-US" dirty="0">
                <a:latin typeface="Arial"/>
                <a:cs typeface="Arial"/>
              </a:rPr>
            </a:br>
            <a:r>
              <a:rPr lang="en-US">
                <a:latin typeface="Arial"/>
                <a:cs typeface="Arial"/>
              </a:rPr>
              <a:t>'pip install -r requirements.txt'</a:t>
            </a:r>
            <a:endParaRPr lang="en-US" err="1"/>
          </a:p>
          <a:p>
            <a:endParaRPr lang="en-US" dirty="0">
              <a:latin typeface="Arial"/>
              <a:cs typeface="Arial"/>
            </a:endParaRP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4503E97-8DEA-4DB2-B0F6-26ED08EE4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2276630"/>
            <a:ext cx="5695950" cy="207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98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69BB3-105E-6067-0152-082BB543F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5714-CF25-5470-64E5-79E93CCDC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Environment Setup (Run)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FC8E3E-A74B-241F-7B75-334ECFEDF8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12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CA8E1-68BD-FD8D-5812-D6A093670B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4711528" cy="29702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Add knowledge into Database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'python inde</a:t>
            </a:r>
            <a:r>
              <a:rPr lang="en-US">
                <a:latin typeface="Arial"/>
                <a:cs typeface="Arial"/>
              </a:rPr>
              <a:t>xing.py'</a:t>
            </a:r>
            <a:endParaRPr lang="en-US" dirty="0" err="1"/>
          </a:p>
          <a:p>
            <a:endParaRPr lang="en-US" dirty="0">
              <a:latin typeface="Arial"/>
              <a:cs typeface="Arial"/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C6E2240-2343-5713-F246-F1E78D59A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27" y="1223962"/>
            <a:ext cx="4733411" cy="314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8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6850B-B487-9C4F-F17F-A9497261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5071C-5A76-C23B-9930-4596C60A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Environment Setup (Run)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10C889-26CF-DA56-6BD9-1353FFD248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13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60707-2C30-590D-5A40-119228E10A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4629150" cy="29702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Run the Chatbot app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'</a:t>
            </a:r>
            <a:r>
              <a:rPr lang="en-US" dirty="0" err="1">
                <a:latin typeface="Arial"/>
                <a:cs typeface="Arial"/>
              </a:rPr>
              <a:t>streamlit</a:t>
            </a:r>
            <a:r>
              <a:rPr lang="en-US" dirty="0">
                <a:latin typeface="Arial"/>
                <a:cs typeface="Arial"/>
              </a:rPr>
              <a:t> run app.py'</a:t>
            </a:r>
            <a:endParaRPr lang="en-US" dirty="0" err="1"/>
          </a:p>
          <a:p>
            <a:endParaRPr lang="en-US" dirty="0">
              <a:latin typeface="Arial"/>
              <a:cs typeface="Arial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B1E0D4-E95C-FA49-BA06-674638EB9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1516327"/>
            <a:ext cx="5695950" cy="237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6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6B067-C0B7-3CD5-C7E9-D33CFD6E2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2F95-1107-EC8B-5C34-4B0767A0D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969" y="181587"/>
            <a:ext cx="10515600" cy="1325562"/>
          </a:xfrm>
        </p:spPr>
        <p:txBody>
          <a:bodyPr/>
          <a:lstStyle/>
          <a:p>
            <a:r>
              <a:rPr lang="en-US" sz="2400">
                <a:latin typeface="Arial"/>
                <a:cs typeface="Arial"/>
              </a:rPr>
              <a:t>Launch EDGE Chatbot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5C6877-084A-2C48-A8E3-B6D55B3F3E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14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961FD-2DCC-8E63-2A74-9B8E643AC8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4629150" cy="29702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Open your </a:t>
            </a:r>
            <a:r>
              <a:rPr lang="en-US">
                <a:latin typeface="Arial"/>
                <a:cs typeface="Arial"/>
              </a:rPr>
              <a:t>browser</a:t>
            </a:r>
            <a:endParaRPr lang="en-US" dirty="0" err="1"/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Goto: </a:t>
            </a:r>
            <a:br>
              <a:rPr lang="en-US" dirty="0">
                <a:latin typeface="Arial"/>
                <a:cs typeface="Arial"/>
              </a:rPr>
            </a:br>
            <a:r>
              <a:rPr lang="en-US">
                <a:latin typeface="Arial"/>
                <a:cs typeface="Arial"/>
              </a:rPr>
              <a:t>'http://localhost:8501/'</a:t>
            </a:r>
            <a:endParaRPr lang="en-US"/>
          </a:p>
          <a:p>
            <a:endParaRPr lang="en-US" dirty="0">
              <a:latin typeface="Arial"/>
              <a:cs typeface="Arial"/>
            </a:endParaRPr>
          </a:p>
        </p:txBody>
      </p:sp>
      <p:pic>
        <p:nvPicPr>
          <p:cNvPr id="7" name="Picture 6" descr="A screenshot of a chatbot&#10;&#10;AI-generated content may be incorrect.">
            <a:extLst>
              <a:ext uri="{FF2B5EF4-FFF2-40B4-BE49-F238E27FC236}">
                <a16:creationId xmlns:a16="http://schemas.microsoft.com/office/drawing/2014/main" id="{19520899-446A-E693-9483-64F66BBF9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794" y="1628930"/>
            <a:ext cx="5001512" cy="328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859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9EDDE-B121-AD1C-CD74-E6147D36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6423-3DF7-A556-5AC3-D3150CE6E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>
                <a:latin typeface="Arial"/>
                <a:cs typeface="Arial"/>
              </a:rPr>
              <a:t>Test EDGE Chatbot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C8C08-D0A0-7B4A-BB5E-D755BE6D2B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15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3DDF9-F0A1-FC52-86A7-A835ECC416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4629150" cy="297021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Test Sheet: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  <a:hlinkClick r:id="rId2"/>
              </a:rPr>
              <a:t>EDGE_Chatbot_Test_Sheet.xlsx</a:t>
            </a:r>
            <a:endParaRPr lang="en-US"/>
          </a:p>
          <a:p>
            <a:pPr marL="457200" indent="-457200">
              <a:buAutoNum type="arabicPeriod"/>
            </a:pP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C7AF82-E4EB-FD4C-638B-9A94A2A08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794" y="1533705"/>
            <a:ext cx="5420612" cy="281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566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16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5486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2E51-2BEF-E3AA-0723-CF4C9AC4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C7946E-6137-2589-72B1-79D5513D44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17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F3EE4C-A74C-F34B-641E-DAB8BE67F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0464D9-BE4F-25E3-3C97-C786F049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00">
                <a:solidFill>
                  <a:schemeClr val="tx1"/>
                </a:solidFill>
              </a:rPr>
              <a:t>Thanks</a:t>
            </a:r>
            <a:endParaRPr lang="en-US" sz="5200"/>
          </a:p>
          <a:p>
            <a:endParaRPr lang="en-US" dirty="0"/>
          </a:p>
        </p:txBody>
      </p:sp>
      <p:graphicFrame>
        <p:nvGraphicFramePr>
          <p:cNvPr id="19" name="Text Placeholder 3">
            <a:extLst>
              <a:ext uri="{FF2B5EF4-FFF2-40B4-BE49-F238E27FC236}">
                <a16:creationId xmlns:a16="http://schemas.microsoft.com/office/drawing/2014/main" id="{D3BBEF13-E0C8-2D36-EBA1-56DA2EB871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7019769"/>
              </p:ext>
            </p:extLst>
          </p:nvPr>
        </p:nvGraphicFramePr>
        <p:xfrm>
          <a:off x="827903" y="1949192"/>
          <a:ext cx="10525897" cy="4227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0410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andoutMaster1">
  <a:themeElements>
    <a:clrScheme name="handout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andout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handout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680F2E875A6F4C8A5AC31823EE5322" ma:contentTypeVersion="3" ma:contentTypeDescription="Create a new document." ma:contentTypeScope="" ma:versionID="7299fbc07b3282582e917d0409e758c5">
  <xsd:schema xmlns:xsd="http://www.w3.org/2001/XMLSchema" xmlns:xs="http://www.w3.org/2001/XMLSchema" xmlns:p="http://schemas.microsoft.com/office/2006/metadata/properties" xmlns:ns2="ae17ed94-213e-4d33-81db-1e7f92ff4ebb" targetNamespace="http://schemas.microsoft.com/office/2006/metadata/properties" ma:root="true" ma:fieldsID="f1f32ed49b25ec90362555824d00dbce" ns2:_="">
    <xsd:import namespace="ae17ed94-213e-4d33-81db-1e7f92ff4e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17ed94-213e-4d33-81db-1e7f92ff4e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080C8A-B964-45FE-A694-C5A6190098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17ed94-213e-4d33-81db-1e7f92ff4e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61DBE2-C7D3-4BB5-AC84-2E5A62EC767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80A8CC9-6CB9-4442-A4A0-CCC1121C5A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218</TotalTime>
  <Words>33</Words>
  <Application>Microsoft Office PowerPoint</Application>
  <PresentationFormat>Widescreen</PresentationFormat>
  <Paragraphs>16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Outline</vt:lpstr>
      <vt:lpstr>Introducing Chatbot</vt:lpstr>
      <vt:lpstr>Introducing RAG</vt:lpstr>
      <vt:lpstr>Environment Setup (Pre-requisites)</vt:lpstr>
      <vt:lpstr>Environment Setup (Repository)</vt:lpstr>
      <vt:lpstr>Environment Setup (Unzip)</vt:lpstr>
      <vt:lpstr>Environment Setup (Command Prompt)</vt:lpstr>
      <vt:lpstr>Environment Setup (Virtual Environment)</vt:lpstr>
      <vt:lpstr>Environment Setup (Activate)</vt:lpstr>
      <vt:lpstr>Environment Setup (Install)</vt:lpstr>
      <vt:lpstr>Environment Setup (Run)</vt:lpstr>
      <vt:lpstr>Environment Setup (Run)</vt:lpstr>
      <vt:lpstr>Launch EDGE Chatbot</vt:lpstr>
      <vt:lpstr>Test EDGE Chatbot</vt:lpstr>
      <vt:lpstr>Q&amp;A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Golam Soroar</dc:creator>
  <cp:lastModifiedBy>Microsoft account</cp:lastModifiedBy>
  <cp:revision>514</cp:revision>
  <cp:lastPrinted>2025-04-26T15:15:36Z</cp:lastPrinted>
  <dcterms:created xsi:type="dcterms:W3CDTF">2024-06-24T19:24:23Z</dcterms:created>
  <dcterms:modified xsi:type="dcterms:W3CDTF">2026-04-21T05:44:04Z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0x010100C1680F2E875A6F4C8A5AC31823EE5322</vt:lpwstr>
  </property>
</Properties>
</file>